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1426464" y="182880"/>
            <a:ext cx="7068312" cy="1234440"/>
          </a:xfrm>
          <a:prstGeom prst="rect">
            <a:avLst/>
          </a:prstGeom>
        </p:spPr>
      </p:pic>
      <p:pic>
        <p:nvPicPr>
          <p:cNvPr id="3" name="Picture 2" descr="iic_logo.png"/>
          <p:cNvPicPr>
            <a:picLocks noChangeAspect="1"/>
          </p:cNvPicPr>
          <p:nvPr/>
        </p:nvPicPr>
        <p:blipFill>
          <a:blip r:embed="rId3"/>
          <a:stretch>
            <a:fillRect/>
          </a:stretch>
        </p:blipFill>
        <p:spPr>
          <a:xfrm>
            <a:off x="8686800" y="411480"/>
            <a:ext cx="2816352" cy="822960"/>
          </a:xfrm>
          <a:prstGeom prst="rect">
            <a:avLst/>
          </a:prstGeom>
        </p:spPr>
      </p:pic>
      <p:sp>
        <p:nvSpPr>
          <p:cNvPr id="4" name="TextBox 3"/>
          <p:cNvSpPr txBox="1"/>
          <p:nvPr/>
        </p:nvSpPr>
        <p:spPr>
          <a:xfrm>
            <a:off x="0" y="1508760"/>
            <a:ext cx="12191695" cy="384048"/>
          </a:xfrm>
          <a:prstGeom prst="rect">
            <a:avLst/>
          </a:prstGeom>
          <a:noFill/>
        </p:spPr>
        <p:txBody>
          <a:bodyPr wrap="square" lIns="0" rIns="0" tIns="0" bIns="0"/>
          <a:lstStyle/>
          <a:p>
            <a:pPr algn="ctr"/>
            <a:r>
              <a:rPr sz="2000" b="1" i="0">
                <a:solidFill>
                  <a:srgbClr val="595959"/>
                </a:solidFill>
                <a:latin typeface="Times New Roman"/>
              </a:rPr>
              <a:t>DEPARTMENT OF COMPUTER SCIENCE AND ENGINEERING</a:t>
            </a:r>
          </a:p>
        </p:txBody>
      </p:sp>
      <p:sp>
        <p:nvSpPr>
          <p:cNvPr id="5" name="TextBox 4"/>
          <p:cNvSpPr txBox="1"/>
          <p:nvPr/>
        </p:nvSpPr>
        <p:spPr>
          <a:xfrm>
            <a:off x="0" y="1892807"/>
            <a:ext cx="12191695" cy="320040"/>
          </a:xfrm>
          <a:prstGeom prst="rect">
            <a:avLst/>
          </a:prstGeom>
          <a:noFill/>
        </p:spPr>
        <p:txBody>
          <a:bodyPr wrap="square" lIns="0" rIns="0" tIns="0" bIns="0"/>
          <a:lstStyle/>
          <a:p>
            <a:pPr algn="ctr"/>
            <a:r>
              <a:rPr sz="1800" b="1" i="0">
                <a:solidFill>
                  <a:srgbClr val="595959"/>
                </a:solidFill>
                <a:latin typeface="Times New Roman"/>
              </a:rPr>
              <a:t>(DATA SCIENCE)</a:t>
            </a:r>
          </a:p>
        </p:txBody>
      </p:sp>
      <p:sp>
        <p:nvSpPr>
          <p:cNvPr id="6" name="Rectangle 5"/>
          <p:cNvSpPr/>
          <p:nvPr/>
        </p:nvSpPr>
        <p:spPr>
          <a:xfrm>
            <a:off x="4727448" y="2331720"/>
            <a:ext cx="2743200"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23160"/>
            <a:ext cx="10360152" cy="914400"/>
          </a:xfrm>
          <a:prstGeom prst="rect">
            <a:avLst/>
          </a:prstGeom>
          <a:noFill/>
        </p:spPr>
        <p:txBody>
          <a:bodyPr wrap="square" lIns="0" rIns="0" tIns="0" bIns="0"/>
          <a:lstStyle/>
          <a:p>
            <a:pPr algn="ctr"/>
            <a:r>
              <a:rPr sz="2800" b="1" i="0">
                <a:solidFill>
                  <a:srgbClr val="1F3864"/>
                </a:solidFill>
                <a:latin typeface="Calibri"/>
              </a:rPr>
              <a:t>AI-Driven Adaptive Transaction Batching for Cardano Decentralized Exchanges</a:t>
            </a:r>
          </a:p>
        </p:txBody>
      </p:sp>
      <p:sp>
        <p:nvSpPr>
          <p:cNvPr id="8" name="TextBox 7"/>
          <p:cNvSpPr txBox="1"/>
          <p:nvPr/>
        </p:nvSpPr>
        <p:spPr>
          <a:xfrm>
            <a:off x="914400" y="3383280"/>
            <a:ext cx="10360152" cy="365760"/>
          </a:xfrm>
          <a:prstGeom prst="rect">
            <a:avLst/>
          </a:prstGeom>
          <a:noFill/>
        </p:spPr>
        <p:txBody>
          <a:bodyPr wrap="square" lIns="0" rIns="0" tIns="0" bIns="0"/>
          <a:lstStyle/>
          <a:p>
            <a:pPr algn="ctr"/>
            <a:r>
              <a:rPr sz="1800" b="1" i="0">
                <a:solidFill>
                  <a:srgbClr val="2E5395"/>
                </a:solidFill>
                <a:latin typeface="Calibri"/>
              </a:rPr>
              <a:t>Design  |  Major Project  |  Batch 11</a:t>
            </a:r>
          </a:p>
        </p:txBody>
      </p:sp>
      <p:sp>
        <p:nvSpPr>
          <p:cNvPr id="9" name="TextBox 8"/>
          <p:cNvSpPr txBox="1"/>
          <p:nvPr/>
        </p:nvSpPr>
        <p:spPr>
          <a:xfrm>
            <a:off x="914400" y="3712463"/>
            <a:ext cx="10360152" cy="292608"/>
          </a:xfrm>
          <a:prstGeom prst="rect">
            <a:avLst/>
          </a:prstGeom>
          <a:noFill/>
        </p:spPr>
        <p:txBody>
          <a:bodyPr wrap="square" lIns="0" rIns="0" tIns="0" bIns="0"/>
          <a:lstStyle/>
          <a:p>
            <a:pPr algn="ctr"/>
            <a:r>
              <a:rPr sz="1300" b="0" i="0">
                <a:solidFill>
                  <a:srgbClr val="595959"/>
                </a:solidFill>
                <a:latin typeface="Calibri"/>
              </a:rPr>
              <a:t>Architecture  •  Algorithms  •  Datasets</a:t>
            </a:r>
          </a:p>
        </p:txBody>
      </p:sp>
      <p:sp>
        <p:nvSpPr>
          <p:cNvPr id="10" name="TextBox 9"/>
          <p:cNvSpPr txBox="1"/>
          <p:nvPr/>
        </p:nvSpPr>
        <p:spPr>
          <a:xfrm>
            <a:off x="3200400" y="4160520"/>
            <a:ext cx="2798064" cy="292608"/>
          </a:xfrm>
          <a:prstGeom prst="rect">
            <a:avLst/>
          </a:prstGeom>
          <a:noFill/>
        </p:spPr>
        <p:txBody>
          <a:bodyPr wrap="square" lIns="0" rIns="0" tIns="0" bIns="0"/>
          <a:lstStyle/>
          <a:p>
            <a:pPr algn="r"/>
            <a:r>
              <a:rPr sz="1300" b="1" i="0">
                <a:solidFill>
                  <a:srgbClr val="595959"/>
                </a:solidFill>
                <a:latin typeface="Calibri"/>
              </a:rPr>
              <a:t>Student Name(s) :</a:t>
            </a:r>
          </a:p>
        </p:txBody>
      </p:sp>
      <p:sp>
        <p:nvSpPr>
          <p:cNvPr id="11" name="TextBox 10"/>
          <p:cNvSpPr txBox="1"/>
          <p:nvPr/>
        </p:nvSpPr>
        <p:spPr>
          <a:xfrm>
            <a:off x="6172200" y="4160520"/>
            <a:ext cx="5029200" cy="292608"/>
          </a:xfrm>
          <a:prstGeom prst="rect">
            <a:avLst/>
          </a:prstGeom>
          <a:noFill/>
        </p:spPr>
        <p:txBody>
          <a:bodyPr wrap="square" lIns="0" rIns="0" tIns="0" bIns="0"/>
          <a:lstStyle/>
          <a:p>
            <a:pPr algn="l"/>
            <a:r>
              <a:rPr sz="1300" b="0" i="0">
                <a:solidFill>
                  <a:srgbClr val="222222"/>
                </a:solidFill>
                <a:latin typeface="Calibri"/>
              </a:rPr>
              <a:t>Vikranth Sai,  Ganesh,  Sowmya</a:t>
            </a:r>
          </a:p>
        </p:txBody>
      </p:sp>
      <p:sp>
        <p:nvSpPr>
          <p:cNvPr id="12" name="TextBox 11"/>
          <p:cNvSpPr txBox="1"/>
          <p:nvPr/>
        </p:nvSpPr>
        <p:spPr>
          <a:xfrm>
            <a:off x="3200400" y="4480559"/>
            <a:ext cx="2798064" cy="292608"/>
          </a:xfrm>
          <a:prstGeom prst="rect">
            <a:avLst/>
          </a:prstGeom>
          <a:noFill/>
        </p:spPr>
        <p:txBody>
          <a:bodyPr wrap="square" lIns="0" rIns="0" tIns="0" bIns="0"/>
          <a:lstStyle/>
          <a:p>
            <a:pPr algn="r"/>
            <a:r>
              <a:rPr sz="1300" b="1" i="0">
                <a:solidFill>
                  <a:srgbClr val="595959"/>
                </a:solidFill>
                <a:latin typeface="Calibri"/>
              </a:rPr>
              <a:t>Hall Ticket No(s) :</a:t>
            </a:r>
          </a:p>
        </p:txBody>
      </p:sp>
      <p:sp>
        <p:nvSpPr>
          <p:cNvPr id="13" name="TextBox 12"/>
          <p:cNvSpPr txBox="1"/>
          <p:nvPr/>
        </p:nvSpPr>
        <p:spPr>
          <a:xfrm>
            <a:off x="6172200" y="4480559"/>
            <a:ext cx="5029200" cy="292608"/>
          </a:xfrm>
          <a:prstGeom prst="rect">
            <a:avLst/>
          </a:prstGeom>
          <a:noFill/>
        </p:spPr>
        <p:txBody>
          <a:bodyPr wrap="square" lIns="0" rIns="0" tIns="0" bIns="0"/>
          <a:lstStyle/>
          <a:p>
            <a:pPr algn="l"/>
            <a:r>
              <a:rPr sz="1300" b="0" i="0">
                <a:solidFill>
                  <a:srgbClr val="222222"/>
                </a:solidFill>
                <a:latin typeface="Calibri"/>
              </a:rPr>
              <a:t>23P61A67F1,  23P61A67F0,  23P61A67H8</a:t>
            </a:r>
          </a:p>
        </p:txBody>
      </p:sp>
      <p:sp>
        <p:nvSpPr>
          <p:cNvPr id="14" name="TextBox 13"/>
          <p:cNvSpPr txBox="1"/>
          <p:nvPr/>
        </p:nvSpPr>
        <p:spPr>
          <a:xfrm>
            <a:off x="3200400" y="4800599"/>
            <a:ext cx="2798064" cy="292608"/>
          </a:xfrm>
          <a:prstGeom prst="rect">
            <a:avLst/>
          </a:prstGeom>
          <a:noFill/>
        </p:spPr>
        <p:txBody>
          <a:bodyPr wrap="square" lIns="0" rIns="0" tIns="0" bIns="0"/>
          <a:lstStyle/>
          <a:p>
            <a:pPr algn="r"/>
            <a:r>
              <a:rPr sz="1300" b="1" i="0">
                <a:solidFill>
                  <a:srgbClr val="595959"/>
                </a:solidFill>
                <a:latin typeface="Calibri"/>
              </a:rPr>
              <a:t>Guide Name :</a:t>
            </a:r>
          </a:p>
        </p:txBody>
      </p:sp>
      <p:sp>
        <p:nvSpPr>
          <p:cNvPr id="15" name="TextBox 14"/>
          <p:cNvSpPr txBox="1"/>
          <p:nvPr/>
        </p:nvSpPr>
        <p:spPr>
          <a:xfrm>
            <a:off x="6172200" y="4800599"/>
            <a:ext cx="5029200" cy="292608"/>
          </a:xfrm>
          <a:prstGeom prst="rect">
            <a:avLst/>
          </a:prstGeom>
          <a:noFill/>
        </p:spPr>
        <p:txBody>
          <a:bodyPr wrap="square" lIns="0" rIns="0" tIns="0" bIns="0"/>
          <a:lstStyle/>
          <a:p>
            <a:pPr algn="l"/>
            <a:r>
              <a:rPr sz="1300" b="0" i="0">
                <a:solidFill>
                  <a:srgbClr val="222222"/>
                </a:solidFill>
                <a:latin typeface="Calibri"/>
              </a:rPr>
              <a:t>Ms. B. Mamatha</a:t>
            </a:r>
          </a:p>
        </p:txBody>
      </p:sp>
      <p:sp>
        <p:nvSpPr>
          <p:cNvPr id="16" name="TextBox 15"/>
          <p:cNvSpPr txBox="1"/>
          <p:nvPr/>
        </p:nvSpPr>
        <p:spPr>
          <a:xfrm>
            <a:off x="3200400" y="5120639"/>
            <a:ext cx="2798064" cy="292608"/>
          </a:xfrm>
          <a:prstGeom prst="rect">
            <a:avLst/>
          </a:prstGeom>
          <a:noFill/>
        </p:spPr>
        <p:txBody>
          <a:bodyPr wrap="square" lIns="0" rIns="0" tIns="0" bIns="0"/>
          <a:lstStyle/>
          <a:p>
            <a:pPr algn="r"/>
            <a:r>
              <a:rPr sz="1300" b="1" i="0">
                <a:solidFill>
                  <a:srgbClr val="595959"/>
                </a:solidFill>
                <a:latin typeface="Calibri"/>
              </a:rPr>
              <a:t>Department :</a:t>
            </a:r>
          </a:p>
        </p:txBody>
      </p:sp>
      <p:sp>
        <p:nvSpPr>
          <p:cNvPr id="17" name="TextBox 16"/>
          <p:cNvSpPr txBox="1"/>
          <p:nvPr/>
        </p:nvSpPr>
        <p:spPr>
          <a:xfrm>
            <a:off x="6172200" y="5120639"/>
            <a:ext cx="5029200" cy="292608"/>
          </a:xfrm>
          <a:prstGeom prst="rect">
            <a:avLst/>
          </a:prstGeom>
          <a:noFill/>
        </p:spPr>
        <p:txBody>
          <a:bodyPr wrap="square" lIns="0" rIns="0" tIns="0" bIns="0"/>
          <a:lstStyle/>
          <a:p>
            <a:pPr algn="l"/>
            <a:r>
              <a:rPr sz="1300" b="0" i="0">
                <a:solidFill>
                  <a:srgbClr val="222222"/>
                </a:solidFill>
                <a:latin typeface="Calibri"/>
              </a:rPr>
              <a:t>Computer Science and Engineering (Data Science)</a:t>
            </a:r>
          </a:p>
        </p:txBody>
      </p:sp>
      <p:sp>
        <p:nvSpPr>
          <p:cNvPr id="18" name="TextBox 17"/>
          <p:cNvSpPr txBox="1"/>
          <p:nvPr/>
        </p:nvSpPr>
        <p:spPr>
          <a:xfrm>
            <a:off x="3200400" y="5440679"/>
            <a:ext cx="2798064" cy="292608"/>
          </a:xfrm>
          <a:prstGeom prst="rect">
            <a:avLst/>
          </a:prstGeom>
          <a:noFill/>
        </p:spPr>
        <p:txBody>
          <a:bodyPr wrap="square" lIns="0" rIns="0" tIns="0" bIns="0"/>
          <a:lstStyle/>
          <a:p>
            <a:pPr algn="r"/>
            <a:r>
              <a:rPr sz="1300" b="1" i="0">
                <a:solidFill>
                  <a:srgbClr val="595959"/>
                </a:solidFill>
                <a:latin typeface="Calibri"/>
              </a:rPr>
              <a:t>College :</a:t>
            </a:r>
          </a:p>
        </p:txBody>
      </p:sp>
      <p:sp>
        <p:nvSpPr>
          <p:cNvPr id="19" name="TextBox 18"/>
          <p:cNvSpPr txBox="1"/>
          <p:nvPr/>
        </p:nvSpPr>
        <p:spPr>
          <a:xfrm>
            <a:off x="6172200" y="5440679"/>
            <a:ext cx="5029200" cy="292608"/>
          </a:xfrm>
          <a:prstGeom prst="rect">
            <a:avLst/>
          </a:prstGeom>
          <a:noFill/>
        </p:spPr>
        <p:txBody>
          <a:bodyPr wrap="square" lIns="0" rIns="0" tIns="0" bIns="0"/>
          <a:lstStyle/>
          <a:p>
            <a:pPr algn="l"/>
            <a:r>
              <a:rPr sz="1300" b="0" i="0">
                <a:solidFill>
                  <a:srgbClr val="222222"/>
                </a:solidFill>
                <a:latin typeface="Calibri"/>
              </a:rPr>
              <a:t>Vignana Bharathi Institute of Technology</a:t>
            </a:r>
          </a:p>
        </p:txBody>
      </p:sp>
      <p:sp>
        <p:nvSpPr>
          <p:cNvPr id="20" name="TextBox 19"/>
          <p:cNvSpPr txBox="1"/>
          <p:nvPr/>
        </p:nvSpPr>
        <p:spPr>
          <a:xfrm>
            <a:off x="3200400" y="5760719"/>
            <a:ext cx="2798064" cy="292608"/>
          </a:xfrm>
          <a:prstGeom prst="rect">
            <a:avLst/>
          </a:prstGeom>
          <a:noFill/>
        </p:spPr>
        <p:txBody>
          <a:bodyPr wrap="square" lIns="0" rIns="0" tIns="0" bIns="0"/>
          <a:lstStyle/>
          <a:p>
            <a:pPr algn="r"/>
            <a:r>
              <a:rPr sz="1300" b="1" i="0">
                <a:solidFill>
                  <a:srgbClr val="595959"/>
                </a:solidFill>
                <a:latin typeface="Calibri"/>
              </a:rPr>
              <a:t>Academic Year :</a:t>
            </a:r>
          </a:p>
        </p:txBody>
      </p:sp>
      <p:sp>
        <p:nvSpPr>
          <p:cNvPr id="21" name="TextBox 20"/>
          <p:cNvSpPr txBox="1"/>
          <p:nvPr/>
        </p:nvSpPr>
        <p:spPr>
          <a:xfrm>
            <a:off x="6172200" y="5760719"/>
            <a:ext cx="5029200" cy="292608"/>
          </a:xfrm>
          <a:prstGeom prst="rect">
            <a:avLst/>
          </a:prstGeom>
          <a:noFill/>
        </p:spPr>
        <p:txBody>
          <a:bodyPr wrap="square" lIns="0" rIns="0" tIns="0" bIns="0"/>
          <a:lstStyle/>
          <a:p>
            <a:pPr algn="l"/>
            <a:r>
              <a:rPr sz="1300" b="0" i="0">
                <a:solidFill>
                  <a:srgbClr val="222222"/>
                </a:solidFill>
                <a:latin typeface="Calibri"/>
              </a:rPr>
              <a:t>2026 - 2027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2</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Contents</a:t>
            </a:r>
          </a:p>
        </p:txBody>
      </p:sp>
      <p:sp>
        <p:nvSpPr>
          <p:cNvPr id="7" name="TextBox 6"/>
          <p:cNvSpPr txBox="1"/>
          <p:nvPr/>
        </p:nvSpPr>
        <p:spPr>
          <a:xfrm>
            <a:off x="502920" y="1874519"/>
            <a:ext cx="11183112" cy="4398264"/>
          </a:xfrm>
          <a:prstGeom prst="rect">
            <a:avLst/>
          </a:prstGeom>
          <a:noFill/>
        </p:spPr>
        <p:txBody>
          <a:bodyPr wrap="square" lIns="0" rIns="0" tIns="0" bIns="0"/>
          <a:lstStyle/>
          <a:p>
            <a:pPr>
              <a:lnSpc>
                <a:spcPct val="100000"/>
              </a:lnSpc>
              <a:spcAft>
                <a:spcPts val="250"/>
              </a:spcAft>
            </a:pPr>
            <a:r>
              <a:rPr sz="1450" b="1" i="0">
                <a:solidFill>
                  <a:srgbClr val="1F3864"/>
                </a:solidFill>
                <a:latin typeface="Calibri"/>
              </a:rPr>
              <a:t>•  </a:t>
            </a:r>
            <a:r>
              <a:rPr sz="1450" b="0" i="0">
                <a:solidFill>
                  <a:srgbClr val="222222"/>
                </a:solidFill>
                <a:latin typeface="Calibri"/>
              </a:rPr>
              <a:t>Design Overview</a:t>
            </a:r>
          </a:p>
          <a:p>
            <a:pPr>
              <a:lnSpc>
                <a:spcPct val="100000"/>
              </a:lnSpc>
              <a:spcAft>
                <a:spcPts val="250"/>
              </a:spcAft>
            </a:pPr>
            <a:r>
              <a:rPr sz="1450" b="1" i="0">
                <a:solidFill>
                  <a:srgbClr val="1F3864"/>
                </a:solidFill>
                <a:latin typeface="Calibri"/>
              </a:rPr>
              <a:t>•  </a:t>
            </a:r>
            <a:r>
              <a:rPr sz="1450" b="0" i="0">
                <a:solidFill>
                  <a:srgbClr val="222222"/>
                </a:solidFill>
                <a:latin typeface="Calibri"/>
              </a:rPr>
              <a:t>1.  System Architecture</a:t>
            </a:r>
          </a:p>
          <a:p>
            <a:pPr>
              <a:lnSpc>
                <a:spcPct val="100000"/>
              </a:lnSpc>
              <a:spcAft>
                <a:spcPts val="250"/>
              </a:spcAft>
            </a:pPr>
            <a:r>
              <a:rPr sz="1450" b="1" i="0">
                <a:solidFill>
                  <a:srgbClr val="1F3864"/>
                </a:solidFill>
                <a:latin typeface="Calibri"/>
              </a:rPr>
              <a:t>•  </a:t>
            </a:r>
            <a:r>
              <a:rPr sz="1450" b="0" i="0">
                <a:solidFill>
                  <a:srgbClr val="222222"/>
                </a:solidFill>
                <a:latin typeface="Calibri"/>
              </a:rPr>
              <a:t>1.1  Architecture – Component Responsibilities</a:t>
            </a:r>
          </a:p>
          <a:p>
            <a:pPr>
              <a:lnSpc>
                <a:spcPct val="100000"/>
              </a:lnSpc>
              <a:spcAft>
                <a:spcPts val="250"/>
              </a:spcAft>
            </a:pPr>
            <a:r>
              <a:rPr sz="1450" b="1" i="0">
                <a:solidFill>
                  <a:srgbClr val="1F3864"/>
                </a:solidFill>
                <a:latin typeface="Calibri"/>
              </a:rPr>
              <a:t>•  </a:t>
            </a:r>
            <a:r>
              <a:rPr sz="1450" b="0" i="0">
                <a:solidFill>
                  <a:srgbClr val="222222"/>
                </a:solidFill>
                <a:latin typeface="Calibri"/>
              </a:rPr>
              <a:t>2.  Algorithms – Overview</a:t>
            </a:r>
          </a:p>
          <a:p>
            <a:pPr>
              <a:lnSpc>
                <a:spcPct val="100000"/>
              </a:lnSpc>
              <a:spcAft>
                <a:spcPts val="250"/>
              </a:spcAft>
            </a:pPr>
            <a:r>
              <a:rPr sz="1450" b="1" i="0">
                <a:solidFill>
                  <a:srgbClr val="1F3864"/>
                </a:solidFill>
                <a:latin typeface="Calibri"/>
              </a:rPr>
              <a:t>•  </a:t>
            </a:r>
            <a:r>
              <a:rPr sz="1450" b="0" i="0">
                <a:solidFill>
                  <a:srgbClr val="222222"/>
                </a:solidFill>
                <a:latin typeface="Calibri"/>
              </a:rPr>
              <a:t>2 (a)  Existing Algorithms – Static Batching</a:t>
            </a:r>
          </a:p>
          <a:p>
            <a:pPr>
              <a:lnSpc>
                <a:spcPct val="100000"/>
              </a:lnSpc>
              <a:spcAft>
                <a:spcPts val="250"/>
              </a:spcAft>
            </a:pPr>
            <a:r>
              <a:rPr sz="1450" b="1" i="0">
                <a:solidFill>
                  <a:srgbClr val="1F3864"/>
                </a:solidFill>
                <a:latin typeface="Calibri"/>
              </a:rPr>
              <a:t>•  </a:t>
            </a:r>
            <a:r>
              <a:rPr sz="1450" b="0" i="0">
                <a:solidFill>
                  <a:srgbClr val="222222"/>
                </a:solidFill>
                <a:latin typeface="Calibri"/>
              </a:rPr>
              <a:t>2 (a)  Limitations of the Existing Algorithms</a:t>
            </a:r>
          </a:p>
          <a:p>
            <a:pPr>
              <a:lnSpc>
                <a:spcPct val="100000"/>
              </a:lnSpc>
              <a:spcAft>
                <a:spcPts val="250"/>
              </a:spcAft>
            </a:pPr>
            <a:r>
              <a:rPr sz="1450" b="1" i="0">
                <a:solidFill>
                  <a:srgbClr val="1F3864"/>
                </a:solidFill>
                <a:latin typeface="Calibri"/>
              </a:rPr>
              <a:t>•  </a:t>
            </a:r>
            <a:r>
              <a:rPr sz="1450" b="0" i="0">
                <a:solidFill>
                  <a:srgbClr val="222222"/>
                </a:solidFill>
                <a:latin typeface="Calibri"/>
              </a:rPr>
              <a:t>2 (b)  Proposed Algorithm 1 – Congestion Forecaster</a:t>
            </a:r>
          </a:p>
          <a:p>
            <a:pPr>
              <a:lnSpc>
                <a:spcPct val="100000"/>
              </a:lnSpc>
              <a:spcAft>
                <a:spcPts val="250"/>
              </a:spcAft>
            </a:pPr>
            <a:r>
              <a:rPr sz="1450" b="1" i="0">
                <a:solidFill>
                  <a:srgbClr val="1F3864"/>
                </a:solidFill>
                <a:latin typeface="Calibri"/>
              </a:rPr>
              <a:t>•  </a:t>
            </a:r>
            <a:r>
              <a:rPr sz="1450" b="0" i="0">
                <a:solidFill>
                  <a:srgbClr val="222222"/>
                </a:solidFill>
                <a:latin typeface="Calibri"/>
              </a:rPr>
              <a:t>2 (b)  Proposed Algorithm 2 – Constrained Batch Optimizer</a:t>
            </a:r>
          </a:p>
          <a:p>
            <a:pPr>
              <a:lnSpc>
                <a:spcPct val="100000"/>
              </a:lnSpc>
              <a:spcAft>
                <a:spcPts val="250"/>
              </a:spcAft>
            </a:pPr>
            <a:r>
              <a:rPr sz="1450" b="1" i="0">
                <a:solidFill>
                  <a:srgbClr val="1F3864"/>
                </a:solidFill>
                <a:latin typeface="Calibri"/>
              </a:rPr>
              <a:t>•  </a:t>
            </a:r>
            <a:r>
              <a:rPr sz="1450" b="0" i="0">
                <a:solidFill>
                  <a:srgbClr val="222222"/>
                </a:solidFill>
                <a:latin typeface="Calibri"/>
              </a:rPr>
              <a:t>2 (b)  Proposed Algorithm 3 – RL Adaptive Batching Agent</a:t>
            </a:r>
          </a:p>
          <a:p>
            <a:pPr>
              <a:lnSpc>
                <a:spcPct val="100000"/>
              </a:lnSpc>
              <a:spcAft>
                <a:spcPts val="250"/>
              </a:spcAft>
            </a:pPr>
            <a:r>
              <a:rPr sz="1450" b="1" i="0">
                <a:solidFill>
                  <a:srgbClr val="1F3864"/>
                </a:solidFill>
                <a:latin typeface="Calibri"/>
              </a:rPr>
              <a:t>•  </a:t>
            </a:r>
            <a:r>
              <a:rPr sz="1450" b="0" i="0">
                <a:solidFill>
                  <a:srgbClr val="222222"/>
                </a:solidFill>
                <a:latin typeface="Calibri"/>
              </a:rPr>
              <a:t>2  Existing vs. Proposed – Comparison</a:t>
            </a:r>
          </a:p>
          <a:p>
            <a:pPr>
              <a:lnSpc>
                <a:spcPct val="100000"/>
              </a:lnSpc>
              <a:spcAft>
                <a:spcPts val="250"/>
              </a:spcAft>
            </a:pPr>
            <a:r>
              <a:rPr sz="1450" b="1" i="0">
                <a:solidFill>
                  <a:srgbClr val="1F3864"/>
                </a:solidFill>
                <a:latin typeface="Calibri"/>
              </a:rPr>
              <a:t>•  </a:t>
            </a:r>
            <a:r>
              <a:rPr sz="1450" b="0" i="0">
                <a:solidFill>
                  <a:srgbClr val="222222"/>
                </a:solidFill>
                <a:latin typeface="Calibri"/>
              </a:rPr>
              <a:t>3.  Datasets – Overview</a:t>
            </a:r>
          </a:p>
          <a:p>
            <a:pPr>
              <a:lnSpc>
                <a:spcPct val="100000"/>
              </a:lnSpc>
              <a:spcAft>
                <a:spcPts val="250"/>
              </a:spcAft>
            </a:pPr>
            <a:r>
              <a:rPr sz="1450" b="1" i="0">
                <a:solidFill>
                  <a:srgbClr val="1F3864"/>
                </a:solidFill>
                <a:latin typeface="Calibri"/>
              </a:rPr>
              <a:t>•  </a:t>
            </a:r>
            <a:r>
              <a:rPr sz="1450" b="0" i="0">
                <a:solidFill>
                  <a:srgbClr val="222222"/>
                </a:solidFill>
                <a:latin typeface="Calibri"/>
              </a:rPr>
              <a:t>3 (a)  Secondary Data – Cardano Block Congestion</a:t>
            </a:r>
          </a:p>
          <a:p>
            <a:pPr>
              <a:lnSpc>
                <a:spcPct val="100000"/>
              </a:lnSpc>
              <a:spcAft>
                <a:spcPts val="250"/>
              </a:spcAft>
            </a:pPr>
            <a:r>
              <a:rPr sz="1450" b="1" i="0">
                <a:solidFill>
                  <a:srgbClr val="1F3864"/>
                </a:solidFill>
                <a:latin typeface="Calibri"/>
              </a:rPr>
              <a:t>•  </a:t>
            </a:r>
            <a:r>
              <a:rPr sz="1450" b="0" i="0">
                <a:solidFill>
                  <a:srgbClr val="222222"/>
                </a:solidFill>
                <a:latin typeface="Calibri"/>
              </a:rPr>
              <a:t>3 (a)  Primary Data – Order Stream &amp; Testnet Logs</a:t>
            </a:r>
          </a:p>
          <a:p>
            <a:pPr>
              <a:lnSpc>
                <a:spcPct val="100000"/>
              </a:lnSpc>
              <a:spcAft>
                <a:spcPts val="250"/>
              </a:spcAft>
            </a:pPr>
            <a:r>
              <a:rPr sz="1450" b="1" i="0">
                <a:solidFill>
                  <a:srgbClr val="1F3864"/>
                </a:solidFill>
                <a:latin typeface="Calibri"/>
              </a:rPr>
              <a:t>•  </a:t>
            </a:r>
            <a:r>
              <a:rPr sz="1450" b="0" i="0">
                <a:solidFill>
                  <a:srgbClr val="222222"/>
                </a:solidFill>
                <a:latin typeface="Calibri"/>
              </a:rPr>
              <a:t>3 (b)  Dataset Samples – Tables</a:t>
            </a:r>
          </a:p>
          <a:p>
            <a:pPr>
              <a:lnSpc>
                <a:spcPct val="100000"/>
              </a:lnSpc>
              <a:spcAft>
                <a:spcPts val="250"/>
              </a:spcAft>
            </a:pPr>
            <a:r>
              <a:rPr sz="1450" b="1" i="0">
                <a:solidFill>
                  <a:srgbClr val="1F3864"/>
                </a:solidFill>
                <a:latin typeface="Calibri"/>
              </a:rPr>
              <a:t>•  </a:t>
            </a:r>
            <a:r>
              <a:rPr sz="1450" b="0" i="0">
                <a:solidFill>
                  <a:srgbClr val="222222"/>
                </a:solidFill>
                <a:latin typeface="Calibri"/>
              </a:rPr>
              <a:t>3 (b)  Dataset Samples – Images (EDA)</a:t>
            </a:r>
          </a:p>
          <a:p>
            <a:pPr>
              <a:lnSpc>
                <a:spcPct val="100000"/>
              </a:lnSpc>
              <a:spcAft>
                <a:spcPts val="250"/>
              </a:spcAft>
            </a:pPr>
            <a:r>
              <a:rPr sz="1450" b="1" i="0">
                <a:solidFill>
                  <a:srgbClr val="1F3864"/>
                </a:solidFill>
                <a:latin typeface="Calibri"/>
              </a:rPr>
              <a:t>•  </a:t>
            </a:r>
            <a:r>
              <a:rPr sz="1450" b="0" i="0">
                <a:solidFill>
                  <a:srgbClr val="222222"/>
                </a:solidFill>
                <a:latin typeface="Calibri"/>
              </a:rPr>
              <a:t>3 (b)  Dataset Samples – Images (Order Side)</a:t>
            </a:r>
          </a:p>
          <a:p>
            <a:pPr>
              <a:lnSpc>
                <a:spcPct val="100000"/>
              </a:lnSpc>
              <a:spcAft>
                <a:spcPts val="250"/>
              </a:spcAft>
            </a:pPr>
            <a:r>
              <a:rPr sz="1450" b="1" i="0">
                <a:solidFill>
                  <a:srgbClr val="1F3864"/>
                </a:solidFill>
                <a:latin typeface="Calibri"/>
              </a:rPr>
              <a:t>•  </a:t>
            </a:r>
            <a:r>
              <a:rPr sz="1450" b="0" i="0">
                <a:solidFill>
                  <a:srgbClr val="222222"/>
                </a:solidFill>
                <a:latin typeface="Calibri"/>
              </a:rPr>
              <a:t>Design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3</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Design Overview</a:t>
            </a:r>
          </a:p>
        </p:txBody>
      </p:sp>
      <p:sp>
        <p:nvSpPr>
          <p:cNvPr id="7" name="TextBox 6"/>
          <p:cNvSpPr txBox="1"/>
          <p:nvPr/>
        </p:nvSpPr>
        <p:spPr>
          <a:xfrm>
            <a:off x="502920" y="1874519"/>
            <a:ext cx="11183112" cy="4398264"/>
          </a:xfrm>
          <a:prstGeom prst="rect">
            <a:avLst/>
          </a:prstGeom>
          <a:noFill/>
        </p:spPr>
        <p:txBody>
          <a:bodyPr wrap="square" lIns="0" rIns="0" tIns="0" bIns="0"/>
          <a:lstStyle/>
          <a:p>
            <a:pPr>
              <a:lnSpc>
                <a:spcPct val="100000"/>
              </a:lnSpc>
              <a:spcAft>
                <a:spcPts val="693"/>
              </a:spcAft>
            </a:pPr>
            <a:r>
              <a:rPr sz="1650" b="1" i="0">
                <a:solidFill>
                  <a:srgbClr val="1F3864"/>
                </a:solidFill>
                <a:latin typeface="Calibri"/>
              </a:rPr>
              <a:t>•  </a:t>
            </a:r>
            <a:r>
              <a:rPr sz="1650" b="1" i="0">
                <a:solidFill>
                  <a:srgbClr val="1F3864"/>
                </a:solidFill>
                <a:latin typeface="Calibri"/>
              </a:rPr>
              <a:t>Purpose of this deck:  </a:t>
            </a:r>
            <a:r>
              <a:rPr sz="1650" b="0" i="0">
                <a:solidFill>
                  <a:srgbClr val="222222"/>
                </a:solidFill>
                <a:latin typeface="Calibri"/>
              </a:rPr>
              <a:t>it fixes the three design artefacts the implementation will be built from – the system architecture, the algorithms, and the data the algorithms are trained and evaluated on.</a:t>
            </a:r>
          </a:p>
          <a:p>
            <a:pPr>
              <a:lnSpc>
                <a:spcPct val="100000"/>
              </a:lnSpc>
              <a:spcAft>
                <a:spcPts val="693"/>
              </a:spcAft>
            </a:pPr>
            <a:r>
              <a:rPr sz="1650" b="1" i="0">
                <a:solidFill>
                  <a:srgbClr val="1F3864"/>
                </a:solidFill>
                <a:latin typeface="Calibri"/>
              </a:rPr>
              <a:t>•  </a:t>
            </a:r>
            <a:r>
              <a:rPr sz="1650" b="1" i="0">
                <a:solidFill>
                  <a:srgbClr val="1F3864"/>
                </a:solidFill>
                <a:latin typeface="Calibri"/>
              </a:rPr>
              <a:t>Design driver:  </a:t>
            </a:r>
            <a:r>
              <a:rPr sz="1650" b="0" i="0">
                <a:solidFill>
                  <a:srgbClr val="222222"/>
                </a:solidFill>
                <a:latin typeface="Calibri"/>
              </a:rPr>
              <a:t>on Cardano a DEX pool is a single eUTXO that can be spent only once per block, so orders must be batched; and because fees are deterministic, congestion costs latency and failed inclusion rather than money.</a:t>
            </a:r>
          </a:p>
          <a:p>
            <a:pPr>
              <a:lnSpc>
                <a:spcPct val="100000"/>
              </a:lnSpc>
              <a:spcAft>
                <a:spcPts val="693"/>
              </a:spcAft>
            </a:pPr>
            <a:r>
              <a:rPr sz="1650" b="1" i="0">
                <a:solidFill>
                  <a:srgbClr val="1F3864"/>
                </a:solidFill>
                <a:latin typeface="Calibri"/>
              </a:rPr>
              <a:t>•  </a:t>
            </a:r>
            <a:r>
              <a:rPr sz="1650" b="1" i="0">
                <a:solidFill>
                  <a:srgbClr val="1F3864"/>
                </a:solidFill>
                <a:latin typeface="Calibri"/>
              </a:rPr>
              <a:t>1  Architecture:  </a:t>
            </a:r>
            <a:r>
              <a:rPr sz="1650" b="0" i="0">
                <a:solidFill>
                  <a:srgbClr val="222222"/>
                </a:solidFill>
                <a:latin typeface="Calibri"/>
              </a:rPr>
              <a:t>a four-layer design – on-chain contracts, chain-data sources, the off-chain adaptive batcher (the proposed core), and an offline training / evaluation layer. Drawn in draw.io and shipped as an editable .drawio source alongside this deck.</a:t>
            </a:r>
          </a:p>
          <a:p>
            <a:pPr>
              <a:lnSpc>
                <a:spcPct val="100000"/>
              </a:lnSpc>
              <a:spcAft>
                <a:spcPts val="693"/>
              </a:spcAft>
            </a:pPr>
            <a:r>
              <a:rPr sz="1650" b="1" i="0">
                <a:solidFill>
                  <a:srgbClr val="1F3864"/>
                </a:solidFill>
                <a:latin typeface="Calibri"/>
              </a:rPr>
              <a:t>•  </a:t>
            </a:r>
            <a:r>
              <a:rPr sz="1650" b="1" i="0">
                <a:solidFill>
                  <a:srgbClr val="1F3864"/>
                </a:solidFill>
                <a:latin typeface="Calibri"/>
              </a:rPr>
              <a:t>2  Algorithms:  </a:t>
            </a:r>
            <a:r>
              <a:rPr sz="1650" b="0" i="0">
                <a:solidFill>
                  <a:srgbClr val="222222"/>
                </a:solidFill>
                <a:latin typeface="Calibri"/>
              </a:rPr>
              <a:t>the existing static batching rules are stated as pseudocode so the gap is explicit, then three proposed algorithms – a congestion forecaster, a constrained batch optimizer, and a reinforcement-learning batching agent.</a:t>
            </a:r>
          </a:p>
          <a:p>
            <a:pPr>
              <a:lnSpc>
                <a:spcPct val="100000"/>
              </a:lnSpc>
              <a:spcAft>
                <a:spcPts val="693"/>
              </a:spcAft>
            </a:pPr>
            <a:r>
              <a:rPr sz="1650" b="1" i="0">
                <a:solidFill>
                  <a:srgbClr val="1F3864"/>
                </a:solidFill>
                <a:latin typeface="Calibri"/>
              </a:rPr>
              <a:t>•  </a:t>
            </a:r>
            <a:r>
              <a:rPr sz="1650" b="1" i="0">
                <a:solidFill>
                  <a:srgbClr val="1F3864"/>
                </a:solidFill>
                <a:latin typeface="Calibri"/>
              </a:rPr>
              <a:t>3  Datasets:  </a:t>
            </a:r>
            <a:r>
              <a:rPr sz="1650" b="0" i="0">
                <a:solidFill>
                  <a:srgbClr val="222222"/>
                </a:solidFill>
                <a:latin typeface="Calibri"/>
              </a:rPr>
              <a:t>secondary data is real Cardano block history pulled from public APIs; primary data is the order stream generated by our simulator plus the decision and settlement logs from our own preprod-testnet DEX.</a:t>
            </a:r>
          </a:p>
          <a:p>
            <a:pPr>
              <a:lnSpc>
                <a:spcPct val="100000"/>
              </a:lnSpc>
              <a:spcAft>
                <a:spcPts val="693"/>
              </a:spcAft>
            </a:pPr>
            <a:r>
              <a:rPr sz="1650" b="1" i="0">
                <a:solidFill>
                  <a:srgbClr val="1F3864"/>
                </a:solidFill>
                <a:latin typeface="Calibri"/>
              </a:rPr>
              <a:t>•  </a:t>
            </a:r>
            <a:r>
              <a:rPr sz="1650" b="1" i="0">
                <a:solidFill>
                  <a:srgbClr val="1F3864"/>
                </a:solidFill>
                <a:latin typeface="Calibri"/>
              </a:rPr>
              <a:t>Design constraint carried through every layer:  </a:t>
            </a:r>
            <a:r>
              <a:rPr sz="1650" b="0" i="0">
                <a:solidFill>
                  <a:srgbClr val="222222"/>
                </a:solidFill>
                <a:latin typeface="Calibri"/>
              </a:rPr>
              <a:t>no batch may exceed the block size limit (90,112 bytes) or the Plutus execution-unit budget (62 M memory / 20 G steps per block).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4</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1.  System Architecture</a:t>
            </a:r>
          </a:p>
        </p:txBody>
      </p:sp>
      <p:sp>
        <p:nvSpPr>
          <p:cNvPr id="7" name="TextBox 6"/>
          <p:cNvSpPr txBox="1"/>
          <p:nvPr/>
        </p:nvSpPr>
        <p:spPr>
          <a:xfrm>
            <a:off x="502920" y="1664208"/>
            <a:ext cx="11183112" cy="201168"/>
          </a:xfrm>
          <a:prstGeom prst="rect">
            <a:avLst/>
          </a:prstGeom>
          <a:noFill/>
        </p:spPr>
        <p:txBody>
          <a:bodyPr wrap="square" lIns="0" rIns="0" tIns="0" bIns="0"/>
          <a:lstStyle/>
          <a:p>
            <a:pPr algn="l"/>
            <a:r>
              <a:rPr sz="1000" b="0" i="0">
                <a:solidFill>
                  <a:srgbClr val="595959"/>
                </a:solidFill>
                <a:latin typeface="Calibri"/>
              </a:rPr>
              <a:t>Four-layer design.  Blue = proposed contribution;  grey = existing Cardano infrastructure reused as-is.</a:t>
            </a:r>
          </a:p>
        </p:txBody>
      </p:sp>
      <p:sp>
        <p:nvSpPr>
          <p:cNvPr id="8" name="TextBox 7"/>
          <p:cNvSpPr txBox="1"/>
          <p:nvPr/>
        </p:nvSpPr>
        <p:spPr>
          <a:xfrm>
            <a:off x="502920" y="1920240"/>
            <a:ext cx="11183112" cy="228600"/>
          </a:xfrm>
          <a:prstGeom prst="rect">
            <a:avLst/>
          </a:prstGeom>
          <a:noFill/>
        </p:spPr>
        <p:txBody>
          <a:bodyPr wrap="square" lIns="0" rIns="0" tIns="0" bIns="0"/>
          <a:lstStyle/>
          <a:p>
            <a:pPr algn="l"/>
            <a:r>
              <a:rPr sz="1100" b="1" i="0">
                <a:solidFill>
                  <a:srgbClr val="595959"/>
                </a:solidFill>
                <a:latin typeface="Calibri"/>
              </a:rPr>
              <a:t>LAYER 1   –   ON-CHAIN   (CARDANO PREPROD TESTNET)</a:t>
            </a:r>
          </a:p>
        </p:txBody>
      </p:sp>
      <p:sp>
        <p:nvSpPr>
          <p:cNvPr id="9" name="Rounded Rectangle 8"/>
          <p:cNvSpPr/>
          <p:nvPr/>
        </p:nvSpPr>
        <p:spPr>
          <a:xfrm>
            <a:off x="502920" y="2139696"/>
            <a:ext cx="2590038" cy="566928"/>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864"/>
                </a:solidFill>
                <a:latin typeface="Calibri"/>
              </a:rPr>
              <a:t>User Wallet</a:t>
            </a:r>
          </a:p>
          <a:p>
            <a:pPr algn="ctr"/>
            <a:r>
              <a:rPr sz="950" b="0" i="0">
                <a:solidFill>
                  <a:srgbClr val="595959"/>
                </a:solidFill>
                <a:latin typeface="Calibri"/>
              </a:rPr>
              <a:t>signs order tx (CIP-30)</a:t>
            </a:r>
          </a:p>
        </p:txBody>
      </p:sp>
      <p:sp>
        <p:nvSpPr>
          <p:cNvPr id="10" name="Right Arrow 9"/>
          <p:cNvSpPr/>
          <p:nvPr/>
        </p:nvSpPr>
        <p:spPr>
          <a:xfrm>
            <a:off x="3134106" y="2340864"/>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67278" y="2139696"/>
            <a:ext cx="2590038" cy="566928"/>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864"/>
                </a:solidFill>
                <a:latin typeface="Calibri"/>
              </a:rPr>
              <a:t>Order UTXOs</a:t>
            </a:r>
          </a:p>
          <a:p>
            <a:pPr algn="ctr"/>
            <a:r>
              <a:rPr sz="950" b="0" i="0">
                <a:solidFill>
                  <a:srgbClr val="595959"/>
                </a:solidFill>
                <a:latin typeface="Calibri"/>
              </a:rPr>
              <a:t>Aiken order validator</a:t>
            </a:r>
          </a:p>
        </p:txBody>
      </p:sp>
      <p:sp>
        <p:nvSpPr>
          <p:cNvPr id="12" name="Right Arrow 11"/>
          <p:cNvSpPr/>
          <p:nvPr/>
        </p:nvSpPr>
        <p:spPr>
          <a:xfrm>
            <a:off x="5998464" y="2340864"/>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31636" y="2139696"/>
            <a:ext cx="2590038" cy="566928"/>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864"/>
                </a:solidFill>
                <a:latin typeface="Calibri"/>
              </a:rPr>
              <a:t>Liquidity Pool UTXO</a:t>
            </a:r>
          </a:p>
          <a:p>
            <a:pPr algn="ctr"/>
            <a:r>
              <a:rPr sz="950" b="0" i="0">
                <a:solidFill>
                  <a:srgbClr val="595959"/>
                </a:solidFill>
                <a:latin typeface="Calibri"/>
              </a:rPr>
              <a:t>one spend per block</a:t>
            </a:r>
          </a:p>
        </p:txBody>
      </p:sp>
      <p:sp>
        <p:nvSpPr>
          <p:cNvPr id="14" name="Right Arrow 13"/>
          <p:cNvSpPr/>
          <p:nvPr/>
        </p:nvSpPr>
        <p:spPr>
          <a:xfrm>
            <a:off x="8862822" y="2340864"/>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95994" y="2139696"/>
            <a:ext cx="2590038" cy="566928"/>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864"/>
                </a:solidFill>
                <a:latin typeface="Calibri"/>
              </a:rPr>
              <a:t>Block Producer</a:t>
            </a:r>
          </a:p>
          <a:p>
            <a:pPr algn="ctr"/>
            <a:r>
              <a:rPr sz="950" b="0" i="0">
                <a:solidFill>
                  <a:srgbClr val="595959"/>
                </a:solidFill>
                <a:latin typeface="Calibri"/>
              </a:rPr>
              <a:t>90,112 B  +  ExUnit caps</a:t>
            </a:r>
          </a:p>
        </p:txBody>
      </p:sp>
      <p:sp>
        <p:nvSpPr>
          <p:cNvPr id="16" name="TextBox 15"/>
          <p:cNvSpPr txBox="1"/>
          <p:nvPr/>
        </p:nvSpPr>
        <p:spPr>
          <a:xfrm>
            <a:off x="502920" y="2798064"/>
            <a:ext cx="11183112" cy="228600"/>
          </a:xfrm>
          <a:prstGeom prst="rect">
            <a:avLst/>
          </a:prstGeom>
          <a:noFill/>
        </p:spPr>
        <p:txBody>
          <a:bodyPr wrap="square" lIns="0" rIns="0" tIns="0" bIns="0"/>
          <a:lstStyle/>
          <a:p>
            <a:pPr algn="l"/>
            <a:r>
              <a:rPr sz="1100" b="1" i="0">
                <a:solidFill>
                  <a:srgbClr val="595959"/>
                </a:solidFill>
                <a:latin typeface="Calibri"/>
              </a:rPr>
              <a:t>LAYER 2   –   CHAIN DATA SOURCES</a:t>
            </a:r>
          </a:p>
        </p:txBody>
      </p:sp>
      <p:sp>
        <p:nvSpPr>
          <p:cNvPr id="17" name="Rounded Rectangle 16"/>
          <p:cNvSpPr/>
          <p:nvPr/>
        </p:nvSpPr>
        <p:spPr>
          <a:xfrm>
            <a:off x="502920" y="3017520"/>
            <a:ext cx="2590038" cy="530352"/>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Koios API</a:t>
            </a:r>
          </a:p>
          <a:p>
            <a:pPr algn="ctr"/>
            <a:r>
              <a:rPr sz="900" b="0" i="0">
                <a:solidFill>
                  <a:srgbClr val="595959"/>
                </a:solidFill>
                <a:latin typeface="Calibri"/>
              </a:rPr>
              <a:t>block size, tx count, slot</a:t>
            </a:r>
          </a:p>
        </p:txBody>
      </p:sp>
      <p:sp>
        <p:nvSpPr>
          <p:cNvPr id="18" name="Right Arrow 17"/>
          <p:cNvSpPr/>
          <p:nvPr/>
        </p:nvSpPr>
        <p:spPr>
          <a:xfrm>
            <a:off x="3134106" y="3200400"/>
            <a:ext cx="192024" cy="164592"/>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367278" y="3017520"/>
            <a:ext cx="2590038" cy="530352"/>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Blockfrost</a:t>
            </a:r>
          </a:p>
          <a:p>
            <a:pPr algn="ctr"/>
            <a:r>
              <a:rPr sz="900" b="0" i="0">
                <a:solidFill>
                  <a:srgbClr val="595959"/>
                </a:solidFill>
                <a:latin typeface="Calibri"/>
              </a:rPr>
              <a:t>live blocks + tx submit</a:t>
            </a:r>
          </a:p>
        </p:txBody>
      </p:sp>
      <p:sp>
        <p:nvSpPr>
          <p:cNvPr id="20" name="Right Arrow 19"/>
          <p:cNvSpPr/>
          <p:nvPr/>
        </p:nvSpPr>
        <p:spPr>
          <a:xfrm>
            <a:off x="5998464" y="3200400"/>
            <a:ext cx="192024" cy="164592"/>
          </a:xfrm>
          <a:prstGeom prst="rightArrow">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31636" y="3017520"/>
            <a:ext cx="2590038" cy="530352"/>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cardano-db-sync</a:t>
            </a:r>
          </a:p>
          <a:p>
            <a:pPr algn="ctr"/>
            <a:r>
              <a:rPr sz="900" b="0" i="0">
                <a:solidFill>
                  <a:srgbClr val="595959"/>
                </a:solidFill>
                <a:latin typeface="Calibri"/>
              </a:rPr>
              <a:t>per-block ExUnits</a:t>
            </a:r>
          </a:p>
        </p:txBody>
      </p:sp>
      <p:sp>
        <p:nvSpPr>
          <p:cNvPr id="22" name="Right Arrow 21"/>
          <p:cNvSpPr/>
          <p:nvPr/>
        </p:nvSpPr>
        <p:spPr>
          <a:xfrm>
            <a:off x="8862822" y="3200400"/>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095994" y="3017520"/>
            <a:ext cx="2590038" cy="530352"/>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Block Feature Store</a:t>
            </a:r>
          </a:p>
          <a:p>
            <a:pPr algn="ctr"/>
            <a:r>
              <a:rPr sz="900" b="0" i="0">
                <a:solidFill>
                  <a:srgbClr val="595959"/>
                </a:solidFill>
                <a:latin typeface="Calibri"/>
              </a:rPr>
              <a:t>congestion time series (CSV / Parquet)</a:t>
            </a:r>
          </a:p>
        </p:txBody>
      </p:sp>
      <p:sp>
        <p:nvSpPr>
          <p:cNvPr id="24" name="TextBox 23"/>
          <p:cNvSpPr txBox="1"/>
          <p:nvPr/>
        </p:nvSpPr>
        <p:spPr>
          <a:xfrm>
            <a:off x="502920" y="3639312"/>
            <a:ext cx="11183112" cy="228600"/>
          </a:xfrm>
          <a:prstGeom prst="rect">
            <a:avLst/>
          </a:prstGeom>
          <a:noFill/>
        </p:spPr>
        <p:txBody>
          <a:bodyPr wrap="square" lIns="0" rIns="0" tIns="0" bIns="0"/>
          <a:lstStyle/>
          <a:p>
            <a:pPr algn="l"/>
            <a:r>
              <a:rPr sz="1100" b="1" i="0">
                <a:solidFill>
                  <a:srgbClr val="595959"/>
                </a:solidFill>
                <a:latin typeface="Calibri"/>
              </a:rPr>
              <a:t>LAYER 3   –   OFF-CHAIN ADAPTIVE BATCHER   (PROPOSED SYSTEM)</a:t>
            </a:r>
          </a:p>
        </p:txBody>
      </p:sp>
      <p:sp>
        <p:nvSpPr>
          <p:cNvPr id="25" name="Rounded Rectangle 24"/>
          <p:cNvSpPr/>
          <p:nvPr/>
        </p:nvSpPr>
        <p:spPr>
          <a:xfrm>
            <a:off x="502920" y="3858768"/>
            <a:ext cx="11183112" cy="1298448"/>
          </a:xfrm>
          <a:prstGeom prst="roundRect">
            <a:avLst>
              <a:gd name="adj" fmla="val 4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6" name="Rounded Rectangle 25"/>
          <p:cNvSpPr/>
          <p:nvPr/>
        </p:nvSpPr>
        <p:spPr>
          <a:xfrm>
            <a:off x="749808" y="4023360"/>
            <a:ext cx="1933041" cy="969264"/>
          </a:xfrm>
          <a:prstGeom prst="roundRect">
            <a:avLst>
              <a:gd name="adj" fmla="val 8000"/>
            </a:avLst>
          </a:prstGeom>
          <a:solidFill>
            <a:srgbClr val="FFFFFF"/>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150" b="1" i="0">
                <a:solidFill>
                  <a:srgbClr val="1F3864"/>
                </a:solidFill>
                <a:latin typeface="Calibri"/>
              </a:rPr>
              <a:t>M1  Chain Data
Collector</a:t>
            </a:r>
          </a:p>
          <a:p>
            <a:pPr algn="ctr">
              <a:lnSpc>
                <a:spcPct val="95000"/>
              </a:lnSpc>
              <a:spcBef>
                <a:spcPts val="200"/>
              </a:spcBef>
            </a:pPr>
            <a:r>
              <a:rPr sz="900" b="0" i="0">
                <a:solidFill>
                  <a:srgbClr val="595959"/>
                </a:solidFill>
                <a:latin typeface="Calibri"/>
              </a:rPr>
              <a:t>fill %, ExUnits,
tx count</a:t>
            </a:r>
          </a:p>
        </p:txBody>
      </p:sp>
      <p:sp>
        <p:nvSpPr>
          <p:cNvPr id="27" name="Right Arrow 26"/>
          <p:cNvSpPr/>
          <p:nvPr/>
        </p:nvSpPr>
        <p:spPr>
          <a:xfrm>
            <a:off x="2714853" y="4425696"/>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938881" y="4023360"/>
            <a:ext cx="1933041" cy="969264"/>
          </a:xfrm>
          <a:prstGeom prst="roundRect">
            <a:avLst>
              <a:gd name="adj" fmla="val 8000"/>
            </a:avLst>
          </a:prstGeom>
          <a:solidFill>
            <a:srgbClr val="FFFFFF"/>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150" b="1" i="0">
                <a:solidFill>
                  <a:srgbClr val="1F3864"/>
                </a:solidFill>
                <a:latin typeface="Calibri"/>
              </a:rPr>
              <a:t>M2  Congestion
Forecaster</a:t>
            </a:r>
          </a:p>
          <a:p>
            <a:pPr algn="ctr">
              <a:lnSpc>
                <a:spcPct val="95000"/>
              </a:lnSpc>
              <a:spcBef>
                <a:spcPts val="200"/>
              </a:spcBef>
            </a:pPr>
            <a:r>
              <a:rPr sz="900" b="0" i="0">
                <a:solidFill>
                  <a:srgbClr val="595959"/>
                </a:solidFill>
                <a:latin typeface="Calibri"/>
              </a:rPr>
              <a:t>LightGBM /
LSTM</a:t>
            </a:r>
          </a:p>
        </p:txBody>
      </p:sp>
      <p:sp>
        <p:nvSpPr>
          <p:cNvPr id="29" name="Right Arrow 28"/>
          <p:cNvSpPr/>
          <p:nvPr/>
        </p:nvSpPr>
        <p:spPr>
          <a:xfrm>
            <a:off x="4903927" y="4425696"/>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127955" y="4023360"/>
            <a:ext cx="1933041" cy="969264"/>
          </a:xfrm>
          <a:prstGeom prst="roundRect">
            <a:avLst>
              <a:gd name="adj" fmla="val 8000"/>
            </a:avLst>
          </a:prstGeom>
          <a:solidFill>
            <a:srgbClr val="FFFFFF"/>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150" b="1" i="0">
                <a:solidFill>
                  <a:srgbClr val="1F3864"/>
                </a:solidFill>
                <a:latin typeface="Calibri"/>
              </a:rPr>
              <a:t>M3  Order Queue
Manager</a:t>
            </a:r>
          </a:p>
          <a:p>
            <a:pPr algn="ctr">
              <a:lnSpc>
                <a:spcPct val="95000"/>
              </a:lnSpc>
              <a:spcBef>
                <a:spcPts val="200"/>
              </a:spcBef>
            </a:pPr>
            <a:r>
              <a:rPr sz="900" b="0" i="0">
                <a:solidFill>
                  <a:srgbClr val="595959"/>
                </a:solidFill>
                <a:latin typeface="Calibri"/>
              </a:rPr>
              <a:t>depth, wait,
size, slippage</a:t>
            </a:r>
          </a:p>
        </p:txBody>
      </p:sp>
      <p:sp>
        <p:nvSpPr>
          <p:cNvPr id="31" name="Right Arrow 30"/>
          <p:cNvSpPr/>
          <p:nvPr/>
        </p:nvSpPr>
        <p:spPr>
          <a:xfrm>
            <a:off x="7093000" y="4425696"/>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17028" y="4023360"/>
            <a:ext cx="1933041" cy="969264"/>
          </a:xfrm>
          <a:prstGeom prst="roundRect">
            <a:avLst>
              <a:gd name="adj" fmla="val 8000"/>
            </a:avLst>
          </a:prstGeom>
          <a:solidFill>
            <a:srgbClr val="FFFFFF"/>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150" b="1" i="0">
                <a:solidFill>
                  <a:srgbClr val="1F3864"/>
                </a:solidFill>
                <a:latin typeface="Calibri"/>
              </a:rPr>
              <a:t>M4  Adaptive Batching
Policy</a:t>
            </a:r>
          </a:p>
          <a:p>
            <a:pPr algn="ctr">
              <a:lnSpc>
                <a:spcPct val="95000"/>
              </a:lnSpc>
              <a:spcBef>
                <a:spcPts val="200"/>
              </a:spcBef>
            </a:pPr>
            <a:r>
              <a:rPr sz="900" b="0" i="0">
                <a:solidFill>
                  <a:srgbClr val="595959"/>
                </a:solidFill>
                <a:latin typeface="Calibri"/>
              </a:rPr>
              <a:t>optimizer  +
RL agent</a:t>
            </a:r>
          </a:p>
        </p:txBody>
      </p:sp>
      <p:sp>
        <p:nvSpPr>
          <p:cNvPr id="33" name="Right Arrow 32"/>
          <p:cNvSpPr/>
          <p:nvPr/>
        </p:nvSpPr>
        <p:spPr>
          <a:xfrm>
            <a:off x="9282074" y="4425696"/>
            <a:ext cx="192024" cy="164592"/>
          </a:xfrm>
          <a:prstGeom prst="rightArrow">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506102" y="4023360"/>
            <a:ext cx="1933041" cy="969264"/>
          </a:xfrm>
          <a:prstGeom prst="roundRect">
            <a:avLst>
              <a:gd name="adj" fmla="val 8000"/>
            </a:avLst>
          </a:prstGeom>
          <a:solidFill>
            <a:srgbClr val="FFFFFF"/>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95000"/>
              </a:lnSpc>
            </a:pPr>
            <a:r>
              <a:rPr sz="1150" b="1" i="0">
                <a:solidFill>
                  <a:srgbClr val="1F3864"/>
                </a:solidFill>
                <a:latin typeface="Calibri"/>
              </a:rPr>
              <a:t>M5  Batch Builder
&amp; Submitter</a:t>
            </a:r>
          </a:p>
          <a:p>
            <a:pPr algn="ctr">
              <a:lnSpc>
                <a:spcPct val="95000"/>
              </a:lnSpc>
              <a:spcBef>
                <a:spcPts val="200"/>
              </a:spcBef>
            </a:pPr>
            <a:r>
              <a:rPr sz="900" b="0" i="0">
                <a:solidFill>
                  <a:srgbClr val="595959"/>
                </a:solidFill>
                <a:latin typeface="Calibri"/>
              </a:rPr>
              <a:t>validates size /
ExUnit budget</a:t>
            </a:r>
          </a:p>
        </p:txBody>
      </p:sp>
      <p:sp>
        <p:nvSpPr>
          <p:cNvPr id="35" name="TextBox 34"/>
          <p:cNvSpPr txBox="1"/>
          <p:nvPr/>
        </p:nvSpPr>
        <p:spPr>
          <a:xfrm>
            <a:off x="502920" y="5230368"/>
            <a:ext cx="11183112" cy="228600"/>
          </a:xfrm>
          <a:prstGeom prst="rect">
            <a:avLst/>
          </a:prstGeom>
          <a:noFill/>
        </p:spPr>
        <p:txBody>
          <a:bodyPr wrap="square" lIns="0" rIns="0" tIns="0" bIns="0"/>
          <a:lstStyle/>
          <a:p>
            <a:pPr algn="l"/>
            <a:r>
              <a:rPr sz="1100" b="1" i="0">
                <a:solidFill>
                  <a:srgbClr val="595959"/>
                </a:solidFill>
                <a:latin typeface="Calibri"/>
              </a:rPr>
              <a:t>LAYER 4   –   OFFLINE TRAINING &amp; EVALUATION</a:t>
            </a:r>
          </a:p>
        </p:txBody>
      </p:sp>
      <p:sp>
        <p:nvSpPr>
          <p:cNvPr id="36" name="Rounded Rectangle 35"/>
          <p:cNvSpPr/>
          <p:nvPr/>
        </p:nvSpPr>
        <p:spPr>
          <a:xfrm>
            <a:off x="502920" y="5449824"/>
            <a:ext cx="3544824" cy="5486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M6  Discrete-Event Simulator</a:t>
            </a:r>
          </a:p>
          <a:p>
            <a:pPr algn="ctr"/>
            <a:r>
              <a:rPr sz="900" b="0" i="0">
                <a:solidFill>
                  <a:srgbClr val="595959"/>
                </a:solidFill>
                <a:latin typeface="Calibri"/>
              </a:rPr>
              <a:t>replays real historical blocks as background congestion</a:t>
            </a:r>
          </a:p>
        </p:txBody>
      </p:sp>
      <p:sp>
        <p:nvSpPr>
          <p:cNvPr id="37" name="Rounded Rectangle 36"/>
          <p:cNvSpPr/>
          <p:nvPr/>
        </p:nvSpPr>
        <p:spPr>
          <a:xfrm>
            <a:off x="4322064" y="5449824"/>
            <a:ext cx="3544824" cy="5486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Static Baseline Batchers</a:t>
            </a:r>
          </a:p>
          <a:p>
            <a:pPr algn="ctr"/>
            <a:r>
              <a:rPr sz="900" b="0" i="0">
                <a:solidFill>
                  <a:srgbClr val="595959"/>
                </a:solidFill>
                <a:latin typeface="Calibri"/>
              </a:rPr>
              <a:t>fixed-size  |  fixed-interval  |  greedy</a:t>
            </a:r>
          </a:p>
        </p:txBody>
      </p:sp>
      <p:sp>
        <p:nvSpPr>
          <p:cNvPr id="38" name="Rounded Rectangle 37"/>
          <p:cNvSpPr/>
          <p:nvPr/>
        </p:nvSpPr>
        <p:spPr>
          <a:xfrm>
            <a:off x="8141208" y="5449824"/>
            <a:ext cx="3544824" cy="54864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1F3864"/>
                </a:solidFill>
                <a:latin typeface="Calibri"/>
              </a:rPr>
              <a:t>Metrics &amp; Plots</a:t>
            </a:r>
          </a:p>
          <a:p>
            <a:pPr algn="ctr"/>
            <a:r>
              <a:rPr sz="900" b="0" i="0">
                <a:solidFill>
                  <a:srgbClr val="595959"/>
                </a:solidFill>
                <a:latin typeface="Calibri"/>
              </a:rPr>
              <a:t>latency, per-user cost, inclusion, throughput, fairness</a:t>
            </a:r>
          </a:p>
        </p:txBody>
      </p:sp>
      <p:sp>
        <p:nvSpPr>
          <p:cNvPr id="39" name="TextBox 38"/>
          <p:cNvSpPr txBox="1"/>
          <p:nvPr/>
        </p:nvSpPr>
        <p:spPr>
          <a:xfrm>
            <a:off x="502920" y="6071616"/>
            <a:ext cx="11183112" cy="274320"/>
          </a:xfrm>
          <a:prstGeom prst="rect">
            <a:avLst/>
          </a:prstGeom>
          <a:noFill/>
        </p:spPr>
        <p:txBody>
          <a:bodyPr wrap="square" lIns="0" rIns="0" tIns="0" bIns="0"/>
          <a:lstStyle/>
          <a:p>
            <a:r>
              <a:rPr sz="1000" b="1" i="0">
                <a:solidFill>
                  <a:srgbClr val="2E5395"/>
                </a:solidFill>
                <a:latin typeface="Calibri"/>
              </a:rPr>
              <a:t>Feedback loop:  </a:t>
            </a:r>
            <a:r>
              <a:rPr sz="1000" b="0" i="0">
                <a:solidFill>
                  <a:srgbClr val="595959"/>
                </a:solidFill>
                <a:latin typeface="Calibri"/>
              </a:rPr>
              <a:t>M5 returns the inclusion result (included / bounced), realised latency and per-user cost to M4 as the reinforcement-learning reward and to Layer 4 as evaluation signal.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5</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1.1  Architecture – Component Responsibilities</a:t>
            </a:r>
          </a:p>
        </p:txBody>
      </p:sp>
      <p:graphicFrame>
        <p:nvGraphicFramePr>
          <p:cNvPr id="7" name="Table 6"/>
          <p:cNvGraphicFramePr>
            <a:graphicFrameLocks noGrp="1"/>
          </p:cNvGraphicFramePr>
          <p:nvPr/>
        </p:nvGraphicFramePr>
        <p:xfrm>
          <a:off x="502920" y="1810512"/>
          <a:ext cx="11183112" cy="4151376"/>
        </p:xfrm>
        <a:graphic>
          <a:graphicData uri="http://schemas.openxmlformats.org/drawingml/2006/table">
            <a:tbl>
              <a:tblPr>
                <a:tableStyleId>{5C22544A-7EE6-4342-B048-85BDC9FD1C3A}</a:tableStyleId>
              </a:tblPr>
              <a:tblGrid>
                <a:gridCol w="1828800"/>
                <a:gridCol w="4480560"/>
                <a:gridCol w="3246120"/>
                <a:gridCol w="1627632"/>
              </a:tblGrid>
              <a:tr h="310896">
                <a:tc>
                  <a:txBody>
                    <a:bodyPr wrap="square"/>
                    <a:lstStyle/>
                    <a:p>
                      <a:pPr>
                        <a:lnSpc>
                          <a:spcPct val="95000"/>
                        </a:lnSpc>
                      </a:pPr>
                      <a:r>
                        <a:rPr sz="1100" b="1" i="0">
                          <a:solidFill>
                            <a:srgbClr val="FFFFFF"/>
                          </a:solidFill>
                          <a:latin typeface="Calibri"/>
                        </a:rPr>
                        <a:t>Module</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Responsibility</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Input → Output</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Tech</a:t>
                      </a:r>
                    </a:p>
                  </a:txBody>
                  <a:tcPr marL="64008" marR="45720" marT="18288" marB="18288" anchor="ctr">
                    <a:solidFill>
                      <a:srgbClr val="1F3864"/>
                    </a:solidFill>
                  </a:tcPr>
                </a:tc>
              </a:tr>
              <a:tr h="548640">
                <a:tc>
                  <a:txBody>
                    <a:bodyPr wrap="square"/>
                    <a:lstStyle/>
                    <a:p>
                      <a:pPr>
                        <a:lnSpc>
                          <a:spcPct val="95000"/>
                        </a:lnSpc>
                      </a:pPr>
                      <a:r>
                        <a:rPr sz="1000" b="1" i="0">
                          <a:solidFill>
                            <a:srgbClr val="1F3864"/>
                          </a:solidFill>
                          <a:latin typeface="Calibri"/>
                        </a:rPr>
                        <a:t>M1  Chain Data
Collector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Polls recent blocks, derives the congestion time series and stores it as the feature set.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Koios / Blockfrost → block feature rows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Python, pandas,
requests</a:t>
                      </a:r>
                    </a:p>
                  </a:txBody>
                  <a:tcPr marL="64008" marR="45720" marT="18288" marB="18288" anchor="ctr">
                    <a:solidFill>
                      <a:srgbClr val="FFFFFF"/>
                    </a:solidFill>
                  </a:tcPr>
                </a:tc>
              </a:tr>
              <a:tr h="548640">
                <a:tc>
                  <a:txBody>
                    <a:bodyPr wrap="square"/>
                    <a:lstStyle/>
                    <a:p>
                      <a:pPr>
                        <a:lnSpc>
                          <a:spcPct val="95000"/>
                        </a:lnSpc>
                      </a:pPr>
                      <a:r>
                        <a:rPr sz="1000" b="1" i="0">
                          <a:solidFill>
                            <a:srgbClr val="1F3864"/>
                          </a:solidFill>
                          <a:latin typeface="Calibri"/>
                        </a:rPr>
                        <a:t>M2  Congestion
Forecaster</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Predicts fill % and ExUnit headroom of the next k blocks; keeps a moving-average baseline for comparison.</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last k feature rows → f̂ (t+1 … t+k)</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LightGBM,
PyTorch (LSTM)</a:t>
                      </a:r>
                    </a:p>
                  </a:txBody>
                  <a:tcPr marL="64008" marR="45720" marT="18288" marB="18288" anchor="ctr">
                    <a:solidFill>
                      <a:srgbClr val="F4F7FB"/>
                    </a:solidFill>
                  </a:tcPr>
                </a:tc>
              </a:tr>
              <a:tr h="548640">
                <a:tc>
                  <a:txBody>
                    <a:bodyPr wrap="square"/>
                    <a:lstStyle/>
                    <a:p>
                      <a:pPr>
                        <a:lnSpc>
                          <a:spcPct val="95000"/>
                        </a:lnSpc>
                      </a:pPr>
                      <a:r>
                        <a:rPr sz="1000" b="1" i="0">
                          <a:solidFill>
                            <a:srgbClr val="1F3864"/>
                          </a:solidFill>
                          <a:latin typeface="Calibri"/>
                        </a:rPr>
                        <a:t>M3  Order Queue
Manager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Tracks pending order UTXOs with arrival time, waiting time, tx size and slippage tolerance.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chain scan → queue state vector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Python,
PyCardano</a:t>
                      </a:r>
                    </a:p>
                  </a:txBody>
                  <a:tcPr marL="64008" marR="45720" marT="18288" marB="18288" anchor="ctr">
                    <a:solidFill>
                      <a:srgbClr val="FFFFFF"/>
                    </a:solidFill>
                  </a:tcPr>
                </a:tc>
              </a:tr>
              <a:tr h="548640">
                <a:tc>
                  <a:txBody>
                    <a:bodyPr wrap="square"/>
                    <a:lstStyle/>
                    <a:p>
                      <a:pPr>
                        <a:lnSpc>
                          <a:spcPct val="95000"/>
                        </a:lnSpc>
                      </a:pPr>
                      <a:r>
                        <a:rPr sz="1000" b="1" i="0">
                          <a:solidFill>
                            <a:srgbClr val="1F3864"/>
                          </a:solidFill>
                          <a:latin typeface="Calibri"/>
                        </a:rPr>
                        <a:t>M4  Adaptive Batching
Policy</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Core module. Chooses WAIT or SUBMIT(n) under the block-capacity constraints. Two variants: optimizer and RL agent.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 queue state) → action</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SciPy,
Stable-Baselines3</a:t>
                      </a:r>
                    </a:p>
                  </a:txBody>
                  <a:tcPr marL="64008" marR="45720" marT="18288" marB="18288" anchor="ctr">
                    <a:solidFill>
                      <a:srgbClr val="F4F7FB"/>
                    </a:solidFill>
                  </a:tcPr>
                </a:tc>
              </a:tr>
              <a:tr h="548640">
                <a:tc>
                  <a:txBody>
                    <a:bodyPr wrap="square"/>
                    <a:lstStyle/>
                    <a:p>
                      <a:pPr>
                        <a:lnSpc>
                          <a:spcPct val="95000"/>
                        </a:lnSpc>
                      </a:pPr>
                      <a:r>
                        <a:rPr sz="1000" b="1" i="0">
                          <a:solidFill>
                            <a:srgbClr val="1F3864"/>
                          </a:solidFill>
                          <a:latin typeface="Calibri"/>
                        </a:rPr>
                        <a:t>M5  Batch Builder
&amp; Submitter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Assembles the batch transaction, re-validates size / ExUnits, signs and submits, and captures the inclusion outcome.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order set → signed tx + result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PyCardano,
Blockfrost</a:t>
                      </a:r>
                    </a:p>
                  </a:txBody>
                  <a:tcPr marL="64008" marR="45720" marT="18288" marB="18288" anchor="ctr">
                    <a:solidFill>
                      <a:srgbClr val="FFFFFF"/>
                    </a:solidFill>
                  </a:tcPr>
                </a:tc>
              </a:tr>
              <a:tr h="548640">
                <a:tc>
                  <a:txBody>
                    <a:bodyPr wrap="square"/>
                    <a:lstStyle/>
                    <a:p>
                      <a:pPr>
                        <a:lnSpc>
                          <a:spcPct val="95000"/>
                        </a:lnSpc>
                      </a:pPr>
                      <a:r>
                        <a:rPr sz="1000" b="1" i="0">
                          <a:solidFill>
                            <a:srgbClr val="1F3864"/>
                          </a:solidFill>
                          <a:latin typeface="Calibri"/>
                        </a:rPr>
                        <a:t>M6  Simulator &amp;
Evaluation</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Replays historical blocks slot by slot, runs the baselines, logs every metric and produces the comparison plots.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block history → metrics, plots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Gymnasium,
Matplotlib</a:t>
                      </a:r>
                    </a:p>
                  </a:txBody>
                  <a:tcPr marL="64008" marR="45720" marT="18288" marB="18288" anchor="ctr">
                    <a:solidFill>
                      <a:srgbClr val="F4F7FB"/>
                    </a:solidFill>
                  </a:tcPr>
                </a:tc>
              </a:tr>
              <a:tr h="548640">
                <a:tc>
                  <a:txBody>
                    <a:bodyPr wrap="square"/>
                    <a:lstStyle/>
                    <a:p>
                      <a:pPr>
                        <a:lnSpc>
                          <a:spcPct val="95000"/>
                        </a:lnSpc>
                      </a:pPr>
                      <a:r>
                        <a:rPr sz="1000" b="1" i="0">
                          <a:solidFill>
                            <a:srgbClr val="1F3864"/>
                          </a:solidFill>
                          <a:latin typeface="Calibri"/>
                        </a:rPr>
                        <a:t>M7  On-chain DEX
(demo)</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Minimal order validator and pool validator authorising our batcher as executor on preprod.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datum + redeemer → settled swap</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Aiken,
Plutus V3</a:t>
                      </a:r>
                    </a:p>
                  </a:txBody>
                  <a:tcPr marL="64008" marR="45720" marT="18288" marB="18288"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6</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Algorithms – Overview</a:t>
            </a:r>
          </a:p>
        </p:txBody>
      </p:sp>
      <p:sp>
        <p:nvSpPr>
          <p:cNvPr id="7" name="Rounded Rectangle 6"/>
          <p:cNvSpPr/>
          <p:nvPr/>
        </p:nvSpPr>
        <p:spPr>
          <a:xfrm>
            <a:off x="502920" y="1810512"/>
            <a:ext cx="5413248" cy="2103120"/>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09728" bIns="27432"/>
          <a:lstStyle/>
          <a:p>
            <a:pPr algn="ctr"/>
            <a:r>
              <a:rPr sz="1500" b="1" i="0">
                <a:solidFill>
                  <a:srgbClr val="1F3864"/>
                </a:solidFill>
                <a:latin typeface="Calibri"/>
              </a:rPr>
              <a:t>(a)  Existing – static rules</a:t>
            </a:r>
          </a:p>
          <a:p>
            <a:pPr>
              <a:lnSpc>
                <a:spcPct val="100000"/>
              </a:lnSpc>
              <a:spcBef>
                <a:spcPts val="600"/>
              </a:spcBef>
            </a:pPr>
            <a:r>
              <a:rPr sz="1250" b="1" i="0">
                <a:solidFill>
                  <a:srgbClr val="595959"/>
                </a:solidFill>
                <a:latin typeface="Calibri"/>
              </a:rPr>
              <a:t>•  </a:t>
            </a:r>
            <a:r>
              <a:rPr sz="1250" b="0" i="0">
                <a:solidFill>
                  <a:srgbClr val="222222"/>
                </a:solidFill>
                <a:latin typeface="Calibri"/>
              </a:rPr>
              <a:t>E1   Fixed-size batcher – submit when n orders have accumulated</a:t>
            </a:r>
          </a:p>
          <a:p>
            <a:pPr>
              <a:lnSpc>
                <a:spcPct val="100000"/>
              </a:lnSpc>
              <a:spcBef>
                <a:spcPts val="600"/>
              </a:spcBef>
            </a:pPr>
            <a:r>
              <a:rPr sz="1250" b="1" i="0">
                <a:solidFill>
                  <a:srgbClr val="595959"/>
                </a:solidFill>
                <a:latin typeface="Calibri"/>
              </a:rPr>
              <a:t>•  </a:t>
            </a:r>
            <a:r>
              <a:rPr sz="1250" b="0" i="0">
                <a:solidFill>
                  <a:srgbClr val="222222"/>
                </a:solidFill>
                <a:latin typeface="Calibri"/>
              </a:rPr>
              <a:t>E2   Fixed-interval batcher – submit every T seconds</a:t>
            </a:r>
          </a:p>
          <a:p>
            <a:pPr>
              <a:lnSpc>
                <a:spcPct val="100000"/>
              </a:lnSpc>
              <a:spcBef>
                <a:spcPts val="600"/>
              </a:spcBef>
            </a:pPr>
            <a:r>
              <a:rPr sz="1250" b="1" i="0">
                <a:solidFill>
                  <a:srgbClr val="595959"/>
                </a:solidFill>
                <a:latin typeface="Calibri"/>
              </a:rPr>
              <a:t>•  </a:t>
            </a:r>
            <a:r>
              <a:rPr sz="1250" b="0" i="0">
                <a:solidFill>
                  <a:srgbClr val="222222"/>
                </a:solidFill>
                <a:latin typeface="Calibri"/>
              </a:rPr>
              <a:t>E3   Greedy batcher – submit everything, every slot</a:t>
            </a:r>
          </a:p>
          <a:p>
            <a:pPr>
              <a:lnSpc>
                <a:spcPct val="100000"/>
              </a:lnSpc>
              <a:spcBef>
                <a:spcPts val="600"/>
              </a:spcBef>
            </a:pPr>
            <a:r>
              <a:rPr sz="1250" b="1" i="0">
                <a:solidFill>
                  <a:srgbClr val="595959"/>
                </a:solidFill>
                <a:latin typeface="Calibri"/>
              </a:rPr>
              <a:t>•  </a:t>
            </a:r>
            <a:r>
              <a:rPr sz="1250" b="0" i="0">
                <a:solidFill>
                  <a:srgbClr val="222222"/>
                </a:solidFill>
                <a:latin typeface="Calibri"/>
              </a:rPr>
              <a:t>E4   Moving-average congestion baseline (forecast reference)</a:t>
            </a:r>
          </a:p>
        </p:txBody>
      </p:sp>
      <p:sp>
        <p:nvSpPr>
          <p:cNvPr id="8" name="Rounded Rectangle 7"/>
          <p:cNvSpPr/>
          <p:nvPr/>
        </p:nvSpPr>
        <p:spPr>
          <a:xfrm>
            <a:off x="6272784" y="1810512"/>
            <a:ext cx="5413248" cy="2103120"/>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09728" bIns="27432"/>
          <a:lstStyle/>
          <a:p>
            <a:pPr algn="ctr"/>
            <a:r>
              <a:rPr sz="1500" b="1" i="0">
                <a:solidFill>
                  <a:srgbClr val="1F3864"/>
                </a:solidFill>
                <a:latin typeface="Calibri"/>
              </a:rPr>
              <a:t>(b)  Proposed – learned, congestion-aware</a:t>
            </a:r>
          </a:p>
          <a:p>
            <a:pPr>
              <a:lnSpc>
                <a:spcPct val="100000"/>
              </a:lnSpc>
              <a:spcBef>
                <a:spcPts val="600"/>
              </a:spcBef>
            </a:pPr>
            <a:r>
              <a:rPr sz="1250" b="1" i="0">
                <a:solidFill>
                  <a:srgbClr val="2E5395"/>
                </a:solidFill>
                <a:latin typeface="Calibri"/>
              </a:rPr>
              <a:t>•  </a:t>
            </a:r>
            <a:r>
              <a:rPr sz="1250" b="0" i="0">
                <a:solidFill>
                  <a:srgbClr val="222222"/>
                </a:solidFill>
                <a:latin typeface="Calibri"/>
              </a:rPr>
              <a:t>P1   Congestion forecaster – LightGBM baseline, LSTM extension</a:t>
            </a:r>
          </a:p>
          <a:p>
            <a:pPr>
              <a:lnSpc>
                <a:spcPct val="100000"/>
              </a:lnSpc>
              <a:spcBef>
                <a:spcPts val="600"/>
              </a:spcBef>
            </a:pPr>
            <a:r>
              <a:rPr sz="1250" b="1" i="0">
                <a:solidFill>
                  <a:srgbClr val="2E5395"/>
                </a:solidFill>
                <a:latin typeface="Calibri"/>
              </a:rPr>
              <a:t>•  </a:t>
            </a:r>
            <a:r>
              <a:rPr sz="1250" b="0" i="0">
                <a:solidFill>
                  <a:srgbClr val="222222"/>
                </a:solidFill>
                <a:latin typeface="Calibri"/>
              </a:rPr>
              <a:t>P2   Constrained batch optimizer – forecast-then-optimize</a:t>
            </a:r>
          </a:p>
          <a:p>
            <a:pPr>
              <a:lnSpc>
                <a:spcPct val="100000"/>
              </a:lnSpc>
              <a:spcBef>
                <a:spcPts val="600"/>
              </a:spcBef>
            </a:pPr>
            <a:r>
              <a:rPr sz="1250" b="1" i="0">
                <a:solidFill>
                  <a:srgbClr val="2E5395"/>
                </a:solidFill>
                <a:latin typeface="Calibri"/>
              </a:rPr>
              <a:t>•  </a:t>
            </a:r>
            <a:r>
              <a:rPr sz="1250" b="0" i="0">
                <a:solidFill>
                  <a:srgbClr val="222222"/>
                </a:solidFill>
                <a:latin typeface="Calibri"/>
              </a:rPr>
              <a:t>P3   RL adaptive batching agent – DQN, PPO variant</a:t>
            </a:r>
          </a:p>
          <a:p>
            <a:pPr>
              <a:lnSpc>
                <a:spcPct val="100000"/>
              </a:lnSpc>
              <a:spcBef>
                <a:spcPts val="600"/>
              </a:spcBef>
            </a:pPr>
            <a:r>
              <a:rPr sz="1250" b="1" i="0">
                <a:solidFill>
                  <a:srgbClr val="2E5395"/>
                </a:solidFill>
                <a:latin typeface="Calibri"/>
              </a:rPr>
              <a:t>•  </a:t>
            </a:r>
            <a:r>
              <a:rPr sz="1250" b="0" i="0">
                <a:solidFill>
                  <a:srgbClr val="222222"/>
                </a:solidFill>
                <a:latin typeface="Calibri"/>
              </a:rPr>
              <a:t>P1 feeds P2 and P3;  P2 is the explainable fallback for P3</a:t>
            </a:r>
          </a:p>
        </p:txBody>
      </p:sp>
      <p:sp>
        <p:nvSpPr>
          <p:cNvPr id="9" name="TextBox 8"/>
          <p:cNvSpPr txBox="1"/>
          <p:nvPr/>
        </p:nvSpPr>
        <p:spPr>
          <a:xfrm>
            <a:off x="502920" y="4078224"/>
            <a:ext cx="11183112" cy="256032"/>
          </a:xfrm>
          <a:prstGeom prst="rect">
            <a:avLst/>
          </a:prstGeom>
          <a:noFill/>
        </p:spPr>
        <p:txBody>
          <a:bodyPr wrap="square" lIns="0" rIns="0" tIns="0" bIns="0"/>
          <a:lstStyle/>
          <a:p>
            <a:pPr algn="l"/>
            <a:r>
              <a:rPr sz="1400" b="1" i="0">
                <a:solidFill>
                  <a:srgbClr val="1F3864"/>
                </a:solidFill>
                <a:latin typeface="Calibri"/>
              </a:rPr>
              <a:t>Notation used in all pseudocode</a:t>
            </a:r>
          </a:p>
        </p:txBody>
      </p:sp>
      <p:graphicFrame>
        <p:nvGraphicFramePr>
          <p:cNvPr id="10" name="Table 9"/>
          <p:cNvGraphicFramePr>
            <a:graphicFrameLocks noGrp="1"/>
          </p:cNvGraphicFramePr>
          <p:nvPr/>
        </p:nvGraphicFramePr>
        <p:xfrm>
          <a:off x="502920" y="4389120"/>
          <a:ext cx="11183112" cy="1591056"/>
        </p:xfrm>
        <a:graphic>
          <a:graphicData uri="http://schemas.openxmlformats.org/drawingml/2006/table">
            <a:tbl>
              <a:tblPr>
                <a:tableStyleId>{5C22544A-7EE6-4342-B048-85BDC9FD1C3A}</a:tableStyleId>
              </a:tblPr>
              <a:tblGrid>
                <a:gridCol w="1325880"/>
                <a:gridCol w="4297680"/>
                <a:gridCol w="1097280"/>
                <a:gridCol w="4462272"/>
              </a:tblGrid>
              <a:tr h="274320">
                <a:tc>
                  <a:txBody>
                    <a:bodyPr wrap="square"/>
                    <a:lstStyle/>
                    <a:p>
                      <a:pPr>
                        <a:lnSpc>
                          <a:spcPct val="95000"/>
                        </a:lnSpc>
                      </a:pPr>
                      <a:r>
                        <a:rPr sz="1050" b="1" i="0">
                          <a:solidFill>
                            <a:srgbClr val="FFFFFF"/>
                          </a:solidFill>
                          <a:latin typeface="Calibri"/>
                        </a:rPr>
                        <a:t>Symbol</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Meaning</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Symbol</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Meaning</a:t>
                      </a:r>
                    </a:p>
                  </a:txBody>
                  <a:tcPr marL="64008" marR="45720" marT="18288" marB="18288" anchor="ctr">
                    <a:solidFill>
                      <a:srgbClr val="1F3864"/>
                    </a:solidFill>
                  </a:tcPr>
                </a:tc>
              </a:tr>
              <a:tr h="329184">
                <a:tc>
                  <a:txBody>
                    <a:bodyPr wrap="square"/>
                    <a:lstStyle/>
                    <a:p>
                      <a:pPr>
                        <a:lnSpc>
                          <a:spcPct val="95000"/>
                        </a:lnSpc>
                      </a:pPr>
                      <a:r>
                        <a:rPr sz="1050" b="0" i="0">
                          <a:solidFill>
                            <a:srgbClr val="222222"/>
                          </a:solidFill>
                          <a:latin typeface="Calibri"/>
                        </a:rPr>
                        <a:t>Q</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queue of pending order UTXOs, sorted by waiting time</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S_max</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block body size limit = 90,112 bytes</a:t>
                      </a:r>
                    </a:p>
                  </a:txBody>
                  <a:tcPr marL="64008" marR="45720" marT="18288" marB="18288" anchor="ctr">
                    <a:solidFill>
                      <a:srgbClr val="FFFFFF"/>
                    </a:solidFill>
                  </a:tcPr>
                </a:tc>
              </a:tr>
              <a:tr h="329184">
                <a:tc>
                  <a:txBody>
                    <a:bodyPr wrap="square"/>
                    <a:lstStyle/>
                    <a:p>
                      <a:pPr>
                        <a:lnSpc>
                          <a:spcPct val="95000"/>
                        </a:lnSpc>
                      </a:pPr>
                      <a:r>
                        <a:rPr sz="1050" b="0" i="0">
                          <a:solidFill>
                            <a:srgbClr val="222222"/>
                          </a:solidFill>
                          <a:latin typeface="Calibri"/>
                        </a:rPr>
                        <a:t>f̂(t+1)</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predicted fill fraction of the next block</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E_max</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block ExUnit budget = 62 M mem / 20 G steps</a:t>
                      </a:r>
                    </a:p>
                  </a:txBody>
                  <a:tcPr marL="64008" marR="45720" marT="18288" marB="18288" anchor="ctr">
                    <a:solidFill>
                      <a:srgbClr val="F4F7FB"/>
                    </a:solidFill>
                  </a:tcPr>
                </a:tc>
              </a:tr>
              <a:tr h="329184">
                <a:tc>
                  <a:txBody>
                    <a:bodyPr wrap="square"/>
                    <a:lstStyle/>
                    <a:p>
                      <a:pPr>
                        <a:lnSpc>
                          <a:spcPct val="95000"/>
                        </a:lnSpc>
                      </a:pPr>
                      <a:r>
                        <a:rPr sz="1050" b="0" i="0">
                          <a:solidFill>
                            <a:srgbClr val="222222"/>
                          </a:solidFill>
                          <a:latin typeface="Calibri"/>
                        </a:rPr>
                        <a:t>n</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number of orders placed in the batch</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D_max</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maximum tolerated waiting time (starvation guard)</a:t>
                      </a:r>
                    </a:p>
                  </a:txBody>
                  <a:tcPr marL="64008" marR="45720" marT="18288" marB="18288" anchor="ctr">
                    <a:solidFill>
                      <a:srgbClr val="FFFFFF"/>
                    </a:solidFill>
                  </a:tcPr>
                </a:tc>
              </a:tr>
              <a:tr h="329184">
                <a:tc>
                  <a:txBody>
                    <a:bodyPr wrap="square"/>
                    <a:lstStyle/>
                    <a:p>
                      <a:pPr>
                        <a:lnSpc>
                          <a:spcPct val="95000"/>
                        </a:lnSpc>
                      </a:pPr>
                      <a:r>
                        <a:rPr sz="1050" b="0" i="0">
                          <a:solidFill>
                            <a:srgbClr val="222222"/>
                          </a:solidFill>
                          <a:latin typeface="Calibri"/>
                        </a:rPr>
                        <a:t>size(o) / ex(o)</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bytes and ExUnits order o adds to the batch tx</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γ</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RL discount factor</a:t>
                      </a:r>
                    </a:p>
                  </a:txBody>
                  <a:tcPr marL="64008" marR="45720" marT="18288" marB="18288" anchor="ctr">
                    <a:solidFill>
                      <a:srgbClr val="F4F7FB"/>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7</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(a)  Existing Algorithms – Static Batching</a:t>
            </a:r>
          </a:p>
        </p:txBody>
      </p:sp>
      <p:sp>
        <p:nvSpPr>
          <p:cNvPr id="7" name="TextBox 6"/>
          <p:cNvSpPr txBox="1"/>
          <p:nvPr/>
        </p:nvSpPr>
        <p:spPr>
          <a:xfrm>
            <a:off x="502920" y="1700784"/>
            <a:ext cx="11183112" cy="219456"/>
          </a:xfrm>
          <a:prstGeom prst="rect">
            <a:avLst/>
          </a:prstGeom>
          <a:noFill/>
        </p:spPr>
        <p:txBody>
          <a:bodyPr wrap="square" lIns="0" rIns="0" tIns="0" bIns="0"/>
          <a:lstStyle/>
          <a:p>
            <a:pPr algn="l"/>
            <a:r>
              <a:rPr sz="1150" b="0" i="0">
                <a:solidFill>
                  <a:srgbClr val="595959"/>
                </a:solidFill>
                <a:latin typeface="Calibri"/>
              </a:rPr>
              <a:t>What deployed Cardano DEX batchers do today. None of them reads the state of the chain before deciding.</a:t>
            </a:r>
          </a:p>
        </p:txBody>
      </p:sp>
      <p:sp>
        <p:nvSpPr>
          <p:cNvPr id="8" name="Rounded Rectangle 7"/>
          <p:cNvSpPr/>
          <p:nvPr/>
        </p:nvSpPr>
        <p:spPr>
          <a:xfrm>
            <a:off x="502920" y="1993392"/>
            <a:ext cx="3569208" cy="1847088"/>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E1   Fixed-size batcher</a:t>
            </a:r>
          </a:p>
          <a:p>
            <a:pPr>
              <a:lnSpc>
                <a:spcPct val="100000"/>
              </a:lnSpc>
              <a:spcAft>
                <a:spcPts val="0"/>
              </a:spcAft>
            </a:pPr>
            <a:r>
              <a:rPr sz="1000" b="0" i="0">
                <a:solidFill>
                  <a:srgbClr val="222222"/>
                </a:solidFill>
                <a:latin typeface="Consolas"/>
              </a:rPr>
              <a:t>loop every block slot:</a:t>
            </a:r>
          </a:p>
          <a:p>
            <a:pPr>
              <a:lnSpc>
                <a:spcPct val="100000"/>
              </a:lnSpc>
              <a:spcAft>
                <a:spcPts val="0"/>
              </a:spcAft>
            </a:pPr>
            <a:r>
              <a:rPr sz="1000" b="0" i="0">
                <a:solidFill>
                  <a:srgbClr val="222222"/>
                </a:solidFill>
                <a:latin typeface="Consolas"/>
              </a:rPr>
              <a:t>    Q &lt;- pending order UTXOs</a:t>
            </a:r>
          </a:p>
          <a:p>
            <a:pPr>
              <a:lnSpc>
                <a:spcPct val="100000"/>
              </a:lnSpc>
              <a:spcAft>
                <a:spcPts val="0"/>
              </a:spcAft>
            </a:pPr>
            <a:r>
              <a:rPr sz="1000" b="0" i="0">
                <a:solidFill>
                  <a:srgbClr val="222222"/>
                </a:solidFill>
                <a:latin typeface="Consolas"/>
              </a:rPr>
              <a:t>    if |Q| &gt;= M:        # M fixed</a:t>
            </a:r>
          </a:p>
          <a:p>
            <a:pPr>
              <a:lnSpc>
                <a:spcPct val="100000"/>
              </a:lnSpc>
              <a:spcAft>
                <a:spcPts val="0"/>
              </a:spcAft>
            </a:pPr>
            <a:r>
              <a:rPr sz="1000" b="0" i="0">
                <a:solidFill>
                  <a:srgbClr val="222222"/>
                </a:solidFill>
                <a:latin typeface="Consolas"/>
              </a:rPr>
              <a:t>        submit(Q[0 : M])</a:t>
            </a:r>
          </a:p>
          <a:p>
            <a:pPr>
              <a:lnSpc>
                <a:spcPct val="100000"/>
              </a:lnSpc>
              <a:spcAft>
                <a:spcPts val="0"/>
              </a:spcAft>
            </a:pPr>
            <a:r>
              <a:rPr sz="1000" b="0" i="0">
                <a:solidFill>
                  <a:srgbClr val="222222"/>
                </a:solidFill>
                <a:latin typeface="Consolas"/>
              </a:rPr>
              <a:t> </a:t>
            </a:r>
          </a:p>
          <a:p>
            <a:pPr>
              <a:lnSpc>
                <a:spcPct val="100000"/>
              </a:lnSpc>
              <a:spcAft>
                <a:spcPts val="0"/>
              </a:spcAft>
            </a:pPr>
            <a:r>
              <a:rPr sz="1000" b="0" i="1">
                <a:solidFill>
                  <a:srgbClr val="595959"/>
                </a:solidFill>
                <a:latin typeface="Consolas"/>
              </a:rPr>
              <a:t># M is a constant chosen once</a:t>
            </a:r>
          </a:p>
          <a:p>
            <a:pPr>
              <a:lnSpc>
                <a:spcPct val="100000"/>
              </a:lnSpc>
              <a:spcAft>
                <a:spcPts val="0"/>
              </a:spcAft>
            </a:pPr>
            <a:r>
              <a:rPr sz="1000" b="0" i="1">
                <a:solidFill>
                  <a:srgbClr val="595959"/>
                </a:solidFill>
                <a:latin typeface="Consolas"/>
              </a:rPr>
              <a:t># (typically 15-25 orders)</a:t>
            </a:r>
          </a:p>
        </p:txBody>
      </p:sp>
      <p:sp>
        <p:nvSpPr>
          <p:cNvPr id="9" name="Rounded Rectangle 8"/>
          <p:cNvSpPr/>
          <p:nvPr/>
        </p:nvSpPr>
        <p:spPr>
          <a:xfrm>
            <a:off x="4309872" y="1993392"/>
            <a:ext cx="3569208" cy="1847088"/>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E2   Fixed-interval batcher</a:t>
            </a:r>
          </a:p>
          <a:p>
            <a:pPr>
              <a:lnSpc>
                <a:spcPct val="100000"/>
              </a:lnSpc>
              <a:spcAft>
                <a:spcPts val="0"/>
              </a:spcAft>
            </a:pPr>
            <a:r>
              <a:rPr sz="1000" b="0" i="0">
                <a:solidFill>
                  <a:srgbClr val="222222"/>
                </a:solidFill>
                <a:latin typeface="Consolas"/>
              </a:rPr>
              <a:t>loop every block slot:</a:t>
            </a:r>
          </a:p>
          <a:p>
            <a:pPr>
              <a:lnSpc>
                <a:spcPct val="100000"/>
              </a:lnSpc>
              <a:spcAft>
                <a:spcPts val="0"/>
              </a:spcAft>
            </a:pPr>
            <a:r>
              <a:rPr sz="1000" b="0" i="0">
                <a:solidFill>
                  <a:srgbClr val="222222"/>
                </a:solidFill>
                <a:latin typeface="Consolas"/>
              </a:rPr>
              <a:t>    if now - t_last &gt;= T:</a:t>
            </a:r>
          </a:p>
          <a:p>
            <a:pPr>
              <a:lnSpc>
                <a:spcPct val="100000"/>
              </a:lnSpc>
              <a:spcAft>
                <a:spcPts val="0"/>
              </a:spcAft>
            </a:pPr>
            <a:r>
              <a:rPr sz="1000" b="0" i="0">
                <a:solidFill>
                  <a:srgbClr val="222222"/>
                </a:solidFill>
                <a:latin typeface="Consolas"/>
              </a:rPr>
              <a:t>        submit(Q)       # all waiting</a:t>
            </a:r>
          </a:p>
          <a:p>
            <a:pPr>
              <a:lnSpc>
                <a:spcPct val="100000"/>
              </a:lnSpc>
              <a:spcAft>
                <a:spcPts val="0"/>
              </a:spcAft>
            </a:pPr>
            <a:r>
              <a:rPr sz="1000" b="0" i="0">
                <a:solidFill>
                  <a:srgbClr val="222222"/>
                </a:solidFill>
                <a:latin typeface="Consolas"/>
              </a:rPr>
              <a:t>        t_last &lt;- now</a:t>
            </a:r>
          </a:p>
          <a:p>
            <a:pPr>
              <a:lnSpc>
                <a:spcPct val="100000"/>
              </a:lnSpc>
              <a:spcAft>
                <a:spcPts val="0"/>
              </a:spcAft>
            </a:pPr>
            <a:r>
              <a:rPr sz="1000" b="0" i="0">
                <a:solidFill>
                  <a:srgbClr val="222222"/>
                </a:solidFill>
                <a:latin typeface="Consolas"/>
              </a:rPr>
              <a:t> </a:t>
            </a:r>
          </a:p>
          <a:p>
            <a:pPr>
              <a:lnSpc>
                <a:spcPct val="100000"/>
              </a:lnSpc>
              <a:spcAft>
                <a:spcPts val="0"/>
              </a:spcAft>
            </a:pPr>
            <a:r>
              <a:rPr sz="1000" b="0" i="1">
                <a:solidFill>
                  <a:srgbClr val="595959"/>
                </a:solidFill>
                <a:latin typeface="Consolas"/>
              </a:rPr>
              <a:t># T is a constant wall-clock</a:t>
            </a:r>
          </a:p>
          <a:p>
            <a:pPr>
              <a:lnSpc>
                <a:spcPct val="100000"/>
              </a:lnSpc>
              <a:spcAft>
                <a:spcPts val="0"/>
              </a:spcAft>
            </a:pPr>
            <a:r>
              <a:rPr sz="1000" b="0" i="1">
                <a:solidFill>
                  <a:srgbClr val="595959"/>
                </a:solidFill>
                <a:latin typeface="Consolas"/>
              </a:rPr>
              <a:t># timer (typically 20-60 s)</a:t>
            </a:r>
          </a:p>
        </p:txBody>
      </p:sp>
      <p:sp>
        <p:nvSpPr>
          <p:cNvPr id="10" name="Rounded Rectangle 9"/>
          <p:cNvSpPr/>
          <p:nvPr/>
        </p:nvSpPr>
        <p:spPr>
          <a:xfrm>
            <a:off x="8116824" y="1993392"/>
            <a:ext cx="3569208" cy="1847088"/>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E3   Greedy batcher</a:t>
            </a:r>
          </a:p>
          <a:p>
            <a:pPr>
              <a:lnSpc>
                <a:spcPct val="100000"/>
              </a:lnSpc>
              <a:spcAft>
                <a:spcPts val="0"/>
              </a:spcAft>
            </a:pPr>
            <a:r>
              <a:rPr sz="1000" b="0" i="0">
                <a:solidFill>
                  <a:srgbClr val="222222"/>
                </a:solidFill>
                <a:latin typeface="Consolas"/>
              </a:rPr>
              <a:t>loop every block slot:</a:t>
            </a:r>
          </a:p>
          <a:p>
            <a:pPr>
              <a:lnSpc>
                <a:spcPct val="100000"/>
              </a:lnSpc>
              <a:spcAft>
                <a:spcPts val="0"/>
              </a:spcAft>
            </a:pPr>
            <a:r>
              <a:rPr sz="1000" b="0" i="0">
                <a:solidFill>
                  <a:srgbClr val="222222"/>
                </a:solidFill>
                <a:latin typeface="Consolas"/>
              </a:rPr>
              <a:t>    if |Q| &gt; 0:</a:t>
            </a:r>
          </a:p>
          <a:p>
            <a:pPr>
              <a:lnSpc>
                <a:spcPct val="100000"/>
              </a:lnSpc>
              <a:spcAft>
                <a:spcPts val="0"/>
              </a:spcAft>
            </a:pPr>
            <a:r>
              <a:rPr sz="1000" b="0" i="0">
                <a:solidFill>
                  <a:srgbClr val="222222"/>
                </a:solidFill>
                <a:latin typeface="Consolas"/>
              </a:rPr>
              <a:t>        submit(Q)       # everything</a:t>
            </a:r>
          </a:p>
          <a:p>
            <a:pPr>
              <a:lnSpc>
                <a:spcPct val="100000"/>
              </a:lnSpc>
              <a:spcAft>
                <a:spcPts val="0"/>
              </a:spcAft>
            </a:pPr>
            <a:r>
              <a:rPr sz="1000" b="0" i="0">
                <a:solidFill>
                  <a:srgbClr val="222222"/>
                </a:solidFill>
                <a:latin typeface="Consolas"/>
              </a:rPr>
              <a:t> </a:t>
            </a:r>
          </a:p>
          <a:p>
            <a:pPr>
              <a:lnSpc>
                <a:spcPct val="100000"/>
              </a:lnSpc>
              <a:spcAft>
                <a:spcPts val="0"/>
              </a:spcAft>
            </a:pPr>
            <a:r>
              <a:rPr sz="1000" b="0" i="1">
                <a:solidFill>
                  <a:srgbClr val="595959"/>
                </a:solidFill>
                <a:latin typeface="Consolas"/>
              </a:rPr>
              <a:t># no batching discipline at all;</a:t>
            </a:r>
          </a:p>
          <a:p>
            <a:pPr>
              <a:lnSpc>
                <a:spcPct val="100000"/>
              </a:lnSpc>
              <a:spcAft>
                <a:spcPts val="0"/>
              </a:spcAft>
            </a:pPr>
            <a:r>
              <a:rPr sz="1000" b="0" i="1">
                <a:solidFill>
                  <a:srgbClr val="595959"/>
                </a:solidFill>
                <a:latin typeface="Consolas"/>
              </a:rPr>
              <a:t># common in naive / low-volume</a:t>
            </a:r>
          </a:p>
          <a:p>
            <a:pPr>
              <a:lnSpc>
                <a:spcPct val="100000"/>
              </a:lnSpc>
              <a:spcAft>
                <a:spcPts val="0"/>
              </a:spcAft>
            </a:pPr>
            <a:r>
              <a:rPr sz="1000" b="0" i="1">
                <a:solidFill>
                  <a:srgbClr val="595959"/>
                </a:solidFill>
                <a:latin typeface="Consolas"/>
              </a:rPr>
              <a:t># implementations</a:t>
            </a:r>
          </a:p>
        </p:txBody>
      </p:sp>
      <p:sp>
        <p:nvSpPr>
          <p:cNvPr id="11" name="Rounded Rectangle 10"/>
          <p:cNvSpPr/>
          <p:nvPr/>
        </p:nvSpPr>
        <p:spPr>
          <a:xfrm>
            <a:off x="502920" y="4023360"/>
            <a:ext cx="5413248" cy="1481328"/>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E4   Moving-average congestion baseline</a:t>
            </a:r>
          </a:p>
          <a:p>
            <a:pPr>
              <a:lnSpc>
                <a:spcPct val="100000"/>
              </a:lnSpc>
              <a:spcAft>
                <a:spcPts val="0"/>
              </a:spcAft>
            </a:pPr>
            <a:r>
              <a:rPr sz="1050" b="0" i="0">
                <a:solidFill>
                  <a:srgbClr val="222222"/>
                </a:solidFill>
                <a:latin typeface="Consolas"/>
              </a:rPr>
              <a:t>f_hat(t+1) = mean( fill(t-k+1) ... fill(t) )</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the reference our forecaster must beat.</a:t>
            </a:r>
          </a:p>
          <a:p>
            <a:pPr>
              <a:lnSpc>
                <a:spcPct val="100000"/>
              </a:lnSpc>
              <a:spcAft>
                <a:spcPts val="0"/>
              </a:spcAft>
            </a:pPr>
            <a:r>
              <a:rPr sz="1050" b="0" i="1">
                <a:solidFill>
                  <a:srgbClr val="595959"/>
                </a:solidFill>
                <a:latin typeface="Consolas"/>
              </a:rPr>
              <a:t># It is only a predictor - no existing batcher</a:t>
            </a:r>
          </a:p>
          <a:p>
            <a:pPr>
              <a:lnSpc>
                <a:spcPct val="100000"/>
              </a:lnSpc>
              <a:spcAft>
                <a:spcPts val="0"/>
              </a:spcAft>
            </a:pPr>
            <a:r>
              <a:rPr sz="1050" b="0" i="1">
                <a:solidFill>
                  <a:srgbClr val="595959"/>
                </a:solidFill>
                <a:latin typeface="Consolas"/>
              </a:rPr>
              <a:t># actually feeds it into the batching decision.</a:t>
            </a:r>
          </a:p>
        </p:txBody>
      </p:sp>
      <p:sp>
        <p:nvSpPr>
          <p:cNvPr id="12" name="Rounded Rectangle 11"/>
          <p:cNvSpPr/>
          <p:nvPr/>
        </p:nvSpPr>
        <p:spPr>
          <a:xfrm>
            <a:off x="6272784" y="4023360"/>
            <a:ext cx="5413248" cy="1481328"/>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09728" bIns="27432"/>
          <a:lstStyle/>
          <a:p>
            <a:pPr algn="ctr"/>
            <a:r>
              <a:rPr sz="1300" b="1" i="0">
                <a:solidFill>
                  <a:srgbClr val="1F3864"/>
                </a:solidFill>
                <a:latin typeface="Calibri"/>
              </a:rPr>
              <a:t>What every one of them has in common</a:t>
            </a:r>
          </a:p>
          <a:p>
            <a:pPr>
              <a:lnSpc>
                <a:spcPct val="100000"/>
              </a:lnSpc>
              <a:spcBef>
                <a:spcPts val="500"/>
              </a:spcBef>
            </a:pPr>
            <a:r>
              <a:rPr sz="1150" b="1" i="0">
                <a:solidFill>
                  <a:srgbClr val="595959"/>
                </a:solidFill>
                <a:latin typeface="Calibri"/>
              </a:rPr>
              <a:t>–  </a:t>
            </a:r>
            <a:r>
              <a:rPr sz="1150" b="0" i="0">
                <a:solidFill>
                  <a:srgbClr val="222222"/>
                </a:solidFill>
                <a:latin typeface="Calibri"/>
              </a:rPr>
              <a:t>The trigger is a constant, decided before deployment.</a:t>
            </a:r>
          </a:p>
          <a:p>
            <a:pPr>
              <a:lnSpc>
                <a:spcPct val="100000"/>
              </a:lnSpc>
              <a:spcBef>
                <a:spcPts val="500"/>
              </a:spcBef>
            </a:pPr>
            <a:r>
              <a:rPr sz="1150" b="1" i="0">
                <a:solidFill>
                  <a:srgbClr val="595959"/>
                </a:solidFill>
                <a:latin typeface="Calibri"/>
              </a:rPr>
              <a:t>–  </a:t>
            </a:r>
            <a:r>
              <a:rPr sz="1150" b="0" i="0">
                <a:solidFill>
                  <a:srgbClr val="222222"/>
                </a:solidFill>
                <a:latin typeface="Calibri"/>
              </a:rPr>
              <a:t>Block fill %, ExUnit headroom and queue age are never read.</a:t>
            </a:r>
          </a:p>
          <a:p>
            <a:pPr>
              <a:lnSpc>
                <a:spcPct val="100000"/>
              </a:lnSpc>
              <a:spcBef>
                <a:spcPts val="500"/>
              </a:spcBef>
            </a:pPr>
            <a:r>
              <a:rPr sz="1150" b="1" i="0">
                <a:solidFill>
                  <a:srgbClr val="595959"/>
                </a:solidFill>
                <a:latin typeface="Calibri"/>
              </a:rPr>
              <a:t>–  </a:t>
            </a:r>
            <a:r>
              <a:rPr sz="1150" b="0" i="0">
                <a:solidFill>
                  <a:srgbClr val="222222"/>
                </a:solidFill>
                <a:latin typeface="Calibri"/>
              </a:rPr>
              <a:t>Capacity is checked (if at all) only after the batch is built.</a:t>
            </a:r>
          </a:p>
          <a:p>
            <a:pPr>
              <a:lnSpc>
                <a:spcPct val="100000"/>
              </a:lnSpc>
              <a:spcBef>
                <a:spcPts val="500"/>
              </a:spcBef>
            </a:pPr>
            <a:r>
              <a:rPr sz="1150" b="1" i="0">
                <a:solidFill>
                  <a:srgbClr val="595959"/>
                </a:solidFill>
                <a:latin typeface="Calibri"/>
              </a:rPr>
              <a:t>–  </a:t>
            </a:r>
            <a:r>
              <a:rPr sz="1150" b="0" i="0">
                <a:solidFill>
                  <a:srgbClr val="222222"/>
                </a:solidFill>
                <a:latin typeface="Calibri"/>
              </a:rPr>
              <a:t>A batch that does not fit simply bounces and is resubmitted.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8</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(a)  Limitations of the Existing Algorithms</a:t>
            </a:r>
          </a:p>
        </p:txBody>
      </p:sp>
      <p:graphicFrame>
        <p:nvGraphicFramePr>
          <p:cNvPr id="7" name="Table 6"/>
          <p:cNvGraphicFramePr>
            <a:graphicFrameLocks noGrp="1"/>
          </p:cNvGraphicFramePr>
          <p:nvPr/>
        </p:nvGraphicFramePr>
        <p:xfrm>
          <a:off x="502920" y="1755648"/>
          <a:ext cx="11183112" cy="4370832"/>
        </p:xfrm>
        <a:graphic>
          <a:graphicData uri="http://schemas.openxmlformats.org/drawingml/2006/table">
            <a:tbl>
              <a:tblPr>
                <a:tableStyleId>{5C22544A-7EE6-4342-B048-85BDC9FD1C3A}</a:tableStyleId>
              </a:tblPr>
              <a:tblGrid>
                <a:gridCol w="2103120"/>
                <a:gridCol w="2834640"/>
                <a:gridCol w="4142232"/>
                <a:gridCol w="2103120"/>
              </a:tblGrid>
              <a:tr h="310896">
                <a:tc>
                  <a:txBody>
                    <a:bodyPr wrap="square"/>
                    <a:lstStyle/>
                    <a:p>
                      <a:pPr>
                        <a:lnSpc>
                          <a:spcPct val="95000"/>
                        </a:lnSpc>
                      </a:pPr>
                      <a:r>
                        <a:rPr sz="1100" b="1" i="0">
                          <a:solidFill>
                            <a:srgbClr val="FFFFFF"/>
                          </a:solidFill>
                          <a:latin typeface="Calibri"/>
                        </a:rPr>
                        <a:t>Failure mode</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When it happens</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Consequence on Cardano</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Metric it damages</a:t>
                      </a:r>
                    </a:p>
                  </a:txBody>
                  <a:tcPr marL="64008" marR="45720" marT="18288" marB="18288" anchor="ctr">
                    <a:solidFill>
                      <a:srgbClr val="1F3864"/>
                    </a:solidFill>
                  </a:tcPr>
                </a:tc>
              </a:tr>
              <a:tr h="676656">
                <a:tc>
                  <a:txBody>
                    <a:bodyPr wrap="square"/>
                    <a:lstStyle/>
                    <a:p>
                      <a:pPr>
                        <a:lnSpc>
                          <a:spcPct val="95000"/>
                        </a:lnSpc>
                      </a:pPr>
                      <a:r>
                        <a:rPr sz="1000" b="1" i="0">
                          <a:solidFill>
                            <a:srgbClr val="1F3864"/>
                          </a:solidFill>
                          <a:latin typeface="Calibri"/>
                        </a:rPr>
                        <a:t>Oversized batch into a full block</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Batch is triggered by count / timer while the next block is already 80-90% full</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Transaction does not fit, is bumped to a later block or fails validation and must be resubmitted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Confirmation latency,
inclusion-failure rate</a:t>
                      </a:r>
                    </a:p>
                  </a:txBody>
                  <a:tcPr marL="64008" marR="45720" marT="18288" marB="18288" anchor="ctr">
                    <a:solidFill>
                      <a:srgbClr val="FFFFFF"/>
                    </a:solidFill>
                  </a:tcPr>
                </a:tc>
              </a:tr>
              <a:tr h="676656">
                <a:tc>
                  <a:txBody>
                    <a:bodyPr wrap="square"/>
                    <a:lstStyle/>
                    <a:p>
                      <a:pPr>
                        <a:lnSpc>
                          <a:spcPct val="95000"/>
                        </a:lnSpc>
                      </a:pPr>
                      <a:r>
                        <a:rPr sz="1000" b="1" i="0">
                          <a:solidFill>
                            <a:srgbClr val="1F3864"/>
                          </a:solidFill>
                          <a:latin typeface="Calibri"/>
                        </a:rPr>
                        <a:t>Undersized batch in a quiet window</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Timer fires while only 2-3 orders are waiting and the network is idle</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The fixed per-transaction cost is amortised across very few users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Per-user cost</a:t>
                      </a:r>
                    </a:p>
                  </a:txBody>
                  <a:tcPr marL="64008" marR="45720" marT="18288" marB="18288" anchor="ctr">
                    <a:solidFill>
                      <a:srgbClr val="F4F7FB"/>
                    </a:solidFill>
                  </a:tcPr>
                </a:tc>
              </a:tr>
              <a:tr h="676656">
                <a:tc>
                  <a:txBody>
                    <a:bodyPr wrap="square"/>
                    <a:lstStyle/>
                    <a:p>
                      <a:pPr>
                        <a:lnSpc>
                          <a:spcPct val="95000"/>
                        </a:lnSpc>
                      </a:pPr>
                      <a:r>
                        <a:rPr sz="1000" b="1" i="0">
                          <a:solidFill>
                            <a:srgbClr val="1F3864"/>
                          </a:solidFill>
                          <a:latin typeface="Calibri"/>
                        </a:rPr>
                        <a:t>No congestion signal at all</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Always – the rule never reads block fill % or ExUnit usage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The batcher cannot back off before a burst or push harder into a predicted quiet window</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Latency, throughput</a:t>
                      </a:r>
                    </a:p>
                  </a:txBody>
                  <a:tcPr marL="64008" marR="45720" marT="18288" marB="18288" anchor="ctr">
                    <a:solidFill>
                      <a:srgbClr val="FFFFFF"/>
                    </a:solidFill>
                  </a:tcPr>
                </a:tc>
              </a:tr>
              <a:tr h="676656">
                <a:tc>
                  <a:txBody>
                    <a:bodyPr wrap="square"/>
                    <a:lstStyle/>
                    <a:p>
                      <a:pPr>
                        <a:lnSpc>
                          <a:spcPct val="95000"/>
                        </a:lnSpc>
                      </a:pPr>
                      <a:r>
                        <a:rPr sz="1000" b="1" i="0">
                          <a:solidFill>
                            <a:srgbClr val="1F3864"/>
                          </a:solidFill>
                          <a:latin typeface="Calibri"/>
                        </a:rPr>
                        <a:t>ExUnit budget ignored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Script-heavy batches that are small in bytes but expensive in Plutus execution</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 batch under the size limit still exceeds the block execution budget and bounces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Inclusion-failure rate</a:t>
                      </a:r>
                    </a:p>
                  </a:txBody>
                  <a:tcPr marL="64008" marR="45720" marT="18288" marB="18288" anchor="ctr">
                    <a:solidFill>
                      <a:srgbClr val="F4F7FB"/>
                    </a:solidFill>
                  </a:tcPr>
                </a:tc>
              </a:tr>
              <a:tr h="676656">
                <a:tc>
                  <a:txBody>
                    <a:bodyPr wrap="square"/>
                    <a:lstStyle/>
                    <a:p>
                      <a:pPr>
                        <a:lnSpc>
                          <a:spcPct val="95000"/>
                        </a:lnSpc>
                      </a:pPr>
                      <a:r>
                        <a:rPr sz="1000" b="1" i="0">
                          <a:solidFill>
                            <a:srgbClr val="1F3864"/>
                          </a:solidFill>
                          <a:latin typeface="Calibri"/>
                        </a:rPr>
                        <a:t>Order starvation</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Under a pure size rule when arrivals slow down</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An early order can wait indefinitely for the count to be reached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Fairness (variance in
waiting time)</a:t>
                      </a:r>
                    </a:p>
                  </a:txBody>
                  <a:tcPr marL="64008" marR="45720" marT="18288" marB="18288" anchor="ctr">
                    <a:solidFill>
                      <a:srgbClr val="FFFFFF"/>
                    </a:solidFill>
                  </a:tcPr>
                </a:tc>
              </a:tr>
              <a:tr h="676656">
                <a:tc>
                  <a:txBody>
                    <a:bodyPr wrap="square"/>
                    <a:lstStyle/>
                    <a:p>
                      <a:pPr>
                        <a:lnSpc>
                          <a:spcPct val="95000"/>
                        </a:lnSpc>
                      </a:pPr>
                      <a:r>
                        <a:rPr sz="1000" b="1" i="0">
                          <a:solidFill>
                            <a:srgbClr val="1F3864"/>
                          </a:solidFill>
                          <a:latin typeface="Calibri"/>
                        </a:rPr>
                        <a:t>No feedback from outcomes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Always – the rule is open-loop</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 bounced batch teaches the batcher nothing; the same mistake repeats every burst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All of the above</a:t>
                      </a:r>
                    </a:p>
                  </a:txBody>
                  <a:tcPr marL="64008" marR="45720" marT="18288" marB="18288" anchor="ctr">
                    <a:solidFill>
                      <a:srgbClr val="F4F7F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9</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(b)  Proposed Algorithm 1 – Congestion Forecaster</a:t>
            </a:r>
          </a:p>
        </p:txBody>
      </p:sp>
      <p:sp>
        <p:nvSpPr>
          <p:cNvPr id="7" name="Rounded Rectangle 6"/>
          <p:cNvSpPr/>
          <p:nvPr/>
        </p:nvSpPr>
        <p:spPr>
          <a:xfrm>
            <a:off x="502920" y="1755648"/>
            <a:ext cx="6903720" cy="3913632"/>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P1   Next-block congestion prediction</a:t>
            </a:r>
          </a:p>
          <a:p>
            <a:pPr>
              <a:lnSpc>
                <a:spcPct val="100000"/>
              </a:lnSpc>
              <a:spcAft>
                <a:spcPts val="0"/>
              </a:spcAft>
            </a:pPr>
            <a:r>
              <a:rPr sz="1050" b="0" i="0">
                <a:solidFill>
                  <a:srgbClr val="222222"/>
                </a:solidFill>
                <a:latin typeface="Consolas"/>
              </a:rPr>
              <a:t>Input : B = last k blocks (fill%, mem ExU, step ExU, tx_count),</a:t>
            </a:r>
          </a:p>
          <a:p>
            <a:pPr>
              <a:lnSpc>
                <a:spcPct val="100000"/>
              </a:lnSpc>
              <a:spcAft>
                <a:spcPts val="0"/>
              </a:spcAft>
            </a:pPr>
            <a:r>
              <a:rPr sz="1050" b="0" i="0">
                <a:solidFill>
                  <a:srgbClr val="222222"/>
                </a:solidFill>
                <a:latin typeface="Consolas"/>
              </a:rPr>
              <a:t>        queue state |Q|, wall clock</a:t>
            </a:r>
          </a:p>
          <a:p>
            <a:pPr>
              <a:lnSpc>
                <a:spcPct val="100000"/>
              </a:lnSpc>
              <a:spcAft>
                <a:spcPts val="0"/>
              </a:spcAft>
            </a:pPr>
            <a:r>
              <a:rPr sz="1050" b="0" i="0">
                <a:solidFill>
                  <a:srgbClr val="222222"/>
                </a:solidFill>
                <a:latin typeface="Consolas"/>
              </a:rPr>
              <a:t>Output: f_hat(t+1 .. t+h)   predicted fill fraction, h-step horizon</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1. feature vector for slot t</a:t>
            </a:r>
          </a:p>
          <a:p>
            <a:pPr>
              <a:lnSpc>
                <a:spcPct val="100000"/>
              </a:lnSpc>
              <a:spcAft>
                <a:spcPts val="0"/>
              </a:spcAft>
            </a:pPr>
            <a:r>
              <a:rPr sz="1050" b="0" i="0">
                <a:solidFill>
                  <a:srgbClr val="222222"/>
                </a:solidFill>
                <a:latin typeface="Consolas"/>
              </a:rPr>
              <a:t>x_t &lt;- [ fill(t-1 .. t-k),  mem(t-1 .. t-k),  step(t-1 .. t-k),</a:t>
            </a:r>
          </a:p>
          <a:p>
            <a:pPr>
              <a:lnSpc>
                <a:spcPct val="100000"/>
              </a:lnSpc>
              <a:spcAft>
                <a:spcPts val="0"/>
              </a:spcAft>
            </a:pPr>
            <a:r>
              <a:rPr sz="1050" b="0" i="0">
                <a:solidFill>
                  <a:srgbClr val="222222"/>
                </a:solidFill>
                <a:latin typeface="Consolas"/>
              </a:rPr>
              <a:t>         arrival_rate(t),   |Q|,   hour_of_day,  day_of_week ]</a:t>
            </a:r>
          </a:p>
          <a:p>
            <a:pPr>
              <a:lnSpc>
                <a:spcPct val="100000"/>
              </a:lnSpc>
              <a:spcAft>
                <a:spcPts val="0"/>
              </a:spcAft>
            </a:pPr>
            <a:r>
              <a:rPr sz="1050" b="0" i="0">
                <a:solidFill>
                  <a:srgbClr val="222222"/>
                </a:solidFill>
                <a:latin typeface="Consolas"/>
              </a:rPr>
              <a:t>     (+) rolling mean and std of fill over w in {3, 10, 30}</a:t>
            </a:r>
          </a:p>
          <a:p>
            <a:pPr>
              <a:lnSpc>
                <a:spcPct val="100000"/>
              </a:lnSpc>
              <a:spcAft>
                <a:spcPts val="0"/>
              </a:spcAft>
            </a:pPr>
            <a:r>
              <a:rPr sz="1050" b="0" i="0">
                <a:solidFill>
                  <a:srgbClr val="222222"/>
                </a:solidFill>
                <a:latin typeface="Consolas"/>
              </a:rPr>
              <a:t>     (+) delta features  fill(t-1) - fill(t-2)</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2. candidate models, trained on a chronological split</a:t>
            </a:r>
          </a:p>
          <a:p>
            <a:pPr>
              <a:lnSpc>
                <a:spcPct val="100000"/>
              </a:lnSpc>
              <a:spcAft>
                <a:spcPts val="0"/>
              </a:spcAft>
            </a:pPr>
            <a:r>
              <a:rPr sz="1050" b="0" i="0">
                <a:solidFill>
                  <a:srgbClr val="222222"/>
                </a:solidFill>
                <a:latin typeface="Consolas"/>
              </a:rPr>
              <a:t>B0 : f_hat = mean( fill(t-k+1 .. t) )        # moving average</a:t>
            </a:r>
          </a:p>
          <a:p>
            <a:pPr>
              <a:lnSpc>
                <a:spcPct val="100000"/>
              </a:lnSpc>
              <a:spcAft>
                <a:spcPts val="0"/>
              </a:spcAft>
            </a:pPr>
            <a:r>
              <a:rPr sz="1050" b="0" i="0">
                <a:solidFill>
                  <a:srgbClr val="222222"/>
                </a:solidFill>
                <a:latin typeface="Consolas"/>
              </a:rPr>
              <a:t>M1 : f_hat = LightGBM(x_t)                   # gradient boosting</a:t>
            </a:r>
          </a:p>
          <a:p>
            <a:pPr>
              <a:lnSpc>
                <a:spcPct val="100000"/>
              </a:lnSpc>
              <a:spcAft>
                <a:spcPts val="0"/>
              </a:spcAft>
            </a:pPr>
            <a:r>
              <a:rPr sz="1050" b="0" i="0">
                <a:solidFill>
                  <a:srgbClr val="222222"/>
                </a:solidFill>
                <a:latin typeface="Consolas"/>
              </a:rPr>
              <a:t>M2 : f_hat = LSTM( [x_(t-k+1) .. x_t] )      # sequence model</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3. selection</a:t>
            </a:r>
          </a:p>
          <a:p>
            <a:pPr>
              <a:lnSpc>
                <a:spcPct val="100000"/>
              </a:lnSpc>
              <a:spcAft>
                <a:spcPts val="0"/>
              </a:spcAft>
            </a:pPr>
            <a:r>
              <a:rPr sz="1050" b="0" i="0">
                <a:solidFill>
                  <a:srgbClr val="222222"/>
                </a:solidFill>
                <a:latin typeface="Consolas"/>
              </a:rPr>
              <a:t>train on the oldest 70%, validate 15%, test on the newest 15%</a:t>
            </a:r>
          </a:p>
          <a:p>
            <a:pPr>
              <a:lnSpc>
                <a:spcPct val="100000"/>
              </a:lnSpc>
              <a:spcAft>
                <a:spcPts val="0"/>
              </a:spcAft>
            </a:pPr>
            <a:r>
              <a:rPr sz="1050" b="0" i="0">
                <a:solidFill>
                  <a:srgbClr val="222222"/>
                </a:solidFill>
                <a:latin typeface="Consolas"/>
              </a:rPr>
              <a:t>keep the model with the lowest MAE / RMSE on the test split;</a:t>
            </a:r>
          </a:p>
          <a:p>
            <a:pPr>
              <a:lnSpc>
                <a:spcPct val="100000"/>
              </a:lnSpc>
              <a:spcAft>
                <a:spcPts val="0"/>
              </a:spcAft>
            </a:pPr>
            <a:r>
              <a:rPr sz="1050" b="0" i="0">
                <a:solidFill>
                  <a:srgbClr val="222222"/>
                </a:solidFill>
                <a:latin typeface="Consolas"/>
              </a:rPr>
              <a:t>report skill score  1 - MAE(model) / MAE(B0)   against B0</a:t>
            </a:r>
          </a:p>
          <a:p>
            <a:pPr>
              <a:lnSpc>
                <a:spcPct val="100000"/>
              </a:lnSpc>
              <a:spcAft>
                <a:spcPts val="0"/>
              </a:spcAft>
            </a:pPr>
            <a:r>
              <a:rPr sz="1050" b="0" i="0">
                <a:solidFill>
                  <a:srgbClr val="222222"/>
                </a:solidFill>
                <a:latin typeface="Consolas"/>
              </a:rPr>
              <a:t> </a:t>
            </a:r>
          </a:p>
          <a:p>
            <a:pPr>
              <a:lnSpc>
                <a:spcPct val="100000"/>
              </a:lnSpc>
              <a:spcAft>
                <a:spcPts val="0"/>
              </a:spcAft>
            </a:pPr>
            <a:r>
              <a:rPr sz="1050" b="0" i="0">
                <a:solidFill>
                  <a:srgbClr val="222222"/>
                </a:solidFill>
                <a:latin typeface="Consolas"/>
              </a:rPr>
              <a:t>return f_hat, and free capacity  C_hat = (1 - f_hat) * S_max</a:t>
            </a:r>
          </a:p>
        </p:txBody>
      </p:sp>
      <p:sp>
        <p:nvSpPr>
          <p:cNvPr id="8" name="Rounded Rectangle 7"/>
          <p:cNvSpPr/>
          <p:nvPr/>
        </p:nvSpPr>
        <p:spPr>
          <a:xfrm>
            <a:off x="7882127" y="1755648"/>
            <a:ext cx="3803904" cy="3913632"/>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18872" bIns="27432"/>
          <a:lstStyle/>
          <a:p>
            <a:pPr algn="ctr"/>
            <a:r>
              <a:rPr sz="1400" b="1" i="0">
                <a:solidFill>
                  <a:srgbClr val="1F3864"/>
                </a:solidFill>
                <a:latin typeface="Calibri"/>
              </a:rPr>
              <a:t>Design decisions</a:t>
            </a:r>
          </a:p>
          <a:p>
            <a:pPr>
              <a:lnSpc>
                <a:spcPct val="100000"/>
              </a:lnSpc>
              <a:spcBef>
                <a:spcPts val="600"/>
              </a:spcBef>
            </a:pPr>
            <a:r>
              <a:rPr sz="1150" b="1" i="0">
                <a:solidFill>
                  <a:srgbClr val="2E5395"/>
                </a:solidFill>
                <a:latin typeface="Calibri"/>
              </a:rPr>
              <a:t>•  </a:t>
            </a:r>
            <a:r>
              <a:rPr sz="1150" b="1" i="0">
                <a:solidFill>
                  <a:srgbClr val="1F3864"/>
                </a:solidFill>
                <a:latin typeface="Calibri"/>
              </a:rPr>
              <a:t>Problem type:  </a:t>
            </a:r>
            <a:r>
              <a:rPr sz="1150" b="0" i="0">
                <a:solidFill>
                  <a:srgbClr val="222222"/>
                </a:solidFill>
                <a:latin typeface="Calibri"/>
              </a:rPr>
              <a:t>univariate time-series regression with exogenous features, not classification.</a:t>
            </a:r>
          </a:p>
          <a:p>
            <a:pPr>
              <a:lnSpc>
                <a:spcPct val="100000"/>
              </a:lnSpc>
              <a:spcBef>
                <a:spcPts val="600"/>
              </a:spcBef>
            </a:pPr>
            <a:r>
              <a:rPr sz="1150" b="1" i="0">
                <a:solidFill>
                  <a:srgbClr val="2E5395"/>
                </a:solidFill>
                <a:latin typeface="Calibri"/>
              </a:rPr>
              <a:t>•  </a:t>
            </a:r>
            <a:r>
              <a:rPr sz="1150" b="1" i="0">
                <a:solidFill>
                  <a:srgbClr val="1F3864"/>
                </a:solidFill>
                <a:latin typeface="Calibri"/>
              </a:rPr>
              <a:t>Lookback k = 30 blocks  </a:t>
            </a:r>
            <a:r>
              <a:rPr sz="1150" b="0" i="0">
                <a:solidFill>
                  <a:srgbClr val="222222"/>
                </a:solidFill>
                <a:latin typeface="Calibri"/>
              </a:rPr>
              <a:t>(≈ 10 minutes) – long enough to capture a burst, short enough to serve within one 20 s slot.</a:t>
            </a:r>
          </a:p>
          <a:p>
            <a:pPr>
              <a:lnSpc>
                <a:spcPct val="100000"/>
              </a:lnSpc>
              <a:spcBef>
                <a:spcPts val="600"/>
              </a:spcBef>
            </a:pPr>
            <a:r>
              <a:rPr sz="1150" b="1" i="0">
                <a:solidFill>
                  <a:srgbClr val="2E5395"/>
                </a:solidFill>
                <a:latin typeface="Calibri"/>
              </a:rPr>
              <a:t>•  </a:t>
            </a:r>
            <a:r>
              <a:rPr sz="1150" b="1" i="0">
                <a:solidFill>
                  <a:srgbClr val="1F3864"/>
                </a:solidFill>
                <a:latin typeface="Calibri"/>
              </a:rPr>
              <a:t>Horizon h = 3  </a:t>
            </a:r>
            <a:r>
              <a:rPr sz="1150" b="0" i="0">
                <a:solidFill>
                  <a:srgbClr val="222222"/>
                </a:solidFill>
                <a:latin typeface="Calibri"/>
              </a:rPr>
              <a:t>so the policy can also see whether a quieter window is arriving.</a:t>
            </a:r>
          </a:p>
          <a:p>
            <a:pPr>
              <a:lnSpc>
                <a:spcPct val="100000"/>
              </a:lnSpc>
              <a:spcBef>
                <a:spcPts val="600"/>
              </a:spcBef>
            </a:pPr>
            <a:r>
              <a:rPr sz="1150" b="1" i="0">
                <a:solidFill>
                  <a:srgbClr val="2E5395"/>
                </a:solidFill>
                <a:latin typeface="Calibri"/>
              </a:rPr>
              <a:t>•  </a:t>
            </a:r>
            <a:r>
              <a:rPr sz="1150" b="1" i="0">
                <a:solidFill>
                  <a:srgbClr val="1F3864"/>
                </a:solidFill>
                <a:latin typeface="Calibri"/>
              </a:rPr>
              <a:t>Chronological split –  </a:t>
            </a:r>
            <a:r>
              <a:rPr sz="1150" b="0" i="0">
                <a:solidFill>
                  <a:srgbClr val="222222"/>
                </a:solidFill>
                <a:latin typeface="Calibri"/>
              </a:rPr>
              <a:t>never shuffled, because shuffling leaks the future into training.</a:t>
            </a:r>
          </a:p>
          <a:p>
            <a:pPr>
              <a:lnSpc>
                <a:spcPct val="100000"/>
              </a:lnSpc>
              <a:spcBef>
                <a:spcPts val="600"/>
              </a:spcBef>
            </a:pPr>
            <a:r>
              <a:rPr sz="1150" b="1" i="0">
                <a:solidFill>
                  <a:srgbClr val="2E5395"/>
                </a:solidFill>
                <a:latin typeface="Calibri"/>
              </a:rPr>
              <a:t>•  </a:t>
            </a:r>
            <a:r>
              <a:rPr sz="1150" b="1" i="0">
                <a:solidFill>
                  <a:srgbClr val="1F3864"/>
                </a:solidFill>
                <a:latin typeface="Calibri"/>
              </a:rPr>
              <a:t>Baseline is kept  </a:t>
            </a:r>
            <a:r>
              <a:rPr sz="1150" b="0" i="0">
                <a:solidFill>
                  <a:srgbClr val="222222"/>
                </a:solidFill>
                <a:latin typeface="Calibri"/>
              </a:rPr>
              <a:t>in every experiment; the deep model is only claimed if it beats B0 on the held-out split.</a:t>
            </a:r>
          </a:p>
          <a:p>
            <a:pPr>
              <a:lnSpc>
                <a:spcPct val="100000"/>
              </a:lnSpc>
              <a:spcBef>
                <a:spcPts val="600"/>
              </a:spcBef>
            </a:pPr>
            <a:r>
              <a:rPr sz="1150" b="1" i="0">
                <a:solidFill>
                  <a:srgbClr val="2E5395"/>
                </a:solidFill>
                <a:latin typeface="Calibri"/>
              </a:rPr>
              <a:t>•  </a:t>
            </a:r>
            <a:r>
              <a:rPr sz="1150" b="1" i="0">
                <a:solidFill>
                  <a:srgbClr val="1F3864"/>
                </a:solidFill>
                <a:latin typeface="Calibri"/>
              </a:rPr>
              <a:t>Latency budget:  </a:t>
            </a:r>
            <a:r>
              <a:rPr sz="1150" b="0" i="0">
                <a:solidFill>
                  <a:srgbClr val="222222"/>
                </a:solidFill>
                <a:latin typeface="Calibri"/>
              </a:rPr>
              <a:t>inference must finish well inside a 20 s block slot – LightGBM is the safe default.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10</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(b)  Proposed Algorithm 2 – Constrained Batch Optimizer</a:t>
            </a:r>
          </a:p>
        </p:txBody>
      </p:sp>
      <p:sp>
        <p:nvSpPr>
          <p:cNvPr id="7" name="Rounded Rectangle 6"/>
          <p:cNvSpPr/>
          <p:nvPr/>
        </p:nvSpPr>
        <p:spPr>
          <a:xfrm>
            <a:off x="502920" y="1755648"/>
            <a:ext cx="6903720" cy="3913632"/>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P2   Forecast-then-optimize  (explainable policy)</a:t>
            </a:r>
          </a:p>
          <a:p>
            <a:pPr>
              <a:lnSpc>
                <a:spcPct val="100000"/>
              </a:lnSpc>
              <a:spcAft>
                <a:spcPts val="0"/>
              </a:spcAft>
            </a:pPr>
            <a:r>
              <a:rPr sz="1050" b="0" i="0">
                <a:solidFill>
                  <a:srgbClr val="222222"/>
                </a:solidFill>
                <a:latin typeface="Consolas"/>
              </a:rPr>
              <a:t>Input : Q sorted by waiting time, f_hat, E_hat, limits S_max, E_max</a:t>
            </a:r>
          </a:p>
          <a:p>
            <a:pPr>
              <a:lnSpc>
                <a:spcPct val="100000"/>
              </a:lnSpc>
              <a:spcAft>
                <a:spcPts val="0"/>
              </a:spcAft>
            </a:pPr>
            <a:r>
              <a:rPr sz="1050" b="0" i="0">
                <a:solidFill>
                  <a:srgbClr val="222222"/>
                </a:solidFill>
                <a:latin typeface="Consolas"/>
              </a:rPr>
              <a:t>Output: action in { WAIT, SUBMIT(n) }</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1. predicted headroom in the next block</a:t>
            </a:r>
          </a:p>
          <a:p>
            <a:pPr>
              <a:lnSpc>
                <a:spcPct val="100000"/>
              </a:lnSpc>
              <a:spcAft>
                <a:spcPts val="0"/>
              </a:spcAft>
            </a:pPr>
            <a:r>
              <a:rPr sz="1050" b="0" i="0">
                <a:solidFill>
                  <a:srgbClr val="222222"/>
                </a:solidFill>
                <a:latin typeface="Consolas"/>
              </a:rPr>
              <a:t>C_hat  &lt;- (1 - f_hat) * S_max          # free bytes</a:t>
            </a:r>
          </a:p>
          <a:p>
            <a:pPr>
              <a:lnSpc>
                <a:spcPct val="100000"/>
              </a:lnSpc>
              <a:spcAft>
                <a:spcPts val="0"/>
              </a:spcAft>
            </a:pPr>
            <a:r>
              <a:rPr sz="1050" b="0" i="0">
                <a:solidFill>
                  <a:srgbClr val="222222"/>
                </a:solidFill>
                <a:latin typeface="Consolas"/>
              </a:rPr>
              <a:t>E_free &lt;- E_max - E_hat                # free execution units</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2. greedily fill the batch while every limit holds</a:t>
            </a:r>
          </a:p>
          <a:p>
            <a:pPr>
              <a:lnSpc>
                <a:spcPct val="100000"/>
              </a:lnSpc>
              <a:spcAft>
                <a:spcPts val="0"/>
              </a:spcAft>
            </a:pPr>
            <a:r>
              <a:rPr sz="1050" b="0" i="0">
                <a:solidFill>
                  <a:srgbClr val="222222"/>
                </a:solidFill>
                <a:latin typeface="Consolas"/>
              </a:rPr>
              <a:t>n &lt;- 0 ;  s &lt;- s_base ;  e &lt;- e_base   # base tx + pool spend</a:t>
            </a:r>
          </a:p>
          <a:p>
            <a:pPr>
              <a:lnSpc>
                <a:spcPct val="100000"/>
              </a:lnSpc>
              <a:spcAft>
                <a:spcPts val="0"/>
              </a:spcAft>
            </a:pPr>
            <a:r>
              <a:rPr sz="1050" b="0" i="0">
                <a:solidFill>
                  <a:srgbClr val="222222"/>
                </a:solidFill>
                <a:latin typeface="Consolas"/>
              </a:rPr>
              <a:t>while n &lt; |Q|</a:t>
            </a:r>
          </a:p>
          <a:p>
            <a:pPr>
              <a:lnSpc>
                <a:spcPct val="100000"/>
              </a:lnSpc>
              <a:spcAft>
                <a:spcPts val="0"/>
              </a:spcAft>
            </a:pPr>
            <a:r>
              <a:rPr sz="1050" b="0" i="0">
                <a:solidFill>
                  <a:srgbClr val="222222"/>
                </a:solidFill>
                <a:latin typeface="Consolas"/>
              </a:rPr>
              <a:t>      and s + size(Q[n]) &lt;= min(C_hat, S_tx_max)</a:t>
            </a:r>
          </a:p>
          <a:p>
            <a:pPr>
              <a:lnSpc>
                <a:spcPct val="100000"/>
              </a:lnSpc>
              <a:spcAft>
                <a:spcPts val="0"/>
              </a:spcAft>
            </a:pPr>
            <a:r>
              <a:rPr sz="1050" b="0" i="0">
                <a:solidFill>
                  <a:srgbClr val="222222"/>
                </a:solidFill>
                <a:latin typeface="Consolas"/>
              </a:rPr>
              <a:t>      and e + ex(Q[n])   &lt;= min(E_free, E_tx_max):</a:t>
            </a:r>
          </a:p>
          <a:p>
            <a:pPr>
              <a:lnSpc>
                <a:spcPct val="100000"/>
              </a:lnSpc>
              <a:spcAft>
                <a:spcPts val="0"/>
              </a:spcAft>
            </a:pPr>
            <a:r>
              <a:rPr sz="1050" b="0" i="0">
                <a:solidFill>
                  <a:srgbClr val="222222"/>
                </a:solidFill>
                <a:latin typeface="Consolas"/>
              </a:rPr>
              <a:t>    s &lt;- s + size(Q[n]) ;  e &lt;- e + ex(Q[n]) ;  n &lt;- n + 1</a:t>
            </a:r>
          </a:p>
          <a:p>
            <a:pPr>
              <a:lnSpc>
                <a:spcPct val="100000"/>
              </a:lnSpc>
              <a:spcAft>
                <a:spcPts val="0"/>
              </a:spcAft>
            </a:pPr>
            <a:r>
              <a:rPr sz="1050" b="0" i="0">
                <a:solidFill>
                  <a:srgbClr val="222222"/>
                </a:solidFill>
                <a:latin typeface="Consolas"/>
              </a:rPr>
              <a:t> </a:t>
            </a:r>
          </a:p>
          <a:p>
            <a:pPr>
              <a:lnSpc>
                <a:spcPct val="100000"/>
              </a:lnSpc>
              <a:spcAft>
                <a:spcPts val="0"/>
              </a:spcAft>
            </a:pPr>
            <a:r>
              <a:rPr sz="1050" b="0" i="1">
                <a:solidFill>
                  <a:srgbClr val="595959"/>
                </a:solidFill>
                <a:latin typeface="Consolas"/>
              </a:rPr>
              <a:t># 3. decide, with a starvation guard</a:t>
            </a:r>
          </a:p>
          <a:p>
            <a:pPr>
              <a:lnSpc>
                <a:spcPct val="100000"/>
              </a:lnSpc>
              <a:spcAft>
                <a:spcPts val="0"/>
              </a:spcAft>
            </a:pPr>
            <a:r>
              <a:rPr sz="1050" b="0" i="0">
                <a:solidFill>
                  <a:srgbClr val="222222"/>
                </a:solidFill>
                <a:latin typeface="Consolas"/>
              </a:rPr>
              <a:t>if wait(Q[0]) &gt;= D_max        : return SUBMIT(max(n, 1))</a:t>
            </a:r>
          </a:p>
          <a:p>
            <a:pPr>
              <a:lnSpc>
                <a:spcPct val="100000"/>
              </a:lnSpc>
              <a:spcAft>
                <a:spcPts val="0"/>
              </a:spcAft>
            </a:pPr>
            <a:r>
              <a:rPr sz="1050" b="0" i="0">
                <a:solidFill>
                  <a:srgbClr val="222222"/>
                </a:solidFill>
                <a:latin typeface="Consolas"/>
              </a:rPr>
              <a:t>if n = 0                      : return WAIT</a:t>
            </a:r>
          </a:p>
          <a:p>
            <a:pPr>
              <a:lnSpc>
                <a:spcPct val="100000"/>
              </a:lnSpc>
              <a:spcAft>
                <a:spcPts val="0"/>
              </a:spcAft>
            </a:pPr>
            <a:r>
              <a:rPr sz="1050" b="0" i="0">
                <a:solidFill>
                  <a:srgbClr val="222222"/>
                </a:solidFill>
                <a:latin typeface="Consolas"/>
              </a:rPr>
              <a:t>if n &lt; n_min and f_hat(t+2) &lt; f_hat(t+1) : return WAIT</a:t>
            </a:r>
          </a:p>
          <a:p>
            <a:pPr>
              <a:lnSpc>
                <a:spcPct val="100000"/>
              </a:lnSpc>
              <a:spcAft>
                <a:spcPts val="0"/>
              </a:spcAft>
            </a:pPr>
            <a:r>
              <a:rPr sz="1050" b="0" i="1">
                <a:solidFill>
                  <a:srgbClr val="595959"/>
                </a:solidFill>
                <a:latin typeface="Consolas"/>
              </a:rPr>
              <a:t>                                        # quieter window is coming</a:t>
            </a:r>
          </a:p>
          <a:p>
            <a:pPr>
              <a:lnSpc>
                <a:spcPct val="100000"/>
              </a:lnSpc>
              <a:spcAft>
                <a:spcPts val="0"/>
              </a:spcAft>
            </a:pPr>
            <a:r>
              <a:rPr sz="1050" b="0" i="0">
                <a:solidFill>
                  <a:srgbClr val="222222"/>
                </a:solidFill>
                <a:latin typeface="Consolas"/>
              </a:rPr>
              <a:t>return SUBMIT(n)</a:t>
            </a:r>
          </a:p>
        </p:txBody>
      </p:sp>
      <p:sp>
        <p:nvSpPr>
          <p:cNvPr id="8" name="Rounded Rectangle 7"/>
          <p:cNvSpPr/>
          <p:nvPr/>
        </p:nvSpPr>
        <p:spPr>
          <a:xfrm>
            <a:off x="7882127" y="1755648"/>
            <a:ext cx="3803904" cy="3913632"/>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18872" bIns="27432"/>
          <a:lstStyle/>
          <a:p>
            <a:pPr algn="ctr"/>
            <a:r>
              <a:rPr sz="1400" b="1" i="0">
                <a:solidFill>
                  <a:srgbClr val="1F3864"/>
                </a:solidFill>
                <a:latin typeface="Calibri"/>
              </a:rPr>
              <a:t>Why this design</a:t>
            </a:r>
          </a:p>
          <a:p>
            <a:pPr>
              <a:lnSpc>
                <a:spcPct val="100000"/>
              </a:lnSpc>
              <a:spcBef>
                <a:spcPts val="700"/>
              </a:spcBef>
            </a:pPr>
            <a:r>
              <a:rPr sz="1150" b="1" i="0">
                <a:solidFill>
                  <a:srgbClr val="2E5395"/>
                </a:solidFill>
                <a:latin typeface="Calibri"/>
              </a:rPr>
              <a:t>•  </a:t>
            </a:r>
            <a:r>
              <a:rPr sz="1150" b="1" i="0">
                <a:solidFill>
                  <a:srgbClr val="1F3864"/>
                </a:solidFill>
                <a:latin typeface="Calibri"/>
              </a:rPr>
              <a:t>Constraints are hard, not learned –  </a:t>
            </a:r>
            <a:r>
              <a:rPr sz="1150" b="0" i="0">
                <a:solidFill>
                  <a:srgbClr val="222222"/>
                </a:solidFill>
                <a:latin typeface="Calibri"/>
              </a:rPr>
              <a:t>size and ExUnit limits are enforced inside the loop, so an infeasible batch can never be proposed.</a:t>
            </a:r>
          </a:p>
          <a:p>
            <a:pPr>
              <a:lnSpc>
                <a:spcPct val="100000"/>
              </a:lnSpc>
              <a:spcBef>
                <a:spcPts val="700"/>
              </a:spcBef>
            </a:pPr>
            <a:r>
              <a:rPr sz="1150" b="1" i="0">
                <a:solidFill>
                  <a:srgbClr val="2E5395"/>
                </a:solidFill>
                <a:latin typeface="Calibri"/>
              </a:rPr>
              <a:t>•  </a:t>
            </a:r>
            <a:r>
              <a:rPr sz="1150" b="1" i="0">
                <a:solidFill>
                  <a:srgbClr val="1F3864"/>
                </a:solidFill>
                <a:latin typeface="Calibri"/>
              </a:rPr>
              <a:t>Both limits are checked  </a:t>
            </a:r>
            <a:r>
              <a:rPr sz="1150" b="0" i="0">
                <a:solidFill>
                  <a:srgbClr val="222222"/>
                </a:solidFill>
                <a:latin typeface="Calibri"/>
              </a:rPr>
              <a:t>against the per-transaction cap and the predicted per-block headroom.</a:t>
            </a:r>
          </a:p>
          <a:p>
            <a:pPr>
              <a:lnSpc>
                <a:spcPct val="100000"/>
              </a:lnSpc>
              <a:spcBef>
                <a:spcPts val="700"/>
              </a:spcBef>
            </a:pPr>
            <a:r>
              <a:rPr sz="1150" b="1" i="0">
                <a:solidFill>
                  <a:srgbClr val="2E5395"/>
                </a:solidFill>
                <a:latin typeface="Calibri"/>
              </a:rPr>
              <a:t>•  </a:t>
            </a:r>
            <a:r>
              <a:rPr sz="1150" b="1" i="0">
                <a:solidFill>
                  <a:srgbClr val="1F3864"/>
                </a:solidFill>
                <a:latin typeface="Calibri"/>
              </a:rPr>
              <a:t>Starvation guard  </a:t>
            </a:r>
            <a:r>
              <a:rPr sz="1150" b="0" i="0">
                <a:solidFill>
                  <a:srgbClr val="222222"/>
                </a:solidFill>
                <a:latin typeface="Calibri"/>
              </a:rPr>
              <a:t>D_max bounds the worst-case waiting time, which E1 cannot do.</a:t>
            </a:r>
          </a:p>
          <a:p>
            <a:pPr>
              <a:lnSpc>
                <a:spcPct val="100000"/>
              </a:lnSpc>
              <a:spcBef>
                <a:spcPts val="700"/>
              </a:spcBef>
            </a:pPr>
            <a:r>
              <a:rPr sz="1150" b="1" i="0">
                <a:solidFill>
                  <a:srgbClr val="2E5395"/>
                </a:solidFill>
                <a:latin typeface="Calibri"/>
              </a:rPr>
              <a:t>•  </a:t>
            </a:r>
            <a:r>
              <a:rPr sz="1150" b="1" i="0">
                <a:solidFill>
                  <a:srgbClr val="1F3864"/>
                </a:solidFill>
                <a:latin typeface="Calibri"/>
              </a:rPr>
              <a:t>Deliberate waiting  </a:t>
            </a:r>
            <a:r>
              <a:rPr sz="1150" b="0" i="0">
                <a:solidFill>
                  <a:srgbClr val="222222"/>
                </a:solidFill>
                <a:latin typeface="Calibri"/>
              </a:rPr>
              <a:t>is what no existing batcher does – it is only possible because P1 supplies a forecast.</a:t>
            </a:r>
          </a:p>
          <a:p>
            <a:pPr>
              <a:lnSpc>
                <a:spcPct val="100000"/>
              </a:lnSpc>
              <a:spcBef>
                <a:spcPts val="700"/>
              </a:spcBef>
            </a:pPr>
            <a:r>
              <a:rPr sz="1150" b="1" i="0">
                <a:solidFill>
                  <a:srgbClr val="2E5395"/>
                </a:solidFill>
                <a:latin typeface="Calibri"/>
              </a:rPr>
              <a:t>•  </a:t>
            </a:r>
            <a:r>
              <a:rPr sz="1150" b="1" i="0">
                <a:solidFill>
                  <a:srgbClr val="1F3864"/>
                </a:solidFill>
                <a:latin typeface="Calibri"/>
              </a:rPr>
              <a:t>Complexity  </a:t>
            </a:r>
            <a:r>
              <a:rPr sz="1150" b="0" i="0">
                <a:solidFill>
                  <a:srgbClr val="222222"/>
                </a:solidFill>
                <a:latin typeface="Calibri"/>
              </a:rPr>
              <a:t>O(|Q|) per slot, fully deterministic and explainable in a viva.</a:t>
            </a:r>
          </a:p>
          <a:p>
            <a:pPr>
              <a:lnSpc>
                <a:spcPct val="100000"/>
              </a:lnSpc>
              <a:spcBef>
                <a:spcPts val="700"/>
              </a:spcBef>
            </a:pPr>
            <a:r>
              <a:rPr sz="1150" b="1" i="0">
                <a:solidFill>
                  <a:srgbClr val="2E5395"/>
                </a:solidFill>
                <a:latin typeface="Calibri"/>
              </a:rPr>
              <a:t>•  </a:t>
            </a:r>
            <a:r>
              <a:rPr sz="1150" b="1" i="0">
                <a:solidFill>
                  <a:srgbClr val="1F3864"/>
                </a:solidFill>
                <a:latin typeface="Calibri"/>
              </a:rPr>
              <a:t>Role:  </a:t>
            </a:r>
            <a:r>
              <a:rPr sz="1150" b="0" i="0">
                <a:solidFill>
                  <a:srgbClr val="222222"/>
                </a:solidFill>
                <a:latin typeface="Calibri"/>
              </a:rPr>
              <a:t>this is the defensible result. P3 is the ambitious extension; if P3 underperforms, P2 still validates the thesis.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11</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(b)  Proposed Algorithm 3 – RL Adaptive Batching Agent</a:t>
            </a:r>
          </a:p>
        </p:txBody>
      </p:sp>
      <p:sp>
        <p:nvSpPr>
          <p:cNvPr id="7" name="Rounded Rectangle 6"/>
          <p:cNvSpPr/>
          <p:nvPr/>
        </p:nvSpPr>
        <p:spPr>
          <a:xfrm>
            <a:off x="502920" y="1755648"/>
            <a:ext cx="5413248" cy="3456432"/>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18872" bIns="27432"/>
          <a:lstStyle/>
          <a:p>
            <a:pPr algn="ctr"/>
            <a:r>
              <a:rPr sz="1400" b="1" i="0">
                <a:solidFill>
                  <a:srgbClr val="1F3864"/>
                </a:solidFill>
                <a:latin typeface="Calibri"/>
              </a:rPr>
              <a:t>P3   MDP formulation</a:t>
            </a:r>
          </a:p>
          <a:p>
            <a:pPr>
              <a:lnSpc>
                <a:spcPct val="100000"/>
              </a:lnSpc>
              <a:spcBef>
                <a:spcPts val="700"/>
              </a:spcBef>
            </a:pPr>
            <a:r>
              <a:rPr sz="1150" b="1" i="0">
                <a:solidFill>
                  <a:srgbClr val="1F3864"/>
                </a:solidFill>
                <a:latin typeface="Calibri"/>
              </a:rPr>
              <a:t>State  sₜ :  </a:t>
            </a:r>
            <a:r>
              <a:rPr sz="1150" b="0" i="0">
                <a:solidFill>
                  <a:srgbClr val="222222"/>
                </a:solidFill>
                <a:latin typeface="Calibri"/>
              </a:rPr>
              <a:t>queue depth |Q|;  waiting time of the oldest order;  mean waiting time;  f̂(t+1), f̂(t+2);  predicted ExUnit headroom;  recent inclusion-success rate;  size of the largest currently feasible batch.</a:t>
            </a:r>
          </a:p>
          <a:p>
            <a:pPr>
              <a:lnSpc>
                <a:spcPct val="100000"/>
              </a:lnSpc>
              <a:spcBef>
                <a:spcPts val="700"/>
              </a:spcBef>
            </a:pPr>
            <a:r>
              <a:rPr sz="1150" b="1" i="0">
                <a:solidFill>
                  <a:srgbClr val="1F3864"/>
                </a:solidFill>
                <a:latin typeface="Calibri"/>
              </a:rPr>
              <a:t>Action  aₜ :  </a:t>
            </a:r>
            <a:r>
              <a:rPr sz="1150" b="0" i="0">
                <a:solidFill>
                  <a:srgbClr val="222222"/>
                </a:solidFill>
                <a:latin typeface="Calibri"/>
              </a:rPr>
              <a:t>WAIT, or SUBMIT(n) with n discretised into buckets {1–4, 5–9, 10–19, 20–39, 40+};  infeasible actions are masked out before selection.</a:t>
            </a:r>
          </a:p>
          <a:p>
            <a:pPr>
              <a:lnSpc>
                <a:spcPct val="100000"/>
              </a:lnSpc>
              <a:spcBef>
                <a:spcPts val="700"/>
              </a:spcBef>
            </a:pPr>
            <a:r>
              <a:rPr sz="1150" b="1" i="0">
                <a:solidFill>
                  <a:srgbClr val="1F3864"/>
                </a:solidFill>
                <a:latin typeface="Calibri"/>
              </a:rPr>
              <a:t>Reward  rₜ :  </a:t>
            </a:r>
            <a:r>
              <a:rPr sz="1150" b="0" i="0">
                <a:solidFill>
                  <a:srgbClr val="222222"/>
                </a:solidFill>
                <a:latin typeface="Calibri"/>
              </a:rPr>
              <a:t>− ( w₁·cost_per_user  +  w₂·latency  +  w₃·slippage )  −  P·𝟙[batch bounced]</a:t>
            </a:r>
          </a:p>
          <a:p>
            <a:pPr>
              <a:lnSpc>
                <a:spcPct val="100000"/>
              </a:lnSpc>
              <a:spcBef>
                <a:spcPts val="700"/>
              </a:spcBef>
            </a:pPr>
            <a:r>
              <a:rPr sz="1150" b="1" i="0">
                <a:solidFill>
                  <a:srgbClr val="1F3864"/>
                </a:solidFill>
                <a:latin typeface="Calibri"/>
              </a:rPr>
              <a:t>Transition :  </a:t>
            </a:r>
            <a:r>
              <a:rPr sz="1150" b="0" i="0">
                <a:solidFill>
                  <a:srgbClr val="222222"/>
                </a:solidFill>
                <a:latin typeface="Calibri"/>
              </a:rPr>
              <a:t>the simulator advances one block slot (≈ 20 s) using the real historical fill of that slot as background congestion.</a:t>
            </a:r>
          </a:p>
          <a:p>
            <a:pPr>
              <a:lnSpc>
                <a:spcPct val="100000"/>
              </a:lnSpc>
              <a:spcBef>
                <a:spcPts val="700"/>
              </a:spcBef>
            </a:pPr>
            <a:r>
              <a:rPr sz="1150" b="1" i="0">
                <a:solidFill>
                  <a:srgbClr val="1F3864"/>
                </a:solidFill>
                <a:latin typeface="Calibri"/>
              </a:rPr>
              <a:t>Episode :  </a:t>
            </a:r>
            <a:r>
              <a:rPr sz="1150" b="0" i="0">
                <a:solidFill>
                  <a:srgbClr val="222222"/>
                </a:solidFill>
                <a:latin typeface="Calibri"/>
              </a:rPr>
              <a:t>one simulated day of replayed blocks;  γ = 0.95.</a:t>
            </a:r>
          </a:p>
        </p:txBody>
      </p:sp>
      <p:sp>
        <p:nvSpPr>
          <p:cNvPr id="8" name="Rounded Rectangle 7"/>
          <p:cNvSpPr/>
          <p:nvPr/>
        </p:nvSpPr>
        <p:spPr>
          <a:xfrm>
            <a:off x="6272784" y="1755648"/>
            <a:ext cx="5413248" cy="3456432"/>
          </a:xfrm>
          <a:prstGeom prst="roundRect">
            <a:avLst>
              <a:gd name="adj" fmla="val 5000"/>
            </a:avLst>
          </a:prstGeom>
          <a:solidFill>
            <a:srgbClr val="F7F7F9"/>
          </a:solidFill>
          <a:ln w="12700">
            <a:solidFill>
              <a:srgbClr val="DDDDE3"/>
            </a:solidFill>
          </a:ln>
          <a:effectLst/>
        </p:spPr>
        <p:style>
          <a:lnRef idx="1">
            <a:schemeClr val="accent1"/>
          </a:lnRef>
          <a:fillRef idx="3">
            <a:schemeClr val="accent1"/>
          </a:fillRef>
          <a:effectRef idx="2">
            <a:schemeClr val="accent1"/>
          </a:effectRef>
          <a:fontRef idx="minor">
            <a:schemeClr val="lt1"/>
          </a:fontRef>
        </p:style>
        <p:txBody>
          <a:bodyPr rtlCol="0" anchor="t" wrap="square" lIns="118872" tIns="82296" bIns="27432"/>
          <a:lstStyle/>
          <a:p>
            <a:pPr algn="ctr">
              <a:spcAft>
                <a:spcPts val="400"/>
              </a:spcAft>
            </a:pPr>
            <a:r>
              <a:rPr sz="1200" b="1" i="0">
                <a:solidFill>
                  <a:srgbClr val="1F3864"/>
                </a:solidFill>
                <a:latin typeface="Calibri"/>
              </a:rPr>
              <a:t>P3   DQN training loop</a:t>
            </a:r>
          </a:p>
          <a:p>
            <a:pPr>
              <a:lnSpc>
                <a:spcPct val="100000"/>
              </a:lnSpc>
              <a:spcAft>
                <a:spcPts val="0"/>
              </a:spcAft>
            </a:pPr>
            <a:r>
              <a:rPr sz="1000" b="0" i="0">
                <a:solidFill>
                  <a:srgbClr val="222222"/>
                </a:solidFill>
                <a:latin typeface="Consolas"/>
              </a:rPr>
              <a:t>initialise Q_theta, target Q_theta-, replay buffer D</a:t>
            </a:r>
          </a:p>
          <a:p>
            <a:pPr>
              <a:lnSpc>
                <a:spcPct val="100000"/>
              </a:lnSpc>
              <a:spcAft>
                <a:spcPts val="0"/>
              </a:spcAft>
            </a:pPr>
            <a:r>
              <a:rPr sz="1000" b="0" i="0">
                <a:solidFill>
                  <a:srgbClr val="222222"/>
                </a:solidFill>
                <a:latin typeface="Consolas"/>
              </a:rPr>
              <a:t> </a:t>
            </a:r>
          </a:p>
          <a:p>
            <a:pPr>
              <a:lnSpc>
                <a:spcPct val="100000"/>
              </a:lnSpc>
              <a:spcAft>
                <a:spcPts val="0"/>
              </a:spcAft>
            </a:pPr>
            <a:r>
              <a:rPr sz="1000" b="0" i="0">
                <a:solidFill>
                  <a:srgbClr val="222222"/>
                </a:solidFill>
                <a:latin typeface="Consolas"/>
              </a:rPr>
              <a:t>for episode in 1 .. N:</a:t>
            </a:r>
          </a:p>
          <a:p>
            <a:pPr>
              <a:lnSpc>
                <a:spcPct val="100000"/>
              </a:lnSpc>
              <a:spcAft>
                <a:spcPts val="0"/>
              </a:spcAft>
            </a:pPr>
            <a:r>
              <a:rPr sz="1000" b="0" i="0">
                <a:solidFill>
                  <a:srgbClr val="222222"/>
                </a:solidFill>
                <a:latin typeface="Consolas"/>
              </a:rPr>
              <a:t>    s &lt;- env.reset()      # replay a historical block window</a:t>
            </a:r>
          </a:p>
          <a:p>
            <a:pPr>
              <a:lnSpc>
                <a:spcPct val="100000"/>
              </a:lnSpc>
              <a:spcAft>
                <a:spcPts val="0"/>
              </a:spcAft>
            </a:pPr>
            <a:r>
              <a:rPr sz="1000" b="0" i="0">
                <a:solidFill>
                  <a:srgbClr val="222222"/>
                </a:solidFill>
                <a:latin typeface="Consolas"/>
              </a:rPr>
              <a:t>    for each block slot in the episode:</a:t>
            </a:r>
          </a:p>
          <a:p>
            <a:pPr>
              <a:lnSpc>
                <a:spcPct val="100000"/>
              </a:lnSpc>
              <a:spcAft>
                <a:spcPts val="0"/>
              </a:spcAft>
            </a:pPr>
            <a:r>
              <a:rPr sz="1000" b="0" i="0">
                <a:solidFill>
                  <a:srgbClr val="222222"/>
                </a:solidFill>
                <a:latin typeface="Consolas"/>
              </a:rPr>
              <a:t>        A_feasible &lt;- mask(actions, C_hat, E_free)</a:t>
            </a:r>
          </a:p>
          <a:p>
            <a:pPr>
              <a:lnSpc>
                <a:spcPct val="100000"/>
              </a:lnSpc>
              <a:spcAft>
                <a:spcPts val="0"/>
              </a:spcAft>
            </a:pPr>
            <a:r>
              <a:rPr sz="1000" b="0" i="0">
                <a:solidFill>
                  <a:srgbClr val="222222"/>
                </a:solidFill>
                <a:latin typeface="Consolas"/>
              </a:rPr>
              <a:t>        a &lt;- eps_greedy( Q_theta(s), A_feasible )</a:t>
            </a:r>
          </a:p>
          <a:p>
            <a:pPr>
              <a:lnSpc>
                <a:spcPct val="100000"/>
              </a:lnSpc>
              <a:spcAft>
                <a:spcPts val="0"/>
              </a:spcAft>
            </a:pPr>
            <a:r>
              <a:rPr sz="1000" b="0" i="0">
                <a:solidFill>
                  <a:srgbClr val="222222"/>
                </a:solidFill>
                <a:latin typeface="Consolas"/>
              </a:rPr>
              <a:t>        s', r, done &lt;- env.step(a)</a:t>
            </a:r>
          </a:p>
          <a:p>
            <a:pPr>
              <a:lnSpc>
                <a:spcPct val="100000"/>
              </a:lnSpc>
              <a:spcAft>
                <a:spcPts val="0"/>
              </a:spcAft>
            </a:pPr>
            <a:r>
              <a:rPr sz="1000" b="0" i="1">
                <a:solidFill>
                  <a:srgbClr val="595959"/>
                </a:solidFill>
                <a:latin typeface="Consolas"/>
              </a:rPr>
              <a:t>                      # simulator checks the batch against</a:t>
            </a:r>
          </a:p>
          <a:p>
            <a:pPr>
              <a:lnSpc>
                <a:spcPct val="100000"/>
              </a:lnSpc>
              <a:spcAft>
                <a:spcPts val="0"/>
              </a:spcAft>
            </a:pPr>
            <a:r>
              <a:rPr sz="1000" b="0" i="1">
                <a:solidFill>
                  <a:srgbClr val="595959"/>
                </a:solidFill>
                <a:latin typeface="Consolas"/>
              </a:rPr>
              <a:t>                      # that slot's real block fullness</a:t>
            </a:r>
          </a:p>
          <a:p>
            <a:pPr>
              <a:lnSpc>
                <a:spcPct val="100000"/>
              </a:lnSpc>
              <a:spcAft>
                <a:spcPts val="0"/>
              </a:spcAft>
            </a:pPr>
            <a:r>
              <a:rPr sz="1000" b="0" i="0">
                <a:solidFill>
                  <a:srgbClr val="222222"/>
                </a:solidFill>
                <a:latin typeface="Consolas"/>
              </a:rPr>
              <a:t>        D &lt;- D + {(s, a, r, s')}</a:t>
            </a:r>
          </a:p>
          <a:p>
            <a:pPr>
              <a:lnSpc>
                <a:spcPct val="100000"/>
              </a:lnSpc>
              <a:spcAft>
                <a:spcPts val="0"/>
              </a:spcAft>
            </a:pPr>
            <a:r>
              <a:rPr sz="1000" b="0" i="0">
                <a:solidFill>
                  <a:srgbClr val="222222"/>
                </a:solidFill>
                <a:latin typeface="Consolas"/>
              </a:rPr>
              <a:t>        sample a minibatch from D and minimise</a:t>
            </a:r>
          </a:p>
          <a:p>
            <a:pPr>
              <a:lnSpc>
                <a:spcPct val="100000"/>
              </a:lnSpc>
              <a:spcAft>
                <a:spcPts val="0"/>
              </a:spcAft>
            </a:pPr>
            <a:r>
              <a:rPr sz="1000" b="0" i="0">
                <a:solidFill>
                  <a:srgbClr val="222222"/>
                </a:solidFill>
                <a:latin typeface="Consolas"/>
              </a:rPr>
              <a:t>            ( r + gamma * max_a' Q_theta-(s', a')</a:t>
            </a:r>
          </a:p>
          <a:p>
            <a:pPr>
              <a:lnSpc>
                <a:spcPct val="100000"/>
              </a:lnSpc>
              <a:spcAft>
                <a:spcPts val="0"/>
              </a:spcAft>
            </a:pPr>
            <a:r>
              <a:rPr sz="1000" b="0" i="0">
                <a:solidFill>
                  <a:srgbClr val="222222"/>
                </a:solidFill>
                <a:latin typeface="Consolas"/>
              </a:rPr>
              <a:t>                        - Q_theta(s, a) ) ^ 2</a:t>
            </a:r>
          </a:p>
          <a:p>
            <a:pPr>
              <a:lnSpc>
                <a:spcPct val="100000"/>
              </a:lnSpc>
              <a:spcAft>
                <a:spcPts val="0"/>
              </a:spcAft>
            </a:pPr>
            <a:r>
              <a:rPr sz="1000" b="0" i="0">
                <a:solidFill>
                  <a:srgbClr val="222222"/>
                </a:solidFill>
                <a:latin typeface="Consolas"/>
              </a:rPr>
              <a:t>        every C steps:  theta- &lt;- theta</a:t>
            </a:r>
          </a:p>
          <a:p>
            <a:pPr>
              <a:lnSpc>
                <a:spcPct val="100000"/>
              </a:lnSpc>
              <a:spcAft>
                <a:spcPts val="0"/>
              </a:spcAft>
            </a:pPr>
            <a:r>
              <a:rPr sz="1000" b="0" i="0">
                <a:solidFill>
                  <a:srgbClr val="222222"/>
                </a:solidFill>
                <a:latin typeface="Consolas"/>
              </a:rPr>
              <a:t>        s &lt;- s'</a:t>
            </a:r>
          </a:p>
          <a:p>
            <a:pPr>
              <a:lnSpc>
                <a:spcPct val="100000"/>
              </a:lnSpc>
              <a:spcAft>
                <a:spcPts val="0"/>
              </a:spcAft>
            </a:pPr>
            <a:r>
              <a:rPr sz="1000" b="0" i="0">
                <a:solidFill>
                  <a:srgbClr val="222222"/>
                </a:solidFill>
                <a:latin typeface="Consolas"/>
              </a:rPr>
              <a:t> </a:t>
            </a:r>
          </a:p>
          <a:p>
            <a:pPr>
              <a:lnSpc>
                <a:spcPct val="100000"/>
              </a:lnSpc>
              <a:spcAft>
                <a:spcPts val="0"/>
              </a:spcAft>
            </a:pPr>
            <a:r>
              <a:rPr sz="1000" b="0" i="1">
                <a:solidFill>
                  <a:srgbClr val="595959"/>
                </a:solidFill>
                <a:latin typeface="Consolas"/>
              </a:rPr>
              <a:t># PPO variant: same env, actor-critic, clipped surrogate</a:t>
            </a:r>
          </a:p>
          <a:p>
            <a:pPr>
              <a:lnSpc>
                <a:spcPct val="100000"/>
              </a:lnSpc>
              <a:spcAft>
                <a:spcPts val="0"/>
              </a:spcAft>
            </a:pPr>
            <a:r>
              <a:rPr sz="1000" b="0" i="1">
                <a:solidFill>
                  <a:srgbClr val="595959"/>
                </a:solidFill>
                <a:latin typeface="Consolas"/>
              </a:rPr>
              <a:t># objective - used if the action space is widened.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12</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2  Existing vs. Proposed – Comparison</a:t>
            </a:r>
          </a:p>
        </p:txBody>
      </p:sp>
      <p:graphicFrame>
        <p:nvGraphicFramePr>
          <p:cNvPr id="7" name="Table 6"/>
          <p:cNvGraphicFramePr>
            <a:graphicFrameLocks noGrp="1"/>
          </p:cNvGraphicFramePr>
          <p:nvPr/>
        </p:nvGraphicFramePr>
        <p:xfrm>
          <a:off x="502920" y="1755648"/>
          <a:ext cx="11183112" cy="4178808"/>
        </p:xfrm>
        <a:graphic>
          <a:graphicData uri="http://schemas.openxmlformats.org/drawingml/2006/table">
            <a:tbl>
              <a:tblPr>
                <a:tableStyleId>{5C22544A-7EE6-4342-B048-85BDC9FD1C3A}</a:tableStyleId>
              </a:tblPr>
              <a:tblGrid>
                <a:gridCol w="2331720"/>
                <a:gridCol w="3840480"/>
                <a:gridCol w="5010912"/>
              </a:tblGrid>
              <a:tr h="310896">
                <a:tc>
                  <a:txBody>
                    <a:bodyPr wrap="square"/>
                    <a:lstStyle/>
                    <a:p>
                      <a:pPr>
                        <a:lnSpc>
                          <a:spcPct val="95000"/>
                        </a:lnSpc>
                      </a:pPr>
                      <a:r>
                        <a:rPr sz="1100" b="1" i="0">
                          <a:solidFill>
                            <a:srgbClr val="FFFFFF"/>
                          </a:solidFill>
                          <a:latin typeface="Calibri"/>
                        </a:rPr>
                        <a:t>Design dimension</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Existing (E1 – E3, static)</a:t>
                      </a:r>
                    </a:p>
                  </a:txBody>
                  <a:tcPr marL="64008" marR="45720" marT="18288" marB="18288" anchor="ctr">
                    <a:solidFill>
                      <a:srgbClr val="1F3864"/>
                    </a:solidFill>
                  </a:tcPr>
                </a:tc>
                <a:tc>
                  <a:txBody>
                    <a:bodyPr wrap="square"/>
                    <a:lstStyle/>
                    <a:p>
                      <a:pPr>
                        <a:lnSpc>
                          <a:spcPct val="95000"/>
                        </a:lnSpc>
                      </a:pPr>
                      <a:r>
                        <a:rPr sz="1100" b="1" i="0">
                          <a:solidFill>
                            <a:srgbClr val="FFFFFF"/>
                          </a:solidFill>
                          <a:latin typeface="Calibri"/>
                        </a:rPr>
                        <a:t>Proposed (P1 – P3, adaptive)</a:t>
                      </a:r>
                    </a:p>
                  </a:txBody>
                  <a:tcPr marL="64008" marR="45720" marT="18288" marB="18288" anchor="ctr">
                    <a:solidFill>
                      <a:srgbClr val="1F3864"/>
                    </a:solidFill>
                  </a:tcPr>
                </a:tc>
              </a:tr>
              <a:tr h="429768">
                <a:tc>
                  <a:txBody>
                    <a:bodyPr wrap="square"/>
                    <a:lstStyle/>
                    <a:p>
                      <a:pPr>
                        <a:lnSpc>
                          <a:spcPct val="95000"/>
                        </a:lnSpc>
                      </a:pPr>
                      <a:r>
                        <a:rPr sz="1050" b="1" i="0">
                          <a:solidFill>
                            <a:srgbClr val="1F3864"/>
                          </a:solidFill>
                          <a:latin typeface="Calibri"/>
                        </a:rPr>
                        <a:t>Submission trigger</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Constant order count M or wall-clock timer T</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Learned decision from the congestion forecast and the live queue state</a:t>
                      </a:r>
                    </a:p>
                  </a:txBody>
                  <a:tcPr marL="64008" marR="45720" marT="18288" marB="18288" anchor="ctr">
                    <a:solidFill>
                      <a:srgbClr val="FFFFFF"/>
                    </a:solidFill>
                  </a:tcPr>
                </a:tc>
              </a:tr>
              <a:tr h="429768">
                <a:tc>
                  <a:txBody>
                    <a:bodyPr wrap="square"/>
                    <a:lstStyle/>
                    <a:p>
                      <a:pPr>
                        <a:lnSpc>
                          <a:spcPct val="95000"/>
                        </a:lnSpc>
                      </a:pPr>
                      <a:r>
                        <a:rPr sz="1050" b="1" i="0">
                          <a:solidFill>
                            <a:srgbClr val="1F3864"/>
                          </a:solidFill>
                          <a:latin typeface="Calibri"/>
                        </a:rPr>
                        <a:t>Chain awareness</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None – the chain is never read before deciding</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Explicit forecast of next-block fill % and ExUnit headroom</a:t>
                      </a:r>
                    </a:p>
                  </a:txBody>
                  <a:tcPr marL="64008" marR="45720" marT="18288" marB="18288" anchor="ctr">
                    <a:solidFill>
                      <a:srgbClr val="F4F7FB"/>
                    </a:solidFill>
                  </a:tcPr>
                </a:tc>
              </a:tr>
              <a:tr h="429768">
                <a:tc>
                  <a:txBody>
                    <a:bodyPr wrap="square"/>
                    <a:lstStyle/>
                    <a:p>
                      <a:pPr>
                        <a:lnSpc>
                          <a:spcPct val="95000"/>
                        </a:lnSpc>
                      </a:pPr>
                      <a:r>
                        <a:rPr sz="1050" b="1" i="0">
                          <a:solidFill>
                            <a:srgbClr val="1F3864"/>
                          </a:solidFill>
                          <a:latin typeface="Calibri"/>
                        </a:rPr>
                        <a:t>Capacity constraint</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Checked after the batch is built, or not at all</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Enforced inside the decision, so an infeasible batch is never proposed</a:t>
                      </a:r>
                    </a:p>
                  </a:txBody>
                  <a:tcPr marL="64008" marR="45720" marT="18288" marB="18288" anchor="ctr">
                    <a:solidFill>
                      <a:srgbClr val="FFFFFF"/>
                    </a:solidFill>
                  </a:tcPr>
                </a:tc>
              </a:tr>
              <a:tr h="429768">
                <a:tc>
                  <a:txBody>
                    <a:bodyPr wrap="square"/>
                    <a:lstStyle/>
                    <a:p>
                      <a:pPr>
                        <a:lnSpc>
                          <a:spcPct val="95000"/>
                        </a:lnSpc>
                      </a:pPr>
                      <a:r>
                        <a:rPr sz="1050" b="1" i="0">
                          <a:solidFill>
                            <a:srgbClr val="1F3864"/>
                          </a:solidFill>
                          <a:latin typeface="Calibri"/>
                        </a:rPr>
                        <a:t>Batch size</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Fixed, or “everything waiting”</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Chosen per slot as a function of predicted free capacity</a:t>
                      </a:r>
                    </a:p>
                  </a:txBody>
                  <a:tcPr marL="64008" marR="45720" marT="18288" marB="18288" anchor="ctr">
                    <a:solidFill>
                      <a:srgbClr val="F4F7FB"/>
                    </a:solidFill>
                  </a:tcPr>
                </a:tc>
              </a:tr>
              <a:tr h="429768">
                <a:tc>
                  <a:txBody>
                    <a:bodyPr wrap="square"/>
                    <a:lstStyle/>
                    <a:p>
                      <a:pPr>
                        <a:lnSpc>
                          <a:spcPct val="95000"/>
                        </a:lnSpc>
                      </a:pPr>
                      <a:r>
                        <a:rPr sz="1050" b="1" i="0">
                          <a:solidFill>
                            <a:srgbClr val="1F3864"/>
                          </a:solidFill>
                          <a:latin typeface="Calibri"/>
                        </a:rPr>
                        <a:t>Objective</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Implicit – none is stated</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Explicit: per-user cost + latency + slippage, with a bounce penalty</a:t>
                      </a:r>
                    </a:p>
                  </a:txBody>
                  <a:tcPr marL="64008" marR="45720" marT="18288" marB="18288" anchor="ctr">
                    <a:solidFill>
                      <a:srgbClr val="FFFFFF"/>
                    </a:solidFill>
                  </a:tcPr>
                </a:tc>
              </a:tr>
              <a:tr h="429768">
                <a:tc>
                  <a:txBody>
                    <a:bodyPr wrap="square"/>
                    <a:lstStyle/>
                    <a:p>
                      <a:pPr>
                        <a:lnSpc>
                          <a:spcPct val="95000"/>
                        </a:lnSpc>
                      </a:pPr>
                      <a:r>
                        <a:rPr sz="1050" b="1" i="0">
                          <a:solidFill>
                            <a:srgbClr val="1F3864"/>
                          </a:solidFill>
                          <a:latin typeface="Calibri"/>
                        </a:rPr>
                        <a:t>Starvation handling</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None under a pure size rule</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Hard deadline D_max in P2, latency term in the P3 reward</a:t>
                      </a:r>
                    </a:p>
                  </a:txBody>
                  <a:tcPr marL="64008" marR="45720" marT="18288" marB="18288" anchor="ctr">
                    <a:solidFill>
                      <a:srgbClr val="F4F7FB"/>
                    </a:solidFill>
                  </a:tcPr>
                </a:tc>
              </a:tr>
              <a:tr h="429768">
                <a:tc>
                  <a:txBody>
                    <a:bodyPr wrap="square"/>
                    <a:lstStyle/>
                    <a:p>
                      <a:pPr>
                        <a:lnSpc>
                          <a:spcPct val="95000"/>
                        </a:lnSpc>
                      </a:pPr>
                      <a:r>
                        <a:rPr sz="1050" b="1" i="0">
                          <a:solidFill>
                            <a:srgbClr val="1F3864"/>
                          </a:solidFill>
                          <a:latin typeface="Calibri"/>
                        </a:rPr>
                        <a:t>Learning from outcomes</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Open-loop – a bounce teaches nothing</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Closed-loop – the inclusion result is the reward and the evaluation signal</a:t>
                      </a:r>
                    </a:p>
                  </a:txBody>
                  <a:tcPr marL="64008" marR="45720" marT="18288" marB="18288" anchor="ctr">
                    <a:solidFill>
                      <a:srgbClr val="FFFFFF"/>
                    </a:solidFill>
                  </a:tcPr>
                </a:tc>
              </a:tr>
              <a:tr h="429768">
                <a:tc>
                  <a:txBody>
                    <a:bodyPr wrap="square"/>
                    <a:lstStyle/>
                    <a:p>
                      <a:pPr>
                        <a:lnSpc>
                          <a:spcPct val="95000"/>
                        </a:lnSpc>
                      </a:pPr>
                      <a:r>
                        <a:rPr sz="1050" b="1" i="0">
                          <a:solidFill>
                            <a:srgbClr val="1F3864"/>
                          </a:solidFill>
                          <a:latin typeface="Calibri"/>
                        </a:rPr>
                        <a:t>Per-slot complexity</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O(1)</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O(|Q|) for P2;  one forward pass for P1 / P3, well inside a 20 s slot</a:t>
                      </a:r>
                    </a:p>
                  </a:txBody>
                  <a:tcPr marL="64008" marR="45720" marT="18288" marB="18288" anchor="ctr">
                    <a:solidFill>
                      <a:srgbClr val="F4F7FB"/>
                    </a:solidFill>
                  </a:tcPr>
                </a:tc>
              </a:tr>
              <a:tr h="429768">
                <a:tc>
                  <a:txBody>
                    <a:bodyPr wrap="square"/>
                    <a:lstStyle/>
                    <a:p>
                      <a:pPr>
                        <a:lnSpc>
                          <a:spcPct val="95000"/>
                        </a:lnSpc>
                      </a:pPr>
                      <a:r>
                        <a:rPr sz="1050" b="1" i="0">
                          <a:solidFill>
                            <a:srgbClr val="1F3864"/>
                          </a:solidFill>
                          <a:latin typeface="Calibri"/>
                        </a:rPr>
                        <a:t>Cost of the approach</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No training, no data, no tuning</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Needs a dataset, offline training and reward tuning – the price of adaptivity</a:t>
                      </a:r>
                    </a:p>
                  </a:txBody>
                  <a:tcPr marL="64008" marR="45720" marT="18288" marB="18288" anchor="ct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13</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Datasets – Overview</a:t>
            </a:r>
          </a:p>
        </p:txBody>
      </p:sp>
      <p:sp>
        <p:nvSpPr>
          <p:cNvPr id="7" name="Rounded Rectangle 6"/>
          <p:cNvSpPr/>
          <p:nvPr/>
        </p:nvSpPr>
        <p:spPr>
          <a:xfrm>
            <a:off x="502920" y="1755648"/>
            <a:ext cx="5413248" cy="2706624"/>
          </a:xfrm>
          <a:prstGeom prst="roundRect">
            <a:avLst>
              <a:gd name="adj" fmla="val 8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18872" bIns="27432"/>
          <a:lstStyle/>
          <a:p>
            <a:pPr algn="ctr"/>
            <a:r>
              <a:rPr sz="1450" b="1" i="0">
                <a:solidFill>
                  <a:srgbClr val="1F3864"/>
                </a:solidFill>
                <a:latin typeface="Calibri"/>
              </a:rPr>
              <a:t>Secondary data  –  collected, not generated</a:t>
            </a:r>
          </a:p>
          <a:p>
            <a:pPr>
              <a:lnSpc>
                <a:spcPct val="100000"/>
              </a:lnSpc>
              <a:spcBef>
                <a:spcPts val="600"/>
              </a:spcBef>
            </a:pPr>
            <a:r>
              <a:rPr sz="1150" b="1" i="0">
                <a:solidFill>
                  <a:srgbClr val="595959"/>
                </a:solidFill>
                <a:latin typeface="Calibri"/>
              </a:rPr>
              <a:t>•  </a:t>
            </a:r>
            <a:r>
              <a:rPr sz="1150" b="1" i="0">
                <a:solidFill>
                  <a:srgbClr val="1F3864"/>
                </a:solidFill>
                <a:latin typeface="Calibri"/>
              </a:rPr>
              <a:t>D1  Cardano block congestion history:  </a:t>
            </a:r>
            <a:r>
              <a:rPr sz="1150" b="0" i="0">
                <a:solidFill>
                  <a:srgbClr val="222222"/>
                </a:solidFill>
                <a:latin typeface="Calibri"/>
              </a:rPr>
              <a:t>block height, slot, body size, tx count and Plutus execution units for every block over the study window.</a:t>
            </a:r>
          </a:p>
          <a:p>
            <a:pPr>
              <a:lnSpc>
                <a:spcPct val="100000"/>
              </a:lnSpc>
              <a:spcBef>
                <a:spcPts val="600"/>
              </a:spcBef>
            </a:pPr>
            <a:r>
              <a:rPr sz="1150" b="1" i="0">
                <a:solidFill>
                  <a:srgbClr val="595959"/>
                </a:solidFill>
                <a:latin typeface="Calibri"/>
              </a:rPr>
              <a:t>•  </a:t>
            </a:r>
            <a:r>
              <a:rPr sz="1150" b="1" i="0">
                <a:solidFill>
                  <a:srgbClr val="1F3864"/>
                </a:solidFill>
                <a:latin typeface="Calibri"/>
              </a:rPr>
              <a:t>Sources:  </a:t>
            </a:r>
            <a:r>
              <a:rPr sz="1150" b="0" i="0">
                <a:solidFill>
                  <a:srgbClr val="222222"/>
                </a:solidFill>
                <a:latin typeface="Calibri"/>
              </a:rPr>
              <a:t>Koios REST API (free, no key), Blockfrost API (free tier), and cardano-db-sync for per-block execution units.</a:t>
            </a:r>
          </a:p>
          <a:p>
            <a:pPr>
              <a:lnSpc>
                <a:spcPct val="100000"/>
              </a:lnSpc>
              <a:spcBef>
                <a:spcPts val="600"/>
              </a:spcBef>
            </a:pPr>
            <a:r>
              <a:rPr sz="1150" b="1" i="0">
                <a:solidFill>
                  <a:srgbClr val="595959"/>
                </a:solidFill>
                <a:latin typeface="Calibri"/>
              </a:rPr>
              <a:t>•  </a:t>
            </a:r>
            <a:r>
              <a:rPr sz="1150" b="1" i="0">
                <a:solidFill>
                  <a:srgbClr val="1F3864"/>
                </a:solidFill>
                <a:latin typeface="Calibri"/>
              </a:rPr>
              <a:t>Volume:  </a:t>
            </a:r>
            <a:r>
              <a:rPr sz="1150" b="0" i="0">
                <a:solidFill>
                  <a:srgbClr val="222222"/>
                </a:solidFill>
                <a:latin typeface="Calibri"/>
              </a:rPr>
              <a:t>~4,300 blocks/day × 90 days ≈ 390,000 rows (≈ 40 MB CSV).</a:t>
            </a:r>
          </a:p>
          <a:p>
            <a:pPr>
              <a:lnSpc>
                <a:spcPct val="100000"/>
              </a:lnSpc>
              <a:spcBef>
                <a:spcPts val="600"/>
              </a:spcBef>
            </a:pPr>
            <a:r>
              <a:rPr sz="1150" b="1" i="0">
                <a:solidFill>
                  <a:srgbClr val="595959"/>
                </a:solidFill>
                <a:latin typeface="Calibri"/>
              </a:rPr>
              <a:t>•  </a:t>
            </a:r>
            <a:r>
              <a:rPr sz="1150" b="1" i="0">
                <a:solidFill>
                  <a:srgbClr val="1F3864"/>
                </a:solidFill>
                <a:latin typeface="Calibri"/>
              </a:rPr>
              <a:t>Nature:  </a:t>
            </a:r>
            <a:r>
              <a:rPr sz="1150" b="0" i="0">
                <a:solidFill>
                  <a:srgbClr val="222222"/>
                </a:solidFill>
                <a:latin typeface="Calibri"/>
              </a:rPr>
              <a:t>public on-chain data, no personal or identifying information, free to redistribute – so the curated dataset is itself a deliverable.</a:t>
            </a:r>
          </a:p>
          <a:p>
            <a:pPr>
              <a:lnSpc>
                <a:spcPct val="100000"/>
              </a:lnSpc>
              <a:spcBef>
                <a:spcPts val="600"/>
              </a:spcBef>
            </a:pPr>
            <a:r>
              <a:rPr sz="1150" b="1" i="0">
                <a:solidFill>
                  <a:srgbClr val="595959"/>
                </a:solidFill>
                <a:latin typeface="Calibri"/>
              </a:rPr>
              <a:t>•  </a:t>
            </a:r>
            <a:r>
              <a:rPr sz="1150" b="1" i="0">
                <a:solidFill>
                  <a:srgbClr val="1F3864"/>
                </a:solidFill>
                <a:latin typeface="Calibri"/>
              </a:rPr>
              <a:t>Role:  </a:t>
            </a:r>
            <a:r>
              <a:rPr sz="1150" b="0" i="0">
                <a:solidFill>
                  <a:srgbClr val="222222"/>
                </a:solidFill>
                <a:latin typeface="Calibri"/>
              </a:rPr>
              <a:t>trains and tests P1, and drives the background congestion the simulator replays.</a:t>
            </a:r>
          </a:p>
        </p:txBody>
      </p:sp>
      <p:sp>
        <p:nvSpPr>
          <p:cNvPr id="8" name="Rounded Rectangle 7"/>
          <p:cNvSpPr/>
          <p:nvPr/>
        </p:nvSpPr>
        <p:spPr>
          <a:xfrm>
            <a:off x="6272784" y="1755648"/>
            <a:ext cx="5413248" cy="2706624"/>
          </a:xfrm>
          <a:prstGeom prst="roundRect">
            <a:avLst>
              <a:gd name="adj" fmla="val 8000"/>
            </a:avLst>
          </a:prstGeom>
          <a:solidFill>
            <a:srgbClr val="F5F8FC"/>
          </a:solidFill>
          <a:ln w="12700">
            <a:solidFill>
              <a:srgbClr val="2E5395"/>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54864" tIns="118872" bIns="27432"/>
          <a:lstStyle/>
          <a:p>
            <a:pPr algn="ctr"/>
            <a:r>
              <a:rPr sz="1450" b="1" i="0">
                <a:solidFill>
                  <a:srgbClr val="1F3864"/>
                </a:solidFill>
                <a:latin typeface="Calibri"/>
              </a:rPr>
              <a:t>Primary data  –  produced by this project</a:t>
            </a:r>
          </a:p>
          <a:p>
            <a:pPr>
              <a:lnSpc>
                <a:spcPct val="100000"/>
              </a:lnSpc>
              <a:spcBef>
                <a:spcPts val="500"/>
              </a:spcBef>
            </a:pPr>
            <a:r>
              <a:rPr sz="1100" b="1" i="0">
                <a:solidFill>
                  <a:srgbClr val="2E5395"/>
                </a:solidFill>
                <a:latin typeface="Calibri"/>
              </a:rPr>
              <a:t>•  </a:t>
            </a:r>
            <a:r>
              <a:rPr sz="1100" b="1" i="0">
                <a:solidFill>
                  <a:srgbClr val="1F3864"/>
                </a:solidFill>
                <a:latin typeface="Calibri"/>
              </a:rPr>
              <a:t>D2  Order stream:  </a:t>
            </a:r>
            <a:r>
              <a:rPr sz="1100" b="0" i="0">
                <a:solidFill>
                  <a:srgbClr val="222222"/>
                </a:solidFill>
                <a:latin typeface="Calibri"/>
              </a:rPr>
              <a:t>swap orders generated by our simulator – arrival slot, pair, amount, slippage tolerance, tx size and ExUnit cost.</a:t>
            </a:r>
          </a:p>
          <a:p>
            <a:pPr>
              <a:lnSpc>
                <a:spcPct val="100000"/>
              </a:lnSpc>
              <a:spcBef>
                <a:spcPts val="500"/>
              </a:spcBef>
            </a:pPr>
            <a:r>
              <a:rPr sz="1100" b="1" i="0">
                <a:solidFill>
                  <a:srgbClr val="2E5395"/>
                </a:solidFill>
                <a:latin typeface="Calibri"/>
              </a:rPr>
              <a:t>•  </a:t>
            </a:r>
            <a:r>
              <a:rPr sz="1100" b="1" i="0">
                <a:solidFill>
                  <a:srgbClr val="1F3864"/>
                </a:solidFill>
                <a:latin typeface="Calibri"/>
              </a:rPr>
              <a:t>D3  Batcher decision log:  </a:t>
            </a:r>
            <a:r>
              <a:rPr sz="1100" b="0" i="0">
                <a:solidFill>
                  <a:srgbClr val="222222"/>
                </a:solidFill>
                <a:latin typeface="Calibri"/>
              </a:rPr>
              <a:t>one row per block slot – queue state, forecast, chosen action, batch composition and the realised outcome.</a:t>
            </a:r>
          </a:p>
          <a:p>
            <a:pPr>
              <a:lnSpc>
                <a:spcPct val="100000"/>
              </a:lnSpc>
              <a:spcBef>
                <a:spcPts val="500"/>
              </a:spcBef>
            </a:pPr>
            <a:r>
              <a:rPr sz="1100" b="1" i="0">
                <a:solidFill>
                  <a:srgbClr val="2E5395"/>
                </a:solidFill>
                <a:latin typeface="Calibri"/>
              </a:rPr>
              <a:t>•  </a:t>
            </a:r>
            <a:r>
              <a:rPr sz="1100" b="1" i="0">
                <a:solidFill>
                  <a:srgbClr val="1F3864"/>
                </a:solidFill>
                <a:latin typeface="Calibri"/>
              </a:rPr>
              <a:t>D4  Preprod testnet log:  </a:t>
            </a:r>
            <a:r>
              <a:rPr sz="1100" b="0" i="0">
                <a:solidFill>
                  <a:srgbClr val="222222"/>
                </a:solidFill>
                <a:latin typeface="Calibri"/>
              </a:rPr>
              <a:t>real submissions from our own Aiken DEX – tx hash, submission and confirmation slot, actual fee, included or bounced.</a:t>
            </a:r>
          </a:p>
          <a:p>
            <a:pPr>
              <a:lnSpc>
                <a:spcPct val="100000"/>
              </a:lnSpc>
              <a:spcBef>
                <a:spcPts val="500"/>
              </a:spcBef>
            </a:pPr>
            <a:r>
              <a:rPr sz="1100" b="1" i="0">
                <a:solidFill>
                  <a:srgbClr val="2E5395"/>
                </a:solidFill>
                <a:latin typeface="Calibri"/>
              </a:rPr>
              <a:t>•  </a:t>
            </a:r>
            <a:r>
              <a:rPr sz="1100" b="1" i="0">
                <a:solidFill>
                  <a:srgbClr val="1F3864"/>
                </a:solidFill>
                <a:latin typeface="Calibri"/>
              </a:rPr>
              <a:t>Why generated:  </a:t>
            </a:r>
            <a:r>
              <a:rPr sz="1100" b="0" i="0">
                <a:solidFill>
                  <a:srgbClr val="222222"/>
                </a:solidFill>
                <a:latin typeface="Calibri"/>
              </a:rPr>
              <a:t>per-order data is not published by any DEX and experiments cannot be run on mainnet, so the order side must be simulated – calibrated against D1.</a:t>
            </a:r>
          </a:p>
          <a:p>
            <a:pPr>
              <a:lnSpc>
                <a:spcPct val="100000"/>
              </a:lnSpc>
              <a:spcBef>
                <a:spcPts val="500"/>
              </a:spcBef>
            </a:pPr>
            <a:r>
              <a:rPr sz="1100" b="1" i="0">
                <a:solidFill>
                  <a:srgbClr val="2E5395"/>
                </a:solidFill>
                <a:latin typeface="Calibri"/>
              </a:rPr>
              <a:t>•  </a:t>
            </a:r>
            <a:r>
              <a:rPr sz="1100" b="1" i="0">
                <a:solidFill>
                  <a:srgbClr val="1F3864"/>
                </a:solidFill>
                <a:latin typeface="Calibri"/>
              </a:rPr>
              <a:t>Role:  </a:t>
            </a:r>
            <a:r>
              <a:rPr sz="1100" b="0" i="0">
                <a:solidFill>
                  <a:srgbClr val="222222"/>
                </a:solidFill>
                <a:latin typeface="Calibri"/>
              </a:rPr>
              <a:t>D2 + D3 train and evaluate P2 and P3;  D4 checks the simulator against the real chain.</a:t>
            </a:r>
          </a:p>
        </p:txBody>
      </p:sp>
      <p:sp>
        <p:nvSpPr>
          <p:cNvPr id="9" name="TextBox 8"/>
          <p:cNvSpPr txBox="1"/>
          <p:nvPr/>
        </p:nvSpPr>
        <p:spPr>
          <a:xfrm>
            <a:off x="502920" y="4572000"/>
            <a:ext cx="11183112" cy="274320"/>
          </a:xfrm>
          <a:prstGeom prst="rect">
            <a:avLst/>
          </a:prstGeom>
          <a:noFill/>
        </p:spPr>
        <p:txBody>
          <a:bodyPr wrap="square" lIns="0" rIns="0" tIns="0" bIns="0"/>
          <a:lstStyle/>
          <a:p>
            <a:pPr algn="l"/>
            <a:r>
              <a:rPr sz="1400" b="1" i="0">
                <a:solidFill>
                  <a:srgbClr val="1F3864"/>
                </a:solidFill>
                <a:latin typeface="Calibri"/>
              </a:rPr>
              <a:t>Split and preprocessing</a:t>
            </a:r>
          </a:p>
        </p:txBody>
      </p:sp>
      <p:graphicFrame>
        <p:nvGraphicFramePr>
          <p:cNvPr id="10" name="Table 9"/>
          <p:cNvGraphicFramePr>
            <a:graphicFrameLocks noGrp="1"/>
          </p:cNvGraphicFramePr>
          <p:nvPr/>
        </p:nvGraphicFramePr>
        <p:xfrm>
          <a:off x="502920" y="4864608"/>
          <a:ext cx="11183112" cy="1463040"/>
        </p:xfrm>
        <a:graphic>
          <a:graphicData uri="http://schemas.openxmlformats.org/drawingml/2006/table">
            <a:tbl>
              <a:tblPr>
                <a:tableStyleId>{5C22544A-7EE6-4342-B048-85BDC9FD1C3A}</a:tableStyleId>
              </a:tblPr>
              <a:tblGrid>
                <a:gridCol w="1234440"/>
                <a:gridCol w="9948672"/>
              </a:tblGrid>
              <a:tr h="256032">
                <a:tc>
                  <a:txBody>
                    <a:bodyPr wrap="square"/>
                    <a:lstStyle/>
                    <a:p>
                      <a:pPr>
                        <a:lnSpc>
                          <a:spcPct val="95000"/>
                        </a:lnSpc>
                      </a:pPr>
                      <a:r>
                        <a:rPr sz="1050" b="1" i="0">
                          <a:solidFill>
                            <a:srgbClr val="FFFFFF"/>
                          </a:solidFill>
                          <a:latin typeface="Calibri"/>
                        </a:rPr>
                        <a:t>Step</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Treatment</a:t>
                      </a:r>
                    </a:p>
                  </a:txBody>
                  <a:tcPr marL="64008" marR="45720" marT="18288" marB="18288" anchor="ctr">
                    <a:solidFill>
                      <a:srgbClr val="1F3864"/>
                    </a:solidFill>
                  </a:tcPr>
                </a:tc>
              </a:tr>
              <a:tr h="402336">
                <a:tc>
                  <a:txBody>
                    <a:bodyPr wrap="square"/>
                    <a:lstStyle/>
                    <a:p>
                      <a:pPr>
                        <a:lnSpc>
                          <a:spcPct val="95000"/>
                        </a:lnSpc>
                      </a:pPr>
                      <a:r>
                        <a:rPr sz="1050" b="1" i="0">
                          <a:solidFill>
                            <a:srgbClr val="1F3864"/>
                          </a:solidFill>
                          <a:latin typeface="Calibri"/>
                        </a:rPr>
                        <a:t>Split</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Chronological, never shuffled – oldest 70% train, next 15% validation, newest 15% test. Shuffling would leak future congestion into training.</a:t>
                      </a:r>
                    </a:p>
                  </a:txBody>
                  <a:tcPr marL="64008" marR="45720" marT="18288" marB="18288" anchor="ctr">
                    <a:solidFill>
                      <a:srgbClr val="FFFFFF"/>
                    </a:solidFill>
                  </a:tcPr>
                </a:tc>
              </a:tr>
              <a:tr h="402336">
                <a:tc>
                  <a:txBody>
                    <a:bodyPr wrap="square"/>
                    <a:lstStyle/>
                    <a:p>
                      <a:pPr>
                        <a:lnSpc>
                          <a:spcPct val="95000"/>
                        </a:lnSpc>
                      </a:pPr>
                      <a:r>
                        <a:rPr sz="1050" b="1" i="0">
                          <a:solidFill>
                            <a:srgbClr val="1F3864"/>
                          </a:solidFill>
                          <a:latin typeface="Calibri"/>
                        </a:rPr>
                        <a:t>Cleaning</a:t>
                      </a:r>
                    </a:p>
                  </a:txBody>
                  <a:tcPr marL="64008" marR="45720" marT="18288" marB="18288" anchor="ctr">
                    <a:solidFill>
                      <a:srgbClr val="F4F7FB"/>
                    </a:solidFill>
                  </a:tcPr>
                </a:tc>
                <a:tc>
                  <a:txBody>
                    <a:bodyPr wrap="square"/>
                    <a:lstStyle/>
                    <a:p>
                      <a:pPr>
                        <a:lnSpc>
                          <a:spcPct val="95000"/>
                        </a:lnSpc>
                      </a:pPr>
                      <a:r>
                        <a:rPr sz="1050" b="0" i="0">
                          <a:solidFill>
                            <a:srgbClr val="222222"/>
                          </a:solidFill>
                          <a:latin typeface="Calibri"/>
                        </a:rPr>
                        <a:t>Drop epoch-boundary blocks with missing ExUnit rows; forward-fill at most one missing slot; clip fill fraction to [0, 1].</a:t>
                      </a:r>
                    </a:p>
                  </a:txBody>
                  <a:tcPr marL="64008" marR="45720" marT="18288" marB="18288" anchor="ctr">
                    <a:solidFill>
                      <a:srgbClr val="F4F7FB"/>
                    </a:solidFill>
                  </a:tcPr>
                </a:tc>
              </a:tr>
              <a:tr h="402336">
                <a:tc>
                  <a:txBody>
                    <a:bodyPr wrap="square"/>
                    <a:lstStyle/>
                    <a:p>
                      <a:pPr>
                        <a:lnSpc>
                          <a:spcPct val="95000"/>
                        </a:lnSpc>
                      </a:pPr>
                      <a:r>
                        <a:rPr sz="1050" b="1" i="0">
                          <a:solidFill>
                            <a:srgbClr val="1F3864"/>
                          </a:solidFill>
                          <a:latin typeface="Calibri"/>
                        </a:rPr>
                        <a:t>Derived fields</a:t>
                      </a:r>
                    </a:p>
                  </a:txBody>
                  <a:tcPr marL="64008" marR="45720" marT="18288" marB="18288" anchor="ctr">
                    <a:solidFill>
                      <a:srgbClr val="FFFFFF"/>
                    </a:solidFill>
                  </a:tcPr>
                </a:tc>
                <a:tc>
                  <a:txBody>
                    <a:bodyPr wrap="square"/>
                    <a:lstStyle/>
                    <a:p>
                      <a:pPr>
                        <a:lnSpc>
                          <a:spcPct val="95000"/>
                        </a:lnSpc>
                      </a:pPr>
                      <a:r>
                        <a:rPr sz="1050" b="0" i="0">
                          <a:solidFill>
                            <a:srgbClr val="222222"/>
                          </a:solidFill>
                          <a:latin typeface="Calibri"/>
                        </a:rPr>
                        <a:t>fill_pct = block_size / 90112;  mem_pct, step_pct against the block ExUnit budget;  lag, rolling-mean/std and calendar features.</a:t>
                      </a:r>
                    </a:p>
                  </a:txBody>
                  <a:tcPr marL="64008" marR="45720" marT="18288" marB="18288"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14</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(a)  Secondary Data – Cardano Block Congestion</a:t>
            </a:r>
          </a:p>
        </p:txBody>
      </p:sp>
      <p:sp>
        <p:nvSpPr>
          <p:cNvPr id="7" name="TextBox 6"/>
          <p:cNvSpPr txBox="1"/>
          <p:nvPr/>
        </p:nvSpPr>
        <p:spPr>
          <a:xfrm>
            <a:off x="502920" y="1700784"/>
            <a:ext cx="11183112" cy="219456"/>
          </a:xfrm>
          <a:prstGeom prst="rect">
            <a:avLst/>
          </a:prstGeom>
          <a:noFill/>
        </p:spPr>
        <p:txBody>
          <a:bodyPr wrap="square" lIns="0" rIns="0" tIns="0" bIns="0"/>
          <a:lstStyle/>
          <a:p>
            <a:pPr algn="l"/>
            <a:r>
              <a:rPr sz="1150" b="0" i="0">
                <a:solidFill>
                  <a:srgbClr val="595959"/>
                </a:solidFill>
                <a:latin typeface="Calibri"/>
              </a:rPr>
              <a:t>Dataset D1  –  schema of one row per block, pulled from Koios / Blockfrost / cardano-db-sync.</a:t>
            </a:r>
          </a:p>
        </p:txBody>
      </p:sp>
      <p:graphicFrame>
        <p:nvGraphicFramePr>
          <p:cNvPr id="8" name="Table 7"/>
          <p:cNvGraphicFramePr>
            <a:graphicFrameLocks noGrp="1"/>
          </p:cNvGraphicFramePr>
          <p:nvPr/>
        </p:nvGraphicFramePr>
        <p:xfrm>
          <a:off x="502920" y="1975104"/>
          <a:ext cx="11183112" cy="4078224"/>
        </p:xfrm>
        <a:graphic>
          <a:graphicData uri="http://schemas.openxmlformats.org/drawingml/2006/table">
            <a:tbl>
              <a:tblPr>
                <a:tableStyleId>{5C22544A-7EE6-4342-B048-85BDC9FD1C3A}</a:tableStyleId>
              </a:tblPr>
              <a:tblGrid>
                <a:gridCol w="2103120"/>
                <a:gridCol w="777240"/>
                <a:gridCol w="1920240"/>
                <a:gridCol w="5193792"/>
                <a:gridCol w="1188720"/>
              </a:tblGrid>
              <a:tr h="292608">
                <a:tc>
                  <a:txBody>
                    <a:bodyPr wrap="square"/>
                    <a:lstStyle/>
                    <a:p>
                      <a:pPr>
                        <a:lnSpc>
                          <a:spcPct val="95000"/>
                        </a:lnSpc>
                      </a:pPr>
                      <a:r>
                        <a:rPr sz="1050" b="1" i="0">
                          <a:solidFill>
                            <a:srgbClr val="FFFFFF"/>
                          </a:solidFill>
                          <a:latin typeface="Calibri"/>
                        </a:rPr>
                        <a:t>Field</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Type</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Source</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Meaning / derivation</a:t>
                      </a:r>
                    </a:p>
                  </a:txBody>
                  <a:tcPr marL="64008" marR="45720" marT="18288" marB="18288" anchor="ctr">
                    <a:solidFill>
                      <a:srgbClr val="1F3864"/>
                    </a:solidFill>
                  </a:tcPr>
                </a:tc>
                <a:tc>
                  <a:txBody>
                    <a:bodyPr wrap="square"/>
                    <a:lstStyle/>
                    <a:p>
                      <a:pPr>
                        <a:lnSpc>
                          <a:spcPct val="95000"/>
                        </a:lnSpc>
                      </a:pPr>
                      <a:r>
                        <a:rPr sz="1050" b="1" i="0">
                          <a:solidFill>
                            <a:srgbClr val="FFFFFF"/>
                          </a:solidFill>
                          <a:latin typeface="Calibri"/>
                        </a:rPr>
                        <a:t>Use</a:t>
                      </a:r>
                    </a:p>
                  </a:txBody>
                  <a:tcPr marL="64008" marR="45720" marT="18288" marB="18288" anchor="ctr">
                    <a:solidFill>
                      <a:srgbClr val="1F3864"/>
                    </a:solidFill>
                  </a:tcPr>
                </a:tc>
              </a:tr>
              <a:tr h="315468">
                <a:tc>
                  <a:txBody>
                    <a:bodyPr wrap="square"/>
                    <a:lstStyle/>
                    <a:p>
                      <a:pPr>
                        <a:lnSpc>
                          <a:spcPct val="95000"/>
                        </a:lnSpc>
                      </a:pPr>
                      <a:r>
                        <a:rPr sz="1000" b="1" i="0">
                          <a:solidFill>
                            <a:srgbClr val="1F3864"/>
                          </a:solidFill>
                          <a:latin typeface="Calibri"/>
                        </a:rPr>
                        <a:t>block_height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Koios /blocks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Sequential block number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key</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abs_slot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Koios /blocks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Absolute slot; block time ≈ 20 s on average</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index</a:t>
                      </a:r>
                    </a:p>
                  </a:txBody>
                  <a:tcPr marL="64008" marR="45720" marT="18288" marB="18288" anchor="ctr">
                    <a:solidFill>
                      <a:srgbClr val="F4F7FB"/>
                    </a:solidFill>
                  </a:tcPr>
                </a:tc>
              </a:tr>
              <a:tr h="315468">
                <a:tc>
                  <a:txBody>
                    <a:bodyPr wrap="square"/>
                    <a:lstStyle/>
                    <a:p>
                      <a:pPr>
                        <a:lnSpc>
                          <a:spcPct val="95000"/>
                        </a:lnSpc>
                      </a:pPr>
                      <a:r>
                        <a:rPr sz="1000" b="1" i="0">
                          <a:solidFill>
                            <a:srgbClr val="1F3864"/>
                          </a:solidFill>
                          <a:latin typeface="Calibri"/>
                        </a:rPr>
                        <a:t>block_size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Koios /blocks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Block body size in bytes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raw</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fill_pct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derived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block_size / 90,112  –  the congestion target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target</a:t>
                      </a:r>
                    </a:p>
                  </a:txBody>
                  <a:tcPr marL="64008" marR="45720" marT="18288" marB="18288" anchor="ctr">
                    <a:solidFill>
                      <a:srgbClr val="F4F7FB"/>
                    </a:solidFill>
                  </a:tcPr>
                </a:tc>
              </a:tr>
              <a:tr h="315468">
                <a:tc>
                  <a:txBody>
                    <a:bodyPr wrap="square"/>
                    <a:lstStyle/>
                    <a:p>
                      <a:pPr>
                        <a:lnSpc>
                          <a:spcPct val="95000"/>
                        </a:lnSpc>
                      </a:pPr>
                      <a:r>
                        <a:rPr sz="1000" b="1" i="0">
                          <a:solidFill>
                            <a:srgbClr val="1F3864"/>
                          </a:solidFill>
                          <a:latin typeface="Calibri"/>
                        </a:rPr>
                        <a:t>tx_count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Koios /blocks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Transactions included in the block</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mem_exunits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db-sync / Blockfrost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Plutus memory units consumed by the block</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4F7FB"/>
                    </a:solidFill>
                  </a:tcPr>
                </a:tc>
              </a:tr>
              <a:tr h="315468">
                <a:tc>
                  <a:txBody>
                    <a:bodyPr wrap="square"/>
                    <a:lstStyle/>
                    <a:p>
                      <a:pPr>
                        <a:lnSpc>
                          <a:spcPct val="95000"/>
                        </a:lnSpc>
                      </a:pPr>
                      <a:r>
                        <a:rPr sz="1000" b="1" i="0">
                          <a:solidFill>
                            <a:srgbClr val="1F3864"/>
                          </a:solidFill>
                          <a:latin typeface="Calibri"/>
                        </a:rPr>
                        <a:t>step_exunits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db-sync / Blockfrost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Plutus CPU step units consumed by the block</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mem_pct / step_pct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derived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Against the 62 M mem / 20 G step per-block budget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4F7FB"/>
                    </a:solidFill>
                  </a:tcPr>
                </a:tc>
              </a:tr>
              <a:tr h="315468">
                <a:tc>
                  <a:txBody>
                    <a:bodyPr wrap="square"/>
                    <a:lstStyle/>
                    <a:p>
                      <a:pPr>
                        <a:lnSpc>
                          <a:spcPct val="95000"/>
                        </a:lnSpc>
                      </a:pPr>
                      <a:r>
                        <a:rPr sz="1000" b="1" i="0">
                          <a:solidFill>
                            <a:srgbClr val="1F3864"/>
                          </a:solidFill>
                          <a:latin typeface="Calibri"/>
                        </a:rPr>
                        <a:t>epoch, epoch_slot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Koios /blocks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Epoch context; protocol parameters change per epoch</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control</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hour_of_day, dow</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derived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Calendar features – Cardano has a clear daily rhythm</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4F7FB"/>
                    </a:solidFill>
                  </a:tcPr>
                </a:tc>
              </a:tr>
              <a:tr h="315468">
                <a:tc>
                  <a:txBody>
                    <a:bodyPr wrap="square"/>
                    <a:lstStyle/>
                    <a:p>
                      <a:pPr>
                        <a:lnSpc>
                          <a:spcPct val="95000"/>
                        </a:lnSpc>
                      </a:pPr>
                      <a:r>
                        <a:rPr sz="1000" b="1" i="0">
                          <a:solidFill>
                            <a:srgbClr val="1F3864"/>
                          </a:solidFill>
                          <a:latin typeface="Calibri"/>
                        </a:rPr>
                        <a:t>lag_1 … lag_30</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derived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Fill fraction of the previous k blocks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FFFFF"/>
                    </a:solidFill>
                  </a:tcPr>
                </a:tc>
              </a:tr>
              <a:tr h="315468">
                <a:tc>
                  <a:txBody>
                    <a:bodyPr wrap="square"/>
                    <a:lstStyle/>
                    <a:p>
                      <a:pPr>
                        <a:lnSpc>
                          <a:spcPct val="95000"/>
                        </a:lnSpc>
                      </a:pPr>
                      <a:r>
                        <a:rPr sz="1000" b="1" i="0">
                          <a:solidFill>
                            <a:srgbClr val="1F3864"/>
                          </a:solidFill>
                          <a:latin typeface="Calibri"/>
                        </a:rPr>
                        <a:t>roll_mean_w, roll_std_w</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derived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Rolling statistics over w ∈ {3, 10, 30} blocks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feature</a:t>
                      </a:r>
                    </a:p>
                  </a:txBody>
                  <a:tcPr marL="64008" marR="45720" marT="18288" marB="18288" anchor="ctr">
                    <a:solidFill>
                      <a:srgbClr val="F4F7FB"/>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15</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(a)  Primary Data – Order Stream &amp; Testnet Logs</a:t>
            </a:r>
          </a:p>
        </p:txBody>
      </p:sp>
      <p:sp>
        <p:nvSpPr>
          <p:cNvPr id="7" name="TextBox 6"/>
          <p:cNvSpPr txBox="1"/>
          <p:nvPr/>
        </p:nvSpPr>
        <p:spPr>
          <a:xfrm>
            <a:off x="502920" y="1682496"/>
            <a:ext cx="11183112" cy="219456"/>
          </a:xfrm>
          <a:prstGeom prst="rect">
            <a:avLst/>
          </a:prstGeom>
          <a:noFill/>
        </p:spPr>
        <p:txBody>
          <a:bodyPr wrap="square" lIns="0" rIns="0" tIns="0" bIns="0"/>
          <a:lstStyle/>
          <a:p>
            <a:pPr algn="l"/>
            <a:r>
              <a:rPr sz="1250" b="1" i="0">
                <a:solidFill>
                  <a:srgbClr val="1F3864"/>
                </a:solidFill>
                <a:latin typeface="Calibri"/>
              </a:rPr>
              <a:t>Dataset D2  –  simulated order stream  (one row per order)</a:t>
            </a:r>
          </a:p>
        </p:txBody>
      </p:sp>
      <p:graphicFrame>
        <p:nvGraphicFramePr>
          <p:cNvPr id="8" name="Table 7"/>
          <p:cNvGraphicFramePr>
            <a:graphicFrameLocks noGrp="1"/>
          </p:cNvGraphicFramePr>
          <p:nvPr/>
        </p:nvGraphicFramePr>
        <p:xfrm>
          <a:off x="502920" y="1956816"/>
          <a:ext cx="11183112" cy="1805940"/>
        </p:xfrm>
        <a:graphic>
          <a:graphicData uri="http://schemas.openxmlformats.org/drawingml/2006/table">
            <a:tbl>
              <a:tblPr>
                <a:tableStyleId>{5C22544A-7EE6-4342-B048-85BDC9FD1C3A}</a:tableStyleId>
              </a:tblPr>
              <a:tblGrid>
                <a:gridCol w="1417320"/>
                <a:gridCol w="640080"/>
                <a:gridCol w="3337560"/>
                <a:gridCol w="1600200"/>
                <a:gridCol w="685800"/>
                <a:gridCol w="3502152"/>
              </a:tblGrid>
              <a:tr h="274320">
                <a:tc>
                  <a:txBody>
                    <a:bodyPr wrap="square"/>
                    <a:lstStyle/>
                    <a:p>
                      <a:pPr>
                        <a:lnSpc>
                          <a:spcPct val="95000"/>
                        </a:lnSpc>
                      </a:pPr>
                      <a:r>
                        <a:rPr sz="1000" b="1" i="0">
                          <a:solidFill>
                            <a:srgbClr val="FFFFFF"/>
                          </a:solidFill>
                          <a:latin typeface="Calibri"/>
                        </a:rPr>
                        <a:t>Field</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Type</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Meaning</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Field</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Type</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Meaning</a:t>
                      </a:r>
                    </a:p>
                  </a:txBody>
                  <a:tcPr marL="64008" marR="45720" marT="18288" marB="18288" anchor="ctr">
                    <a:solidFill>
                      <a:srgbClr val="1F3864"/>
                    </a:solidFill>
                  </a:tcPr>
                </a:tc>
              </a:tr>
              <a:tr h="306324">
                <a:tc>
                  <a:txBody>
                    <a:bodyPr wrap="square"/>
                    <a:lstStyle/>
                    <a:p>
                      <a:pPr>
                        <a:lnSpc>
                          <a:spcPct val="95000"/>
                        </a:lnSpc>
                      </a:pPr>
                      <a:r>
                        <a:rPr sz="1000" b="0" i="0">
                          <a:solidFill>
                            <a:srgbClr val="222222"/>
                          </a:solidFill>
                          <a:latin typeface="Calibri"/>
                        </a:rPr>
                        <a:t>order_id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Order identifier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tx_size_bytes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Bytes this order adds to the batch tx</a:t>
                      </a:r>
                    </a:p>
                  </a:txBody>
                  <a:tcPr marL="64008" marR="45720" marT="18288" marB="18288" anchor="ctr">
                    <a:solidFill>
                      <a:srgbClr val="FFFFFF"/>
                    </a:solidFill>
                  </a:tcPr>
                </a:tc>
              </a:tr>
              <a:tr h="306324">
                <a:tc>
                  <a:txBody>
                    <a:bodyPr wrap="square"/>
                    <a:lstStyle/>
                    <a:p>
                      <a:pPr>
                        <a:lnSpc>
                          <a:spcPct val="95000"/>
                        </a:lnSpc>
                      </a:pPr>
                      <a:r>
                        <a:rPr sz="1000" b="0" i="0">
                          <a:solidFill>
                            <a:srgbClr val="222222"/>
                          </a:solidFill>
                          <a:latin typeface="Calibri"/>
                        </a:rPr>
                        <a:t>arrival_slot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Slot at which the order UTXO appears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ex_mem / ex_steps</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Plutus cost of validating this order</a:t>
                      </a:r>
                    </a:p>
                  </a:txBody>
                  <a:tcPr marL="64008" marR="45720" marT="18288" marB="18288" anchor="ctr">
                    <a:solidFill>
                      <a:srgbClr val="F4F7FB"/>
                    </a:solidFill>
                  </a:tcPr>
                </a:tc>
              </a:tr>
              <a:tr h="306324">
                <a:tc>
                  <a:txBody>
                    <a:bodyPr wrap="square"/>
                    <a:lstStyle/>
                    <a:p>
                      <a:pPr>
                        <a:lnSpc>
                          <a:spcPct val="95000"/>
                        </a:lnSpc>
                      </a:pPr>
                      <a:r>
                        <a:rPr sz="1000" b="0" i="0">
                          <a:solidFill>
                            <a:srgbClr val="222222"/>
                          </a:solidFill>
                          <a:latin typeface="Calibri"/>
                        </a:rPr>
                        <a:t>pair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str</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Token pair, e.g. ADA / tUSD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wait_slots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Slots waited before settlement (label)</a:t>
                      </a:r>
                    </a:p>
                  </a:txBody>
                  <a:tcPr marL="64008" marR="45720" marT="18288" marB="18288" anchor="ctr">
                    <a:solidFill>
                      <a:srgbClr val="FFFFFF"/>
                    </a:solidFill>
                  </a:tcPr>
                </a:tc>
              </a:tr>
              <a:tr h="306324">
                <a:tc>
                  <a:txBody>
                    <a:bodyPr wrap="square"/>
                    <a:lstStyle/>
                    <a:p>
                      <a:pPr>
                        <a:lnSpc>
                          <a:spcPct val="95000"/>
                        </a:lnSpc>
                      </a:pPr>
                      <a:r>
                        <a:rPr sz="1000" b="0" i="0">
                          <a:solidFill>
                            <a:srgbClr val="222222"/>
                          </a:solidFill>
                          <a:latin typeface="Calibri"/>
                        </a:rPr>
                        <a:t>amount_in</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Input amount of the swap</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settled_slot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Slot in which the batch was included</a:t>
                      </a:r>
                    </a:p>
                  </a:txBody>
                  <a:tcPr marL="64008" marR="45720" marT="18288" marB="18288" anchor="ctr">
                    <a:solidFill>
                      <a:srgbClr val="F4F7FB"/>
                    </a:solidFill>
                  </a:tcPr>
                </a:tc>
              </a:tr>
              <a:tr h="306324">
                <a:tc>
                  <a:txBody>
                    <a:bodyPr wrap="square"/>
                    <a:lstStyle/>
                    <a:p>
                      <a:pPr>
                        <a:lnSpc>
                          <a:spcPct val="95000"/>
                        </a:lnSpc>
                      </a:pPr>
                      <a:r>
                        <a:rPr sz="1000" b="0" i="0">
                          <a:solidFill>
                            <a:srgbClr val="222222"/>
                          </a:solidFill>
                          <a:latin typeface="Calibri"/>
                        </a:rPr>
                        <a:t>slippage_bps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Tolerance in basis points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fee_share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Fee actually borne by this user</a:t>
                      </a:r>
                    </a:p>
                  </a:txBody>
                  <a:tcPr marL="64008" marR="45720" marT="18288" marB="18288" anchor="ctr">
                    <a:solidFill>
                      <a:srgbClr val="FFFFFF"/>
                    </a:solidFill>
                  </a:tcPr>
                </a:tc>
              </a:tr>
            </a:tbl>
          </a:graphicData>
        </a:graphic>
      </p:graphicFrame>
      <p:sp>
        <p:nvSpPr>
          <p:cNvPr id="9" name="TextBox 8"/>
          <p:cNvSpPr txBox="1"/>
          <p:nvPr/>
        </p:nvSpPr>
        <p:spPr>
          <a:xfrm>
            <a:off x="502920" y="3950208"/>
            <a:ext cx="11183112" cy="219456"/>
          </a:xfrm>
          <a:prstGeom prst="rect">
            <a:avLst/>
          </a:prstGeom>
          <a:noFill/>
        </p:spPr>
        <p:txBody>
          <a:bodyPr wrap="square" lIns="0" rIns="0" tIns="0" bIns="0"/>
          <a:lstStyle/>
          <a:p>
            <a:pPr algn="l"/>
            <a:r>
              <a:rPr sz="1250" b="1" i="0">
                <a:solidFill>
                  <a:srgbClr val="1F3864"/>
                </a:solidFill>
                <a:latin typeface="Calibri"/>
              </a:rPr>
              <a:t>Dataset D3  –  batcher decision log  (one row per block slot)  •  Dataset D4  –  preprod testnet settlement log</a:t>
            </a:r>
          </a:p>
        </p:txBody>
      </p:sp>
      <p:graphicFrame>
        <p:nvGraphicFramePr>
          <p:cNvPr id="10" name="Table 9"/>
          <p:cNvGraphicFramePr>
            <a:graphicFrameLocks noGrp="1"/>
          </p:cNvGraphicFramePr>
          <p:nvPr/>
        </p:nvGraphicFramePr>
        <p:xfrm>
          <a:off x="502920" y="4242816"/>
          <a:ext cx="11183112" cy="1988820"/>
        </p:xfrm>
        <a:graphic>
          <a:graphicData uri="http://schemas.openxmlformats.org/drawingml/2006/table">
            <a:tbl>
              <a:tblPr>
                <a:tableStyleId>{5C22544A-7EE6-4342-B048-85BDC9FD1C3A}</a:tableStyleId>
              </a:tblPr>
              <a:tblGrid>
                <a:gridCol w="3840480"/>
                <a:gridCol w="914400"/>
                <a:gridCol w="5330952"/>
                <a:gridCol w="1097280"/>
              </a:tblGrid>
              <a:tr h="274320">
                <a:tc>
                  <a:txBody>
                    <a:bodyPr wrap="square"/>
                    <a:lstStyle/>
                    <a:p>
                      <a:pPr>
                        <a:lnSpc>
                          <a:spcPct val="95000"/>
                        </a:lnSpc>
                      </a:pPr>
                      <a:r>
                        <a:rPr sz="1000" b="1" i="0">
                          <a:solidFill>
                            <a:srgbClr val="FFFFFF"/>
                          </a:solidFill>
                          <a:latin typeface="Calibri"/>
                        </a:rPr>
                        <a:t>Field</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Type</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Meaning</a:t>
                      </a:r>
                    </a:p>
                  </a:txBody>
                  <a:tcPr marL="64008" marR="45720" marT="18288" marB="18288" anchor="ctr">
                    <a:solidFill>
                      <a:srgbClr val="1F3864"/>
                    </a:solidFill>
                  </a:tcPr>
                </a:tc>
                <a:tc>
                  <a:txBody>
                    <a:bodyPr wrap="square"/>
                    <a:lstStyle/>
                    <a:p>
                      <a:pPr>
                        <a:lnSpc>
                          <a:spcPct val="95000"/>
                        </a:lnSpc>
                      </a:pPr>
                      <a:r>
                        <a:rPr sz="1000" b="1" i="0">
                          <a:solidFill>
                            <a:srgbClr val="FFFFFF"/>
                          </a:solidFill>
                          <a:latin typeface="Calibri"/>
                        </a:rPr>
                        <a:t>Dataset</a:t>
                      </a:r>
                    </a:p>
                  </a:txBody>
                  <a:tcPr marL="64008" marR="45720" marT="18288" marB="18288" anchor="ctr">
                    <a:solidFill>
                      <a:srgbClr val="1F3864"/>
                    </a:solidFill>
                  </a:tcPr>
                </a:tc>
              </a:tr>
              <a:tr h="342900">
                <a:tc>
                  <a:txBody>
                    <a:bodyPr wrap="square"/>
                    <a:lstStyle/>
                    <a:p>
                      <a:pPr>
                        <a:lnSpc>
                          <a:spcPct val="95000"/>
                        </a:lnSpc>
                      </a:pPr>
                      <a:r>
                        <a:rPr sz="1000" b="1" i="0">
                          <a:solidFill>
                            <a:srgbClr val="1F3864"/>
                          </a:solidFill>
                          <a:latin typeface="Calibri"/>
                        </a:rPr>
                        <a:t>slot, queue_depth, wait_oldest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State of the world when the policy was asked to act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D3</a:t>
                      </a:r>
                    </a:p>
                  </a:txBody>
                  <a:tcPr marL="64008" marR="45720" marT="18288" marB="18288" anchor="ctr">
                    <a:solidFill>
                      <a:srgbClr val="FFFFFF"/>
                    </a:solidFill>
                  </a:tcPr>
                </a:tc>
              </a:tr>
              <a:tr h="342900">
                <a:tc>
                  <a:txBody>
                    <a:bodyPr wrap="square"/>
                    <a:lstStyle/>
                    <a:p>
                      <a:pPr>
                        <a:lnSpc>
                          <a:spcPct val="95000"/>
                        </a:lnSpc>
                      </a:pPr>
                      <a:r>
                        <a:rPr sz="1000" b="1" i="0">
                          <a:solidFill>
                            <a:srgbClr val="1F3864"/>
                          </a:solidFill>
                          <a:latin typeface="Calibri"/>
                        </a:rPr>
                        <a:t>f_hat_1, f_hat_2, exu_headroom</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float</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Forecast produced by P1 and fed to the policy</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D3</a:t>
                      </a:r>
                    </a:p>
                  </a:txBody>
                  <a:tcPr marL="64008" marR="45720" marT="18288" marB="18288" anchor="ctr">
                    <a:solidFill>
                      <a:srgbClr val="F4F7FB"/>
                    </a:solidFill>
                  </a:tcPr>
                </a:tc>
              </a:tr>
              <a:tr h="342900">
                <a:tc>
                  <a:txBody>
                    <a:bodyPr wrap="square"/>
                    <a:lstStyle/>
                    <a:p>
                      <a:pPr>
                        <a:lnSpc>
                          <a:spcPct val="95000"/>
                        </a:lnSpc>
                      </a:pPr>
                      <a:r>
                        <a:rPr sz="1000" b="1" i="0">
                          <a:solidFill>
                            <a:srgbClr val="1F3864"/>
                          </a:solidFill>
                          <a:latin typeface="Calibri"/>
                        </a:rPr>
                        <a:t>action, n_selected, batch_bytes, batch_exunits</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int</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Decision taken and the batch that was constructed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D3</a:t>
                      </a:r>
                    </a:p>
                  </a:txBody>
                  <a:tcPr marL="64008" marR="45720" marT="18288" marB="18288" anchor="ctr">
                    <a:solidFill>
                      <a:srgbClr val="FFFFFF"/>
                    </a:solidFill>
                  </a:tcPr>
                </a:tc>
              </a:tr>
              <a:tr h="342900">
                <a:tc>
                  <a:txBody>
                    <a:bodyPr wrap="square"/>
                    <a:lstStyle/>
                    <a:p>
                      <a:pPr>
                        <a:lnSpc>
                          <a:spcPct val="95000"/>
                        </a:lnSpc>
                      </a:pPr>
                      <a:r>
                        <a:rPr sz="1000" b="1" i="0">
                          <a:solidFill>
                            <a:srgbClr val="1F3864"/>
                          </a:solidFill>
                          <a:latin typeface="Calibri"/>
                        </a:rPr>
                        <a:t>included, latency_slots, fee_lovelace, fee_per_user</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mixed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Realised outcome – the reward and the evaluation record</a:t>
                      </a:r>
                    </a:p>
                  </a:txBody>
                  <a:tcPr marL="64008" marR="45720" marT="18288" marB="18288" anchor="ctr">
                    <a:solidFill>
                      <a:srgbClr val="F4F7FB"/>
                    </a:solidFill>
                  </a:tcPr>
                </a:tc>
                <a:tc>
                  <a:txBody>
                    <a:bodyPr wrap="square"/>
                    <a:lstStyle/>
                    <a:p>
                      <a:pPr>
                        <a:lnSpc>
                          <a:spcPct val="95000"/>
                        </a:lnSpc>
                      </a:pPr>
                      <a:r>
                        <a:rPr sz="1000" b="0" i="0">
                          <a:solidFill>
                            <a:srgbClr val="222222"/>
                          </a:solidFill>
                          <a:latin typeface="Calibri"/>
                        </a:rPr>
                        <a:t>D3</a:t>
                      </a:r>
                    </a:p>
                  </a:txBody>
                  <a:tcPr marL="64008" marR="45720" marT="18288" marB="18288" anchor="ctr">
                    <a:solidFill>
                      <a:srgbClr val="F4F7FB"/>
                    </a:solidFill>
                  </a:tcPr>
                </a:tc>
              </a:tr>
              <a:tr h="342900">
                <a:tc>
                  <a:txBody>
                    <a:bodyPr wrap="square"/>
                    <a:lstStyle/>
                    <a:p>
                      <a:pPr>
                        <a:lnSpc>
                          <a:spcPct val="95000"/>
                        </a:lnSpc>
                      </a:pPr>
                      <a:r>
                        <a:rPr sz="1000" b="1" i="0">
                          <a:solidFill>
                            <a:srgbClr val="1F3864"/>
                          </a:solidFill>
                          <a:latin typeface="Calibri"/>
                        </a:rPr>
                        <a:t>tx_hash, submit_slot, confirm_slot, actual_fee</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mixed</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Real preprod submissions from our Aiken DEX, used to check that the simulator agrees with the chain</a:t>
                      </a:r>
                    </a:p>
                  </a:txBody>
                  <a:tcPr marL="64008" marR="45720" marT="18288" marB="18288" anchor="ctr">
                    <a:solidFill>
                      <a:srgbClr val="FFFFFF"/>
                    </a:solidFill>
                  </a:tcPr>
                </a:tc>
                <a:tc>
                  <a:txBody>
                    <a:bodyPr wrap="square"/>
                    <a:lstStyle/>
                    <a:p>
                      <a:pPr>
                        <a:lnSpc>
                          <a:spcPct val="95000"/>
                        </a:lnSpc>
                      </a:pPr>
                      <a:r>
                        <a:rPr sz="1000" b="0" i="0">
                          <a:solidFill>
                            <a:srgbClr val="222222"/>
                          </a:solidFill>
                          <a:latin typeface="Calibri"/>
                        </a:rPr>
                        <a:t>D4</a:t>
                      </a:r>
                    </a:p>
                  </a:txBody>
                  <a:tcPr marL="64008" marR="45720" marT="18288" marB="1828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16</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(b)  Dataset Samples – Tables</a:t>
            </a:r>
          </a:p>
        </p:txBody>
      </p:sp>
      <p:sp>
        <p:nvSpPr>
          <p:cNvPr id="7" name="TextBox 6"/>
          <p:cNvSpPr txBox="1"/>
          <p:nvPr/>
        </p:nvSpPr>
        <p:spPr>
          <a:xfrm>
            <a:off x="502920" y="1682496"/>
            <a:ext cx="11183112" cy="219456"/>
          </a:xfrm>
          <a:prstGeom prst="rect">
            <a:avLst/>
          </a:prstGeom>
          <a:noFill/>
        </p:spPr>
        <p:txBody>
          <a:bodyPr wrap="square" lIns="0" rIns="0" tIns="0" bIns="0"/>
          <a:lstStyle/>
          <a:p>
            <a:pPr algn="l"/>
            <a:r>
              <a:rPr sz="1250" b="1" i="0">
                <a:solidFill>
                  <a:srgbClr val="1F3864"/>
                </a:solidFill>
                <a:latin typeface="Calibri"/>
              </a:rPr>
              <a:t>Sample 1  –  D1, Cardano block congestion (6 consecutive blocks)</a:t>
            </a:r>
          </a:p>
        </p:txBody>
      </p:sp>
      <p:graphicFrame>
        <p:nvGraphicFramePr>
          <p:cNvPr id="8" name="Table 7"/>
          <p:cNvGraphicFramePr>
            <a:graphicFrameLocks noGrp="1"/>
          </p:cNvGraphicFramePr>
          <p:nvPr/>
        </p:nvGraphicFramePr>
        <p:xfrm>
          <a:off x="502920" y="1975104"/>
          <a:ext cx="11183112" cy="1837938"/>
        </p:xfrm>
        <a:graphic>
          <a:graphicData uri="http://schemas.openxmlformats.org/drawingml/2006/table">
            <a:tbl>
              <a:tblPr>
                <a:tableStyleId>{5C22544A-7EE6-4342-B048-85BDC9FD1C3A}</a:tableStyleId>
              </a:tblPr>
              <a:tblGrid>
                <a:gridCol w="1463040"/>
                <a:gridCol w="1554480"/>
                <a:gridCol w="1371600"/>
                <a:gridCol w="1051560"/>
                <a:gridCol w="1691640"/>
                <a:gridCol w="1051560"/>
                <a:gridCol w="1947672"/>
                <a:gridCol w="1051560"/>
              </a:tblGrid>
              <a:tr h="274320">
                <a:tc>
                  <a:txBody>
                    <a:bodyPr wrap="square"/>
                    <a:lstStyle/>
                    <a:p>
                      <a:pPr>
                        <a:lnSpc>
                          <a:spcPct val="95000"/>
                        </a:lnSpc>
                      </a:pPr>
                      <a:r>
                        <a:rPr sz="950" b="1" i="0">
                          <a:solidFill>
                            <a:srgbClr val="FFFFFF"/>
                          </a:solidFill>
                          <a:latin typeface="Calibri"/>
                        </a:rPr>
                        <a:t>block_height</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abs_slot</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block_size</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fill_pct</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mem_exunits</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mem_pct</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step_exunits</a:t>
                      </a:r>
                    </a:p>
                  </a:txBody>
                  <a:tcPr marL="64008" marR="45720" marT="18288" marB="18288" anchor="ctr">
                    <a:solidFill>
                      <a:srgbClr val="1F3864"/>
                    </a:solidFill>
                  </a:tcPr>
                </a:tc>
                <a:tc>
                  <a:txBody>
                    <a:bodyPr wrap="square"/>
                    <a:lstStyle/>
                    <a:p>
                      <a:pPr>
                        <a:lnSpc>
                          <a:spcPct val="95000"/>
                        </a:lnSpc>
                      </a:pPr>
                      <a:r>
                        <a:rPr sz="950" b="1" i="0">
                          <a:solidFill>
                            <a:srgbClr val="FFFFFF"/>
                          </a:solidFill>
                          <a:latin typeface="Calibri"/>
                        </a:rPr>
                        <a:t>tx_count</a:t>
                      </a:r>
                    </a:p>
                  </a:txBody>
                  <a:tcPr marL="64008" marR="45720" marT="18288" marB="18288" anchor="ctr">
                    <a:solidFill>
                      <a:srgbClr val="1F3864"/>
                    </a:solidFill>
                  </a:tcPr>
                </a:tc>
              </a:tr>
              <a:tr h="260603">
                <a:tc>
                  <a:txBody>
                    <a:bodyPr wrap="square"/>
                    <a:lstStyle/>
                    <a:p>
                      <a:pPr>
                        <a:lnSpc>
                          <a:spcPct val="95000"/>
                        </a:lnSpc>
                      </a:pPr>
                      <a:r>
                        <a:rPr sz="950" b="0" i="0">
                          <a:solidFill>
                            <a:srgbClr val="222222"/>
                          </a:solidFill>
                          <a:latin typeface="Consolas"/>
                        </a:rPr>
                        <a:t>11482310</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152338397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34484</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38.3</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23354759</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37.7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7479934005</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25</a:t>
                      </a:r>
                    </a:p>
                  </a:txBody>
                  <a:tcPr marL="64008" marR="45720" marT="18288" marB="18288" anchor="ctr">
                    <a:solidFill>
                      <a:srgbClr val="FFFFFF"/>
                    </a:solidFill>
                  </a:tcPr>
                </a:tc>
              </a:tr>
              <a:tr h="260603">
                <a:tc>
                  <a:txBody>
                    <a:bodyPr wrap="square"/>
                    <a:lstStyle/>
                    <a:p>
                      <a:pPr>
                        <a:lnSpc>
                          <a:spcPct val="95000"/>
                        </a:lnSpc>
                      </a:pPr>
                      <a:r>
                        <a:rPr sz="950" b="0" i="0">
                          <a:solidFill>
                            <a:srgbClr val="222222"/>
                          </a:solidFill>
                          <a:latin typeface="Consolas"/>
                        </a:rPr>
                        <a:t>11482311</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152338418</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35088</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38.9</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21564150</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34.8</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6578581036</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22</a:t>
                      </a:r>
                    </a:p>
                  </a:txBody>
                  <a:tcPr marL="64008" marR="45720" marT="18288" marB="18288" anchor="ctr">
                    <a:solidFill>
                      <a:srgbClr val="F4F7FB"/>
                    </a:solidFill>
                  </a:tcPr>
                </a:tc>
              </a:tr>
              <a:tr h="260603">
                <a:tc>
                  <a:txBody>
                    <a:bodyPr wrap="square"/>
                    <a:lstStyle/>
                    <a:p>
                      <a:pPr>
                        <a:lnSpc>
                          <a:spcPct val="95000"/>
                        </a:lnSpc>
                      </a:pPr>
                      <a:r>
                        <a:rPr sz="950" b="0" i="0">
                          <a:solidFill>
                            <a:srgbClr val="222222"/>
                          </a:solidFill>
                          <a:latin typeface="Consolas"/>
                        </a:rPr>
                        <a:t>11482312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152338442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29459</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32.7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19962701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32.2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6139627442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18</a:t>
                      </a:r>
                    </a:p>
                  </a:txBody>
                  <a:tcPr marL="64008" marR="45720" marT="18288" marB="18288" anchor="ctr">
                    <a:solidFill>
                      <a:srgbClr val="FFFFFF"/>
                    </a:solidFill>
                  </a:tcPr>
                </a:tc>
              </a:tr>
              <a:tr h="260603">
                <a:tc>
                  <a:txBody>
                    <a:bodyPr wrap="square"/>
                    <a:lstStyle/>
                    <a:p>
                      <a:pPr>
                        <a:lnSpc>
                          <a:spcPct val="95000"/>
                        </a:lnSpc>
                      </a:pPr>
                      <a:r>
                        <a:rPr sz="950" b="0" i="0">
                          <a:solidFill>
                            <a:srgbClr val="222222"/>
                          </a:solidFill>
                          <a:latin typeface="Consolas"/>
                        </a:rPr>
                        <a:t>11482313</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152338464</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33011</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36.6</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18402042</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29.7</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6041921497</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30</a:t>
                      </a:r>
                    </a:p>
                  </a:txBody>
                  <a:tcPr marL="64008" marR="45720" marT="18288" marB="18288" anchor="ctr">
                    <a:solidFill>
                      <a:srgbClr val="F4F7FB"/>
                    </a:solidFill>
                  </a:tcPr>
                </a:tc>
              </a:tr>
              <a:tr h="260603">
                <a:tc>
                  <a:txBody>
                    <a:bodyPr wrap="square"/>
                    <a:lstStyle/>
                    <a:p>
                      <a:pPr>
                        <a:lnSpc>
                          <a:spcPct val="95000"/>
                        </a:lnSpc>
                      </a:pPr>
                      <a:r>
                        <a:rPr sz="950" b="0" i="0">
                          <a:solidFill>
                            <a:srgbClr val="222222"/>
                          </a:solidFill>
                          <a:latin typeface="Consolas"/>
                        </a:rPr>
                        <a:t>11482314</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152338477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32210</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35.7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19691182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31.8</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6176814971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46</a:t>
                      </a:r>
                    </a:p>
                  </a:txBody>
                  <a:tcPr marL="64008" marR="45720" marT="18288" marB="18288" anchor="ctr">
                    <a:solidFill>
                      <a:srgbClr val="FFFFFF"/>
                    </a:solidFill>
                  </a:tcPr>
                </a:tc>
              </a:tr>
              <a:tr h="260603">
                <a:tc>
                  <a:txBody>
                    <a:bodyPr wrap="square"/>
                    <a:lstStyle/>
                    <a:p>
                      <a:pPr>
                        <a:lnSpc>
                          <a:spcPct val="95000"/>
                        </a:lnSpc>
                      </a:pPr>
                      <a:r>
                        <a:rPr sz="950" b="0" i="0">
                          <a:solidFill>
                            <a:srgbClr val="222222"/>
                          </a:solidFill>
                          <a:latin typeface="Consolas"/>
                        </a:rPr>
                        <a:t>11482315</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152338496</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36206</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40.2</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18094323</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29.2</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5988777292</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29</a:t>
                      </a:r>
                    </a:p>
                  </a:txBody>
                  <a:tcPr marL="64008" marR="45720" marT="18288" marB="18288" anchor="ctr">
                    <a:solidFill>
                      <a:srgbClr val="F4F7FB"/>
                    </a:solidFill>
                  </a:tcPr>
                </a:tc>
              </a:tr>
            </a:tbl>
          </a:graphicData>
        </a:graphic>
      </p:graphicFrame>
      <p:sp>
        <p:nvSpPr>
          <p:cNvPr id="9" name="TextBox 8"/>
          <p:cNvSpPr txBox="1"/>
          <p:nvPr/>
        </p:nvSpPr>
        <p:spPr>
          <a:xfrm>
            <a:off x="502920" y="3840480"/>
            <a:ext cx="11183112" cy="219456"/>
          </a:xfrm>
          <a:prstGeom prst="rect">
            <a:avLst/>
          </a:prstGeom>
          <a:noFill/>
        </p:spPr>
        <p:txBody>
          <a:bodyPr wrap="square" lIns="0" rIns="0" tIns="0" bIns="0"/>
          <a:lstStyle/>
          <a:p>
            <a:pPr algn="l"/>
            <a:r>
              <a:rPr sz="1250" b="1" i="0">
                <a:solidFill>
                  <a:srgbClr val="1F3864"/>
                </a:solidFill>
                <a:latin typeface="Calibri"/>
              </a:rPr>
              <a:t>Sample 2  –  D3, batcher decision log (5 consecutive slots, adaptive policy)</a:t>
            </a:r>
          </a:p>
        </p:txBody>
      </p:sp>
      <p:graphicFrame>
        <p:nvGraphicFramePr>
          <p:cNvPr id="10" name="Table 9"/>
          <p:cNvGraphicFramePr>
            <a:graphicFrameLocks noGrp="1"/>
          </p:cNvGraphicFramePr>
          <p:nvPr/>
        </p:nvGraphicFramePr>
        <p:xfrm>
          <a:off x="502920" y="4133087"/>
          <a:ext cx="11183112" cy="1549908"/>
        </p:xfrm>
        <a:graphic>
          <a:graphicData uri="http://schemas.openxmlformats.org/drawingml/2006/table">
            <a:tbl>
              <a:tblPr>
                <a:tableStyleId>{5C22544A-7EE6-4342-B048-85BDC9FD1C3A}</a:tableStyleId>
              </a:tblPr>
              <a:tblGrid>
                <a:gridCol w="1371600"/>
                <a:gridCol w="1207008"/>
                <a:gridCol w="1234440"/>
                <a:gridCol w="868680"/>
                <a:gridCol w="960120"/>
                <a:gridCol w="1097280"/>
                <a:gridCol w="1234440"/>
                <a:gridCol w="914400"/>
                <a:gridCol w="1234440"/>
                <a:gridCol w="1060704"/>
              </a:tblGrid>
              <a:tr h="292608">
                <a:tc>
                  <a:txBody>
                    <a:bodyPr wrap="square"/>
                    <a:lstStyle/>
                    <a:p>
                      <a:pPr>
                        <a:lnSpc>
                          <a:spcPct val="95000"/>
                        </a:lnSpc>
                      </a:pPr>
                      <a:r>
                        <a:rPr sz="900" b="1" i="0">
                          <a:solidFill>
                            <a:srgbClr val="FFFFFF"/>
                          </a:solidFill>
                          <a:latin typeface="Calibri"/>
                        </a:rPr>
                        <a:t>slot</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queue_depth</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wait_oldest</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f_hat_1</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action</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n_selected</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batch_bytes</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included</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latency_slots</a:t>
                      </a:r>
                    </a:p>
                  </a:txBody>
                  <a:tcPr marL="64008" marR="45720" marT="18288" marB="18288" anchor="ctr">
                    <a:solidFill>
                      <a:srgbClr val="1F3864"/>
                    </a:solidFill>
                  </a:tcPr>
                </a:tc>
                <a:tc>
                  <a:txBody>
                    <a:bodyPr wrap="square"/>
                    <a:lstStyle/>
                    <a:p>
                      <a:pPr>
                        <a:lnSpc>
                          <a:spcPct val="95000"/>
                        </a:lnSpc>
                      </a:pPr>
                      <a:r>
                        <a:rPr sz="900" b="1" i="0">
                          <a:solidFill>
                            <a:srgbClr val="FFFFFF"/>
                          </a:solidFill>
                          <a:latin typeface="Calibri"/>
                        </a:rPr>
                        <a:t>fee_per_user</a:t>
                      </a:r>
                    </a:p>
                  </a:txBody>
                  <a:tcPr marL="64008" marR="45720" marT="18288" marB="18288" anchor="ctr">
                    <a:solidFill>
                      <a:srgbClr val="1F3864"/>
                    </a:solidFill>
                  </a:tcPr>
                </a:tc>
              </a:tr>
              <a:tr h="251460">
                <a:tc>
                  <a:txBody>
                    <a:bodyPr wrap="square"/>
                    <a:lstStyle/>
                    <a:p>
                      <a:pPr>
                        <a:lnSpc>
                          <a:spcPct val="95000"/>
                        </a:lnSpc>
                      </a:pPr>
                      <a:r>
                        <a:rPr sz="950" b="0" i="0">
                          <a:solidFill>
                            <a:srgbClr val="222222"/>
                          </a:solidFill>
                          <a:latin typeface="Consolas"/>
                        </a:rPr>
                        <a:t>152338397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14</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0.41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SUBMIT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14</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5192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yes</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0.0131</a:t>
                      </a:r>
                    </a:p>
                  </a:txBody>
                  <a:tcPr marL="64008" marR="45720" marT="18288" marB="18288" anchor="ctr">
                    <a:solidFill>
                      <a:srgbClr val="FFFFFF"/>
                    </a:solidFill>
                  </a:tcPr>
                </a:tc>
              </a:tr>
              <a:tr h="251460">
                <a:tc>
                  <a:txBody>
                    <a:bodyPr wrap="square"/>
                    <a:lstStyle/>
                    <a:p>
                      <a:pPr>
                        <a:lnSpc>
                          <a:spcPct val="95000"/>
                        </a:lnSpc>
                      </a:pPr>
                      <a:r>
                        <a:rPr sz="950" b="0" i="0">
                          <a:solidFill>
                            <a:srgbClr val="222222"/>
                          </a:solidFill>
                          <a:latin typeface="Consolas"/>
                        </a:rPr>
                        <a:t>152338418</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5</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0.63</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WAIT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0</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r>
              <a:tr h="251460">
                <a:tc>
                  <a:txBody>
                    <a:bodyPr wrap="square"/>
                    <a:lstStyle/>
                    <a:p>
                      <a:pPr>
                        <a:lnSpc>
                          <a:spcPct val="95000"/>
                        </a:lnSpc>
                      </a:pPr>
                      <a:r>
                        <a:rPr sz="950" b="0" i="0">
                          <a:solidFill>
                            <a:srgbClr val="222222"/>
                          </a:solidFill>
                          <a:latin typeface="Consolas"/>
                        </a:rPr>
                        <a:t>152338442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11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3</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0.84</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WAIT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FFFFF"/>
                    </a:solidFill>
                  </a:tcPr>
                </a:tc>
              </a:tr>
              <a:tr h="251460">
                <a:tc>
                  <a:txBody>
                    <a:bodyPr wrap="square"/>
                    <a:lstStyle/>
                    <a:p>
                      <a:pPr>
                        <a:lnSpc>
                          <a:spcPct val="95000"/>
                        </a:lnSpc>
                      </a:pPr>
                      <a:r>
                        <a:rPr sz="950" b="0" i="0">
                          <a:solidFill>
                            <a:srgbClr val="222222"/>
                          </a:solidFill>
                          <a:latin typeface="Consolas"/>
                        </a:rPr>
                        <a:t>152338464</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19</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5</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0.79</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SUBMIT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12</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4536</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no</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c>
                  <a:txBody>
                    <a:bodyPr wrap="square"/>
                    <a:lstStyle/>
                    <a:p>
                      <a:pPr>
                        <a:lnSpc>
                          <a:spcPct val="95000"/>
                        </a:lnSpc>
                      </a:pPr>
                      <a:r>
                        <a:rPr sz="950" b="0" i="0">
                          <a:solidFill>
                            <a:srgbClr val="222222"/>
                          </a:solidFill>
                          <a:latin typeface="Consolas"/>
                        </a:rPr>
                        <a:t>-</a:t>
                      </a:r>
                    </a:p>
                  </a:txBody>
                  <a:tcPr marL="64008" marR="45720" marT="18288" marB="18288" anchor="ctr">
                    <a:solidFill>
                      <a:srgbClr val="F4F7FB"/>
                    </a:solidFill>
                  </a:tcPr>
                </a:tc>
              </a:tr>
              <a:tr h="251460">
                <a:tc>
                  <a:txBody>
                    <a:bodyPr wrap="square"/>
                    <a:lstStyle/>
                    <a:p>
                      <a:pPr>
                        <a:lnSpc>
                          <a:spcPct val="95000"/>
                        </a:lnSpc>
                      </a:pPr>
                      <a:r>
                        <a:rPr sz="950" b="0" i="0">
                          <a:solidFill>
                            <a:srgbClr val="222222"/>
                          </a:solidFill>
                          <a:latin typeface="Consolas"/>
                        </a:rPr>
                        <a:t>152338496</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21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7</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0.52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SUBMIT</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21</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7492</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yes</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6</a:t>
                      </a:r>
                    </a:p>
                  </a:txBody>
                  <a:tcPr marL="64008" marR="45720" marT="18288" marB="18288" anchor="ctr">
                    <a:solidFill>
                      <a:srgbClr val="FFFFFF"/>
                    </a:solidFill>
                  </a:tcPr>
                </a:tc>
                <a:tc>
                  <a:txBody>
                    <a:bodyPr wrap="square"/>
                    <a:lstStyle/>
                    <a:p>
                      <a:pPr>
                        <a:lnSpc>
                          <a:spcPct val="95000"/>
                        </a:lnSpc>
                      </a:pPr>
                      <a:r>
                        <a:rPr sz="950" b="0" i="0">
                          <a:solidFill>
                            <a:srgbClr val="222222"/>
                          </a:solidFill>
                          <a:latin typeface="Consolas"/>
                        </a:rPr>
                        <a:t>0.0104</a:t>
                      </a:r>
                    </a:p>
                  </a:txBody>
                  <a:tcPr marL="64008" marR="45720" marT="18288" marB="18288" anchor="ctr">
                    <a:solidFill>
                      <a:srgbClr val="FFFFFF"/>
                    </a:solidFill>
                  </a:tcPr>
                </a:tc>
              </a:tr>
            </a:tbl>
          </a:graphicData>
        </a:graphic>
      </p:graphicFrame>
      <p:sp>
        <p:nvSpPr>
          <p:cNvPr id="11" name="TextBox 10"/>
          <p:cNvSpPr txBox="1"/>
          <p:nvPr/>
        </p:nvSpPr>
        <p:spPr>
          <a:xfrm>
            <a:off x="502920" y="5779008"/>
            <a:ext cx="11183112" cy="457200"/>
          </a:xfrm>
          <a:prstGeom prst="rect">
            <a:avLst/>
          </a:prstGeom>
          <a:noFill/>
        </p:spPr>
        <p:txBody>
          <a:bodyPr wrap="square" lIns="0" rIns="0" tIns="0" bIns="0"/>
          <a:lstStyle/>
          <a:p>
            <a:pPr>
              <a:lnSpc>
                <a:spcPct val="105000"/>
              </a:lnSpc>
            </a:pPr>
            <a:r>
              <a:rPr sz="1000" b="0" i="1">
                <a:solidFill>
                  <a:srgbClr val="595959"/>
                </a:solidFill>
                <a:latin typeface="Calibri"/>
              </a:rPr>
              <a:t>Rows are illustrative and calibrated to the real protocol limits (90,112 B, 62 M mem / 20 G step ExUnits per block); they will be replaced by the collected data once D1 is pulled. Slot 152338464 is the case the whole project targets – a batch of 12 sized against a forecast of 79% fullness that still did not fit, which is exactly the outcome the bounce penalty in the P3 reward is there to punish.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17</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(b)  Dataset Samples – Images (Congestion EDA)</a:t>
            </a:r>
          </a:p>
        </p:txBody>
      </p:sp>
      <p:sp>
        <p:nvSpPr>
          <p:cNvPr id="7" name="TextBox 6"/>
          <p:cNvSpPr txBox="1"/>
          <p:nvPr/>
        </p:nvSpPr>
        <p:spPr>
          <a:xfrm>
            <a:off x="502920" y="1682496"/>
            <a:ext cx="11183112" cy="219456"/>
          </a:xfrm>
          <a:prstGeom prst="rect">
            <a:avLst/>
          </a:prstGeom>
          <a:noFill/>
        </p:spPr>
        <p:txBody>
          <a:bodyPr wrap="square" lIns="0" rIns="0" tIns="0" bIns="0"/>
          <a:lstStyle/>
          <a:p>
            <a:pPr algn="l"/>
            <a:r>
              <a:rPr sz="1150" b="0" i="0">
                <a:solidFill>
                  <a:srgbClr val="595959"/>
                </a:solidFill>
                <a:latin typeface="Calibri"/>
              </a:rPr>
              <a:t>Exploratory analysis of D1 – this is the evidence that the problem is real and that congestion is predictable.</a:t>
            </a:r>
          </a:p>
        </p:txBody>
      </p:sp>
      <p:pic>
        <p:nvPicPr>
          <p:cNvPr id="8" name="Picture 7" descr="eda_congestion.png"/>
          <p:cNvPicPr>
            <a:picLocks noChangeAspect="1"/>
          </p:cNvPicPr>
          <p:nvPr/>
        </p:nvPicPr>
        <p:blipFill>
          <a:blip r:embed="rId3"/>
          <a:stretch>
            <a:fillRect/>
          </a:stretch>
        </p:blipFill>
        <p:spPr>
          <a:xfrm>
            <a:off x="502920" y="1938528"/>
            <a:ext cx="11183112" cy="3675887"/>
          </a:xfrm>
          <a:prstGeom prst="rect">
            <a:avLst/>
          </a:prstGeom>
        </p:spPr>
      </p:pic>
      <p:sp>
        <p:nvSpPr>
          <p:cNvPr id="9" name="TextBox 8"/>
          <p:cNvSpPr txBox="1"/>
          <p:nvPr/>
        </p:nvSpPr>
        <p:spPr>
          <a:xfrm>
            <a:off x="502920" y="5687568"/>
            <a:ext cx="11183112" cy="658368"/>
          </a:xfrm>
          <a:prstGeom prst="rect">
            <a:avLst/>
          </a:prstGeom>
          <a:noFill/>
        </p:spPr>
        <p:txBody>
          <a:bodyPr wrap="square" lIns="0" rIns="0" tIns="0" bIns="0"/>
          <a:lstStyle/>
          <a:p>
            <a:pPr>
              <a:lnSpc>
                <a:spcPct val="105000"/>
              </a:lnSpc>
            </a:pPr>
            <a:r>
              <a:rPr sz="1050" b="1" i="0">
                <a:solidFill>
                  <a:srgbClr val="1F3864"/>
                </a:solidFill>
                <a:latin typeface="Calibri"/>
              </a:rPr>
              <a:t>Reading:  </a:t>
            </a:r>
            <a:r>
              <a:rPr sz="1050" b="0" i="0">
                <a:solidFill>
                  <a:srgbClr val="222222"/>
                </a:solidFill>
                <a:latin typeface="Calibri"/>
              </a:rPr>
              <a:t>(a) fill % swings block to block, so a fixed rule is mistimed most of the day;  (b) a heavy right tail – the blocks that break a static batcher;  (c) points below the diagonal are size-bound, above it are ExUnit-bound, which is why both limits are constraints in P2;  (d) a strong daily rhythm – the reason hour-of-day is a feature in P1.</a:t>
            </a:r>
          </a:p>
          <a:p>
            <a:pPr>
              <a:spcBef>
                <a:spcPts val="300"/>
              </a:spcBef>
            </a:pPr>
            <a:r>
              <a:rPr sz="950" b="0" i="1">
                <a:solidFill>
                  <a:srgbClr val="595959"/>
                </a:solidFill>
                <a:latin typeface="Calibri"/>
              </a:rPr>
              <a:t>Figures generated from a calibrated synthetic series; to be regenerated from the collected D1 dataset.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18</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3 (b)  Dataset Samples – Images (Order Side)</a:t>
            </a:r>
          </a:p>
        </p:txBody>
      </p:sp>
      <p:sp>
        <p:nvSpPr>
          <p:cNvPr id="7" name="TextBox 6"/>
          <p:cNvSpPr txBox="1"/>
          <p:nvPr/>
        </p:nvSpPr>
        <p:spPr>
          <a:xfrm>
            <a:off x="502920" y="1682496"/>
            <a:ext cx="11183112" cy="219456"/>
          </a:xfrm>
          <a:prstGeom prst="rect">
            <a:avLst/>
          </a:prstGeom>
          <a:noFill/>
        </p:spPr>
        <p:txBody>
          <a:bodyPr wrap="square" lIns="0" rIns="0" tIns="0" bIns="0"/>
          <a:lstStyle/>
          <a:p>
            <a:pPr algn="l"/>
            <a:r>
              <a:rPr sz="1150" b="0" i="0">
                <a:solidFill>
                  <a:srgbClr val="595959"/>
                </a:solidFill>
                <a:latin typeface="Calibri"/>
              </a:rPr>
              <a:t>Characterisation of the primary data D2 / D3 – the order stream the policy has to schedule.</a:t>
            </a:r>
          </a:p>
        </p:txBody>
      </p:sp>
      <p:pic>
        <p:nvPicPr>
          <p:cNvPr id="8" name="Picture 7" descr="eda_orders.png"/>
          <p:cNvPicPr>
            <a:picLocks noChangeAspect="1"/>
          </p:cNvPicPr>
          <p:nvPr/>
        </p:nvPicPr>
        <p:blipFill>
          <a:blip r:embed="rId3"/>
          <a:stretch>
            <a:fillRect/>
          </a:stretch>
        </p:blipFill>
        <p:spPr>
          <a:xfrm>
            <a:off x="502920" y="2011680"/>
            <a:ext cx="11183112" cy="2340864"/>
          </a:xfrm>
          <a:prstGeom prst="rect">
            <a:avLst/>
          </a:prstGeom>
        </p:spPr>
      </p:pic>
      <p:sp>
        <p:nvSpPr>
          <p:cNvPr id="9" name="TextBox 8"/>
          <p:cNvSpPr txBox="1"/>
          <p:nvPr/>
        </p:nvSpPr>
        <p:spPr>
          <a:xfrm>
            <a:off x="502920" y="4517136"/>
            <a:ext cx="11183112" cy="1188720"/>
          </a:xfrm>
          <a:prstGeom prst="rect">
            <a:avLst/>
          </a:prstGeom>
          <a:noFill/>
        </p:spPr>
        <p:txBody>
          <a:bodyPr wrap="square" lIns="0" rIns="0" tIns="0" bIns="0"/>
          <a:lstStyle/>
          <a:p>
            <a:pPr>
              <a:lnSpc>
                <a:spcPct val="105000"/>
              </a:lnSpc>
            </a:pPr>
            <a:r>
              <a:rPr sz="1100" b="1" i="0">
                <a:solidFill>
                  <a:srgbClr val="1F3864"/>
                </a:solidFill>
                <a:latin typeface="Calibri"/>
              </a:rPr>
              <a:t>Reading:  </a:t>
            </a:r>
            <a:r>
              <a:rPr sz="1100" b="0" i="0">
                <a:solidFill>
                  <a:srgbClr val="222222"/>
                </a:solidFill>
                <a:latin typeface="Calibri"/>
              </a:rPr>
              <a:t>(a) orders arrive as a non-stationary Poisson stream, so queue depth alone is a poor trigger;  (b) per-order size is log-normal, which is why the optimizer must sum actual order sizes rather than assume a constant cost per order;  (c) the latency distribution is the quantity P2 and P3 are trying to move left – the blue curve is the target, not a result.</a:t>
            </a:r>
          </a:p>
          <a:p>
            <a:pPr>
              <a:spcBef>
                <a:spcPts val="600"/>
              </a:spcBef>
            </a:pPr>
            <a:r>
              <a:rPr sz="1100" b="1" i="0">
                <a:solidFill>
                  <a:srgbClr val="1F3864"/>
                </a:solidFill>
                <a:latin typeface="Calibri"/>
              </a:rPr>
              <a:t>Calibration:  </a:t>
            </a:r>
            <a:r>
              <a:rPr sz="1100" b="0" i="0">
                <a:solidFill>
                  <a:srgbClr val="222222"/>
                </a:solidFill>
                <a:latin typeface="Calibri"/>
              </a:rPr>
              <a:t>the arrival rate and order-size parameters of the simulator are fitted so that the batch transactions it produces have the same size and ExUnit profile as the real Cardano DEX transactions observed in D1, and the fit is checked against the live preprod submissions in D4.</a:t>
            </a:r>
          </a:p>
        </p:txBody>
      </p:sp>
      <p:sp>
        <p:nvSpPr>
          <p:cNvPr id="10" name="TextBox 9"/>
          <p:cNvSpPr txBox="1"/>
          <p:nvPr/>
        </p:nvSpPr>
        <p:spPr>
          <a:xfrm>
            <a:off x="502920" y="5815584"/>
            <a:ext cx="11183112" cy="457200"/>
          </a:xfrm>
          <a:prstGeom prst="rect">
            <a:avLst/>
          </a:prstGeom>
          <a:noFill/>
        </p:spPr>
        <p:txBody>
          <a:bodyPr wrap="square" lIns="0" rIns="0" tIns="0" bIns="0"/>
          <a:lstStyle/>
          <a:p>
            <a:pPr>
              <a:lnSpc>
                <a:spcPct val="105000"/>
              </a:lnSpc>
            </a:pPr>
            <a:r>
              <a:rPr sz="950" b="0" i="1">
                <a:solidFill>
                  <a:srgbClr val="595959"/>
                </a:solidFill>
                <a:latin typeface="Calibri"/>
              </a:rPr>
              <a:t>Figures generated from the simulator's calibrated synthetic stream; panel (c) is an illustration of the target, and will be replaced by measured results in the evaluation phase.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llege_logo.png"/>
          <p:cNvPicPr>
            <a:picLocks noChangeAspect="1"/>
          </p:cNvPicPr>
          <p:nvPr/>
        </p:nvPicPr>
        <p:blipFill>
          <a:blip r:embed="rId2"/>
          <a:stretch>
            <a:fillRect/>
          </a:stretch>
        </p:blipFill>
        <p:spPr>
          <a:xfrm>
            <a:off x="502920" y="274320"/>
            <a:ext cx="2926080" cy="512064"/>
          </a:xfrm>
          <a:prstGeom prst="rect">
            <a:avLst/>
          </a:prstGeom>
        </p:spPr>
      </p:pic>
      <p:sp>
        <p:nvSpPr>
          <p:cNvPr id="3" name="Rectangle 2"/>
          <p:cNvSpPr/>
          <p:nvPr/>
        </p:nvSpPr>
        <p:spPr>
          <a:xfrm>
            <a:off x="502920" y="960120"/>
            <a:ext cx="11183112" cy="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46520"/>
            <a:ext cx="10488168" cy="274320"/>
          </a:xfrm>
          <a:prstGeom prst="rect">
            <a:avLst/>
          </a:prstGeom>
          <a:noFill/>
        </p:spPr>
        <p:txBody>
          <a:bodyPr wrap="square" lIns="0" rIns="0" tIns="0" bIns="0"/>
          <a:lstStyle/>
          <a:p>
            <a:pPr algn="l"/>
            <a:r>
              <a:rPr sz="900" b="0" i="0">
                <a:solidFill>
                  <a:srgbClr val="595959"/>
                </a:solidFill>
                <a:latin typeface="Calibri"/>
              </a:rPr>
              <a:t>AI-Driven Adaptive Transaction Batching for Cardano Decentralized Exchanges  |  Batch 11</a:t>
            </a:r>
          </a:p>
        </p:txBody>
      </p:sp>
      <p:sp>
        <p:nvSpPr>
          <p:cNvPr id="5" name="TextBox 4"/>
          <p:cNvSpPr txBox="1"/>
          <p:nvPr/>
        </p:nvSpPr>
        <p:spPr>
          <a:xfrm>
            <a:off x="11137392" y="6446520"/>
            <a:ext cx="548640" cy="274320"/>
          </a:xfrm>
          <a:prstGeom prst="rect">
            <a:avLst/>
          </a:prstGeom>
          <a:noFill/>
        </p:spPr>
        <p:txBody>
          <a:bodyPr wrap="square" lIns="0" rIns="0" tIns="0" bIns="0"/>
          <a:lstStyle/>
          <a:p>
            <a:pPr algn="r"/>
            <a:r>
              <a:rPr sz="1000" b="0" i="0">
                <a:solidFill>
                  <a:srgbClr val="595959"/>
                </a:solidFill>
                <a:latin typeface="Calibri"/>
              </a:rPr>
              <a:t>19</a:t>
            </a:r>
          </a:p>
        </p:txBody>
      </p:sp>
      <p:sp>
        <p:nvSpPr>
          <p:cNvPr id="6" name="TextBox 5"/>
          <p:cNvSpPr txBox="1"/>
          <p:nvPr/>
        </p:nvSpPr>
        <p:spPr>
          <a:xfrm>
            <a:off x="502920" y="1097280"/>
            <a:ext cx="11183112" cy="566928"/>
          </a:xfrm>
          <a:prstGeom prst="rect">
            <a:avLst/>
          </a:prstGeom>
          <a:noFill/>
        </p:spPr>
        <p:txBody>
          <a:bodyPr wrap="square" lIns="0" rIns="0" tIns="0" bIns="0"/>
          <a:lstStyle/>
          <a:p>
            <a:pPr algn="l"/>
            <a:r>
              <a:rPr sz="2800" b="1" i="0">
                <a:solidFill>
                  <a:srgbClr val="1F3864"/>
                </a:solidFill>
                <a:latin typeface="Calibri"/>
              </a:rPr>
              <a:t>Design Summary</a:t>
            </a:r>
          </a:p>
        </p:txBody>
      </p:sp>
      <p:sp>
        <p:nvSpPr>
          <p:cNvPr id="7" name="TextBox 6"/>
          <p:cNvSpPr txBox="1"/>
          <p:nvPr/>
        </p:nvSpPr>
        <p:spPr>
          <a:xfrm>
            <a:off x="502920" y="1874519"/>
            <a:ext cx="11183112" cy="4398264"/>
          </a:xfrm>
          <a:prstGeom prst="rect">
            <a:avLst/>
          </a:prstGeom>
          <a:noFill/>
        </p:spPr>
        <p:txBody>
          <a:bodyPr wrap="square" lIns="0" rIns="0" tIns="0" bIns="0"/>
          <a:lstStyle/>
          <a:p>
            <a:pPr>
              <a:lnSpc>
                <a:spcPct val="100000"/>
              </a:lnSpc>
              <a:spcAft>
                <a:spcPts val="672"/>
              </a:spcAft>
            </a:pPr>
            <a:r>
              <a:rPr sz="1600" b="1" i="0">
                <a:solidFill>
                  <a:srgbClr val="1F3864"/>
                </a:solidFill>
                <a:latin typeface="Calibri"/>
              </a:rPr>
              <a:t>•  </a:t>
            </a:r>
            <a:r>
              <a:rPr sz="1600" b="1" i="0">
                <a:solidFill>
                  <a:srgbClr val="1F3864"/>
                </a:solidFill>
                <a:latin typeface="Calibri"/>
              </a:rPr>
              <a:t>Architecture:  </a:t>
            </a:r>
            <a:r>
              <a:rPr sz="1600" b="0" i="0">
                <a:solidFill>
                  <a:srgbClr val="222222"/>
                </a:solidFill>
                <a:latin typeface="Calibri"/>
              </a:rPr>
              <a:t>four layers – on-chain Aiken contracts, public chain-data sources, the off-chain adaptive batcher (M1–M5, the contribution), and an offline simulator and evaluation layer (M6). Only the middle layer is new; wallets and the Cardano protocol are untouched.</a:t>
            </a:r>
          </a:p>
          <a:p>
            <a:pPr>
              <a:lnSpc>
                <a:spcPct val="100000"/>
              </a:lnSpc>
              <a:spcAft>
                <a:spcPts val="672"/>
              </a:spcAft>
            </a:pPr>
            <a:r>
              <a:rPr sz="1600" b="1" i="0">
                <a:solidFill>
                  <a:srgbClr val="1F3864"/>
                </a:solidFill>
                <a:latin typeface="Calibri"/>
              </a:rPr>
              <a:t>•  </a:t>
            </a:r>
            <a:r>
              <a:rPr sz="1600" b="1" i="0">
                <a:solidFill>
                  <a:srgbClr val="1F3864"/>
                </a:solidFill>
                <a:latin typeface="Calibri"/>
              </a:rPr>
              <a:t>Existing algorithms:  </a:t>
            </a:r>
            <a:r>
              <a:rPr sz="1600" b="0" i="0">
                <a:solidFill>
                  <a:srgbClr val="222222"/>
                </a:solidFill>
                <a:latin typeface="Calibri"/>
              </a:rPr>
              <a:t>E1–E3 trigger on a constant – a count, a timer or “every slot” – and never read chain state, so they mistime batches at exactly the moments congestion matters.</a:t>
            </a:r>
          </a:p>
          <a:p>
            <a:pPr>
              <a:lnSpc>
                <a:spcPct val="100000"/>
              </a:lnSpc>
              <a:spcAft>
                <a:spcPts val="672"/>
              </a:spcAft>
            </a:pPr>
            <a:r>
              <a:rPr sz="1600" b="1" i="0">
                <a:solidFill>
                  <a:srgbClr val="1F3864"/>
                </a:solidFill>
                <a:latin typeface="Calibri"/>
              </a:rPr>
              <a:t>•  </a:t>
            </a:r>
            <a:r>
              <a:rPr sz="1600" b="1" i="0">
                <a:solidFill>
                  <a:srgbClr val="1F3864"/>
                </a:solidFill>
                <a:latin typeface="Calibri"/>
              </a:rPr>
              <a:t>Proposed algorithms:  </a:t>
            </a:r>
            <a:r>
              <a:rPr sz="1600" b="0" i="0">
                <a:solidFill>
                  <a:srgbClr val="222222"/>
                </a:solidFill>
                <a:latin typeface="Calibri"/>
              </a:rPr>
              <a:t>P1 forecasts next-block congestion, P2 turns that forecast into a capacity-feasible batch by constrained optimization, and P3 learns the same decision end to end as an MDP with a bounce penalty.</a:t>
            </a:r>
          </a:p>
          <a:p>
            <a:pPr>
              <a:lnSpc>
                <a:spcPct val="100000"/>
              </a:lnSpc>
              <a:spcAft>
                <a:spcPts val="672"/>
              </a:spcAft>
            </a:pPr>
            <a:r>
              <a:rPr sz="1600" b="1" i="0">
                <a:solidFill>
                  <a:srgbClr val="1F3864"/>
                </a:solidFill>
                <a:latin typeface="Calibri"/>
              </a:rPr>
              <a:t>•  </a:t>
            </a:r>
            <a:r>
              <a:rPr sz="1600" b="1" i="0">
                <a:solidFill>
                  <a:srgbClr val="1F3864"/>
                </a:solidFill>
                <a:latin typeface="Calibri"/>
              </a:rPr>
              <a:t>Constraints are first-class:  </a:t>
            </a:r>
            <a:r>
              <a:rPr sz="1600" b="0" i="0">
                <a:solidFill>
                  <a:srgbClr val="222222"/>
                </a:solidFill>
                <a:latin typeface="Calibri"/>
              </a:rPr>
              <a:t>the 90,112-byte block limit and the 62 M / 20 G ExUnit budget are enforced inside the decision, not checked afterwards – this is what removes the failure mode the static batchers suffer.</a:t>
            </a:r>
          </a:p>
          <a:p>
            <a:pPr>
              <a:lnSpc>
                <a:spcPct val="100000"/>
              </a:lnSpc>
              <a:spcAft>
                <a:spcPts val="672"/>
              </a:spcAft>
            </a:pPr>
            <a:r>
              <a:rPr sz="1600" b="1" i="0">
                <a:solidFill>
                  <a:srgbClr val="1F3864"/>
                </a:solidFill>
                <a:latin typeface="Calibri"/>
              </a:rPr>
              <a:t>•  </a:t>
            </a:r>
            <a:r>
              <a:rPr sz="1600" b="1" i="0">
                <a:solidFill>
                  <a:srgbClr val="1F3864"/>
                </a:solidFill>
                <a:latin typeface="Calibri"/>
              </a:rPr>
              <a:t>Datasets:  </a:t>
            </a:r>
            <a:r>
              <a:rPr sz="1600" b="0" i="0">
                <a:solidFill>
                  <a:srgbClr val="222222"/>
                </a:solidFill>
                <a:latin typeface="Calibri"/>
              </a:rPr>
              <a:t>secondary data is ~390,000 rows of real Cardano block history split chronologically; primary data is the simulator's order stream, the decision log, and real preprod-testnet settlements used to validate the simulator.</a:t>
            </a:r>
          </a:p>
          <a:p>
            <a:pPr>
              <a:lnSpc>
                <a:spcPct val="100000"/>
              </a:lnSpc>
              <a:spcAft>
                <a:spcPts val="672"/>
              </a:spcAft>
            </a:pPr>
            <a:r>
              <a:rPr sz="1600" b="1" i="0">
                <a:solidFill>
                  <a:srgbClr val="1F3864"/>
                </a:solidFill>
                <a:latin typeface="Calibri"/>
              </a:rPr>
              <a:t>•  </a:t>
            </a:r>
            <a:r>
              <a:rPr sz="1600" b="1" i="0">
                <a:solidFill>
                  <a:srgbClr val="1F3864"/>
                </a:solidFill>
                <a:latin typeface="Calibri"/>
              </a:rPr>
              <a:t>What this design makes testable:  </a:t>
            </a:r>
            <a:r>
              <a:rPr sz="1600" b="0" i="0">
                <a:solidFill>
                  <a:srgbClr val="222222"/>
                </a:solidFill>
                <a:latin typeface="Calibri"/>
              </a:rPr>
              <a:t>every claim reduces to a measurable comparison against E1–E3 on latency, per-user cost, inclusion-failure rate, throughput and fairness, on replayed real blocks.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