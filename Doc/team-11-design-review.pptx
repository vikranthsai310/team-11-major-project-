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slides/slide28.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66" r:id="rId3"/>
    <p:sldId id="268" r:id="rId4"/>
    <p:sldId id="269" r:id="rId5"/>
    <p:sldId id="270" r:id="rId6"/>
    <p:sldId id="271" r:id="rId7"/>
    <p:sldId id="258" r:id="rId8"/>
    <p:sldId id="272" r:id="rId9"/>
    <p:sldId id="260" r:id="rId10"/>
    <p:sldId id="261" r:id="rId11"/>
    <p:sldId id="273" r:id="rId12"/>
    <p:sldId id="263" r:id="rId13"/>
    <p:sldId id="274" r:id="rId14"/>
    <p:sldId id="275" r:id="rId15"/>
    <p:sldId id="276" r:id="rId16"/>
    <p:sldId id="277" r:id="rId17"/>
    <p:sldId id="284" r:id="rId18"/>
    <p:sldId id="280" r:id="rId19"/>
    <p:sldId id="282" r:id="rId20"/>
    <p:sldId id="283" r:id="rId21"/>
    <p:sldId id="281" r:id="rId22"/>
    <p:sldId id="257" r:id="rId23"/>
    <p:sldId id="265" r:id="rId24"/>
    <p:sldId id="259" r:id="rId25"/>
    <p:sldId id="264" r:id="rId26"/>
    <p:sldId id="286" r:id="rId27"/>
    <p:sldId id="287" r:id="rId28"/>
    <p:sldId id="900" r:id="rId90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F07688C-164E-44D9-9A03-318C854E3EAC}" v="2" dt="2026-08-24T13:54:51.620"/>
    <p1510:client id="{F609AF6B-AD5E-4F5E-805F-C1F67DA6A0DF}" v="435" dt="2026-08-24T15:07:42.75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3" d="100"/>
          <a:sy n="73" d="100"/>
        </p:scale>
        <p:origin x="594"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 Id="rId901"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213795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4F5F3A-70FD-6CFE-B83F-F45822CC77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E012FD-A6A5-5199-16EE-F91FCF7BC6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7168C5-8E05-2DDF-21C0-8679D5AD70F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6389196-5495-7051-0EBB-4E989182A68B}"/>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33892477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1F5E73-A12D-D2B5-F917-3D447ACD8A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56942D-0A76-D55D-9501-64F302A756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B7ED3E-6E3F-8C50-D0FB-0D4181F76E8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2ACACA7-F474-F089-9563-E663B8694721}"/>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7304439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C83156-1F49-9308-9A25-997EFB1A57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B9F6AF-66A4-BEE1-B588-D462197E1B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0A05CC-99E5-520D-693E-8F02A3FB92D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40197E3-02ED-5128-8A3F-4ABB27AA981E}"/>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38447402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CEC2B2-240E-4C36-8878-D8CCF201C9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D7E27F-BAFC-F4F2-78D1-B67CB10ED6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C7E912-53DD-43B5-60EB-67DF38B7193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7F72D7D-890D-A73A-F469-86E5A54C4C78}"/>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7298688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C2C907-815A-8577-C6DE-7530CA0308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CB9ACC-74C1-6F9A-9952-3EC9F5A967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1A4D30-DA0E-B3BF-335E-02FC9C22EEF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067C828-A84F-C052-D1D8-FF307F83D593}"/>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2715556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F05A3-55AF-D6C5-692A-B785B57A06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50FB76-AEDB-672A-6AD1-988C002944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73E17E-3C7E-177A-BF8C-CCDA3BAAD63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5DDB77-CA57-6C15-5F74-DF22920EDFC4}"/>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25222391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6DCD94-E014-8E73-AFA6-E3E23104AF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306A99-7014-301C-80F5-C758095377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03B36A-A2C6-CD6B-8857-2DC7F1208B8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DB1C8B9-336A-7104-88DF-F2CBC00B04A0}"/>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6841648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B3A002-457C-5339-A433-8F7DB3821E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5AAFDE-DA18-76A9-1D2C-A6D83C138D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5F37DD-1A85-0882-EAC2-589EBB608D3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BD95D5C-7E74-F2BC-6707-37E360553296}"/>
              </a:ext>
            </a:extLst>
          </p:cNvPr>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21769270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D18E9F-3895-F377-8AAC-B4AF3B486A7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472F330-005B-ABDE-36D4-7EE3BA0791C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B02B31E-22FF-0B11-6E68-56E093D59CB8}"/>
              </a:ext>
            </a:extLst>
          </p:cNvPr>
          <p:cNvSpPr>
            <a:spLocks noGrp="1"/>
          </p:cNvSpPr>
          <p:nvPr>
            <p:ph type="dt" sz="half" idx="10"/>
          </p:nvPr>
        </p:nvSpPr>
        <p:spPr/>
        <p:txBody>
          <a:bodyPr/>
          <a:lstStyle/>
          <a:p>
            <a:fld id="{B63E7494-41A5-4D6E-9E57-771A48E553A7}" type="datetimeFigureOut">
              <a:rPr lang="en-IN" smtClean="0"/>
              <a:t>22-09-2026</a:t>
            </a:fld>
            <a:endParaRPr lang="en-IN"/>
          </a:p>
        </p:txBody>
      </p:sp>
      <p:sp>
        <p:nvSpPr>
          <p:cNvPr id="5" name="Footer Placeholder 4">
            <a:extLst>
              <a:ext uri="{FF2B5EF4-FFF2-40B4-BE49-F238E27FC236}">
                <a16:creationId xmlns:a16="http://schemas.microsoft.com/office/drawing/2014/main" id="{22B139BC-B610-F7C4-3674-F392BE46A9D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E3DF8DC-AC3A-6F85-0FE5-27B93256C98B}"/>
              </a:ext>
            </a:extLst>
          </p:cNvPr>
          <p:cNvSpPr>
            <a:spLocks noGrp="1"/>
          </p:cNvSpPr>
          <p:nvPr>
            <p:ph type="sldNum" sz="quarter" idx="12"/>
          </p:nvPr>
        </p:nvSpPr>
        <p:spPr/>
        <p:txBody>
          <a:bodyPr/>
          <a:lstStyle/>
          <a:p>
            <a:fld id="{200B572E-6A8B-4C0A-84BC-CC266EA2F424}" type="slidenum">
              <a:rPr lang="en-IN" smtClean="0"/>
              <a:t>‹#›</a:t>
            </a:fld>
            <a:endParaRPr lang="en-IN"/>
          </a:p>
        </p:txBody>
      </p:sp>
    </p:spTree>
    <p:extLst>
      <p:ext uri="{BB962C8B-B14F-4D97-AF65-F5344CB8AC3E}">
        <p14:creationId xmlns:p14="http://schemas.microsoft.com/office/powerpoint/2010/main" val="34957825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 Id="rId3"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college_logo.png"/>
          <p:cNvPicPr>
            <a:picLocks noChangeAspect="1"/>
          </p:cNvPicPr>
          <p:nvPr/>
        </p:nvPicPr>
        <p:blipFill>
          <a:blip r:embed="rId3"/>
          <a:stretch>
            <a:fillRect/>
          </a:stretch>
        </p:blipFill>
        <p:spPr>
          <a:xfrm>
            <a:off x="1422400" y="182880"/>
            <a:ext cx="7071360" cy="1234440"/>
          </a:xfrm>
          <a:prstGeom prst="rect">
            <a:avLst/>
          </a:prstGeom>
        </p:spPr>
      </p:pic>
      <p:pic>
        <p:nvPicPr>
          <p:cNvPr id="3" name="Image 1" descr="iic_logo.png"/>
          <p:cNvPicPr>
            <a:picLocks noChangeAspect="1"/>
          </p:cNvPicPr>
          <p:nvPr/>
        </p:nvPicPr>
        <p:blipFill>
          <a:blip r:embed="rId4"/>
          <a:stretch>
            <a:fillRect/>
          </a:stretch>
        </p:blipFill>
        <p:spPr>
          <a:xfrm>
            <a:off x="8686800" y="411480"/>
            <a:ext cx="2814320" cy="822960"/>
          </a:xfrm>
          <a:prstGeom prst="rect">
            <a:avLst/>
          </a:prstGeom>
        </p:spPr>
      </p:pic>
      <p:sp>
        <p:nvSpPr>
          <p:cNvPr id="4" name="Text 0"/>
          <p:cNvSpPr/>
          <p:nvPr/>
        </p:nvSpPr>
        <p:spPr>
          <a:xfrm>
            <a:off x="0" y="1417319"/>
            <a:ext cx="12191695" cy="548639"/>
          </a:xfrm>
          <a:prstGeom prst="rect">
            <a:avLst/>
          </a:prstGeom>
          <a:noFill/>
          <a:ln/>
        </p:spPr>
        <p:txBody>
          <a:bodyPr wrap="square" rtlCol="0" anchor="ctr"/>
          <a:lstStyle/>
          <a:p>
            <a:pPr marL="0" indent="0" algn="ctr">
              <a:buNone/>
            </a:pPr>
            <a:endParaRPr lang="en-US" sz="3200" b="1" dirty="0">
              <a:latin typeface="Times New Roman" panose="02020603050405020304" pitchFamily="18" charset="0"/>
              <a:cs typeface="Times New Roman" panose="02020603050405020304" pitchFamily="18" charset="0"/>
            </a:endParaRPr>
          </a:p>
        </p:txBody>
      </p:sp>
      <p:sp>
        <p:nvSpPr>
          <p:cNvPr id="5" name="Shape 1"/>
          <p:cNvSpPr/>
          <p:nvPr/>
        </p:nvSpPr>
        <p:spPr>
          <a:xfrm>
            <a:off x="4724248" y="1965960"/>
            <a:ext cx="2743200" cy="0"/>
          </a:xfrm>
          <a:prstGeom prst="line">
            <a:avLst/>
          </a:prstGeom>
          <a:noFill/>
          <a:ln w="12700">
            <a:solidFill>
              <a:srgbClr val="D9D9D9"/>
            </a:solidFill>
            <a:prstDash val="solid"/>
          </a:ln>
        </p:spPr>
      </p:sp>
      <p:sp>
        <p:nvSpPr>
          <p:cNvPr id="6" name="Text 2"/>
          <p:cNvSpPr/>
          <p:nvPr/>
        </p:nvSpPr>
        <p:spPr>
          <a:xfrm>
            <a:off x="914400" y="2148840"/>
            <a:ext cx="10362895" cy="411480"/>
          </a:xfrm>
          <a:prstGeom prst="rect">
            <a:avLst/>
          </a:prstGeom>
          <a:noFill/>
          <a:ln/>
        </p:spPr>
        <p:txBody>
          <a:bodyPr wrap="square" lIns="91440" tIns="45720" rIns="91440" bIns="45720" rtlCol="0" anchor="ctr"/>
          <a:lstStyle/>
          <a:p>
            <a:pPr algn="ctr"/>
            <a:r>
              <a:rPr lang="en-US" sz="3200" b="1" i="1">
                <a:solidFill>
                  <a:srgbClr val="2E5395"/>
                </a:solidFill>
                <a:latin typeface="Times New Roman"/>
                <a:ea typeface="Calibri"/>
                <a:cs typeface="Times New Roman"/>
              </a:rPr>
              <a:t>Design Review Presentation</a:t>
            </a:r>
            <a:endParaRPr lang="en-US" sz="3200">
              <a:latin typeface="Times New Roman"/>
              <a:ea typeface="Calibri"/>
              <a:cs typeface="Times New Roman"/>
            </a:endParaRPr>
          </a:p>
        </p:txBody>
      </p:sp>
      <p:sp>
        <p:nvSpPr>
          <p:cNvPr id="7" name="Text 3"/>
          <p:cNvSpPr/>
          <p:nvPr/>
        </p:nvSpPr>
        <p:spPr>
          <a:xfrm>
            <a:off x="925606" y="2584269"/>
            <a:ext cx="10362895" cy="1233713"/>
          </a:xfrm>
          <a:prstGeom prst="rect">
            <a:avLst/>
          </a:prstGeom>
          <a:noFill/>
          <a:ln/>
        </p:spPr>
        <p:txBody>
          <a:bodyPr wrap="square" lIns="91440" tIns="45720" rIns="91440" bIns="45720" rtlCol="0" anchor="ctr"/>
          <a:lstStyle/>
          <a:p>
            <a:pPr algn="ctr"/>
            <a:r>
              <a:rPr lang="en-US" sz="2800" b="1">
                <a:solidFill>
                  <a:srgbClr val="1F3864"/>
                </a:solidFill>
                <a:latin typeface="Calibri"/>
                <a:ea typeface="Calibri"/>
                <a:cs typeface="Calibri"/>
              </a:rPr>
              <a:t>AI-Driven Adaptive Transaction Batching for Cardano Decentralized Exchanges.</a:t>
            </a:r>
          </a:p>
        </p:txBody>
      </p:sp>
      <p:sp>
        <p:nvSpPr>
          <p:cNvPr id="8" name="Text 4"/>
          <p:cNvSpPr/>
          <p:nvPr/>
        </p:nvSpPr>
        <p:spPr>
          <a:xfrm>
            <a:off x="2804008" y="3896360"/>
            <a:ext cx="1554480" cy="329184"/>
          </a:xfrm>
          <a:prstGeom prst="rect">
            <a:avLst/>
          </a:prstGeom>
          <a:noFill/>
          <a:ln/>
        </p:spPr>
        <p:txBody>
          <a:bodyPr wrap="square" rtlCol="0" anchor="ctr"/>
          <a:lstStyle/>
          <a:p>
            <a:pPr marL="0" indent="0" algn="l">
              <a:buNone/>
            </a:pPr>
            <a:r>
              <a:rPr lang="en-US" sz="1300" b="1">
                <a:solidFill>
                  <a:srgbClr val="595959"/>
                </a:solidFill>
                <a:latin typeface="Calibri" pitchFamily="34" charset="0"/>
                <a:ea typeface="Calibri" pitchFamily="34" charset="-122"/>
                <a:cs typeface="Calibri" pitchFamily="34" charset="-120"/>
              </a:rPr>
              <a:t>Student Name(s):</a:t>
            </a:r>
            <a:endParaRPr lang="en-US" sz="1300"/>
          </a:p>
        </p:txBody>
      </p:sp>
      <p:sp>
        <p:nvSpPr>
          <p:cNvPr id="9" name="Text 5"/>
          <p:cNvSpPr/>
          <p:nvPr/>
        </p:nvSpPr>
        <p:spPr>
          <a:xfrm>
            <a:off x="4358488" y="3918131"/>
            <a:ext cx="1441269" cy="459812"/>
          </a:xfrm>
          <a:prstGeom prst="rect">
            <a:avLst/>
          </a:prstGeom>
          <a:noFill/>
          <a:ln/>
        </p:spPr>
        <p:txBody>
          <a:bodyPr wrap="square" lIns="91440" tIns="45720" rIns="91440" bIns="45720" rtlCol="0" anchor="ctr"/>
          <a:lstStyle/>
          <a:p>
            <a:r>
              <a:rPr lang="en-US" sz="1300" err="1">
                <a:solidFill>
                  <a:srgbClr val="222222"/>
                </a:solidFill>
                <a:latin typeface="Calibri"/>
                <a:ea typeface="Calibri"/>
                <a:cs typeface="Calibri"/>
              </a:rPr>
              <a:t>Vikranth Sai,</a:t>
            </a:r>
            <a:endParaRPr lang="en-US" sz="1300">
              <a:solidFill>
                <a:srgbClr val="000000"/>
              </a:solidFill>
              <a:latin typeface="Calibri"/>
              <a:ea typeface="Calibri"/>
              <a:cs typeface="Calibri"/>
            </a:endParaRPr>
          </a:p>
          <a:p>
            <a:r>
              <a:rPr lang="en-US" sz="1300" err="1">
                <a:solidFill>
                  <a:srgbClr val="222222"/>
                </a:solidFill>
                <a:latin typeface="Calibri"/>
                <a:ea typeface="Calibri"/>
                <a:cs typeface="Calibri"/>
              </a:rPr>
              <a:t>Ganesh,</a:t>
            </a:r>
            <a:endParaRPr lang="en-US" sz="1300">
              <a:solidFill>
                <a:srgbClr val="000000"/>
              </a:solidFill>
              <a:latin typeface="Calibri"/>
              <a:ea typeface="Calibri"/>
              <a:cs typeface="Calibri"/>
            </a:endParaRPr>
          </a:p>
          <a:p>
            <a:r>
              <a:rPr lang="en-US" sz="1300" err="1">
                <a:solidFill>
                  <a:srgbClr val="222222"/>
                </a:solidFill>
                <a:latin typeface="Calibri"/>
                <a:ea typeface="Calibri"/>
                <a:cs typeface="Calibri"/>
              </a:rPr>
              <a:t>Sowmya</a:t>
            </a:r>
            <a:endParaRPr lang="en-US" sz="1300">
              <a:solidFill>
                <a:srgbClr val="000000"/>
              </a:solidFill>
              <a:latin typeface="Calibri"/>
              <a:ea typeface="Calibri"/>
              <a:cs typeface="Calibri"/>
            </a:endParaRPr>
          </a:p>
        </p:txBody>
      </p:sp>
      <p:sp>
        <p:nvSpPr>
          <p:cNvPr id="10" name="Text 6"/>
          <p:cNvSpPr/>
          <p:nvPr/>
        </p:nvSpPr>
        <p:spPr>
          <a:xfrm>
            <a:off x="2804008" y="4675487"/>
            <a:ext cx="1554480" cy="329184"/>
          </a:xfrm>
          <a:prstGeom prst="rect">
            <a:avLst/>
          </a:prstGeom>
          <a:noFill/>
          <a:ln/>
        </p:spPr>
        <p:txBody>
          <a:bodyPr wrap="square" rtlCol="0" anchor="ctr"/>
          <a:lstStyle/>
          <a:p>
            <a:pPr marL="0" indent="0" algn="l">
              <a:buNone/>
            </a:pPr>
            <a:r>
              <a:rPr lang="en-US" sz="1300" b="1">
                <a:solidFill>
                  <a:srgbClr val="595959"/>
                </a:solidFill>
                <a:latin typeface="Calibri" pitchFamily="34" charset="0"/>
                <a:ea typeface="Calibri" pitchFamily="34" charset="-122"/>
                <a:cs typeface="Calibri" pitchFamily="34" charset="-120"/>
              </a:rPr>
              <a:t>Hall Ticket No(s):</a:t>
            </a:r>
            <a:endParaRPr lang="en-US" sz="1300"/>
          </a:p>
        </p:txBody>
      </p:sp>
      <p:sp>
        <p:nvSpPr>
          <p:cNvPr id="11" name="Text 7"/>
          <p:cNvSpPr/>
          <p:nvPr/>
        </p:nvSpPr>
        <p:spPr>
          <a:xfrm>
            <a:off x="4358488" y="4573887"/>
            <a:ext cx="1920240" cy="706555"/>
          </a:xfrm>
          <a:prstGeom prst="rect">
            <a:avLst/>
          </a:prstGeom>
          <a:noFill/>
          <a:ln/>
        </p:spPr>
        <p:txBody>
          <a:bodyPr wrap="square" lIns="91440" tIns="45720" rIns="91440" bIns="45720" rtlCol="0" anchor="ctr"/>
          <a:lstStyle/>
          <a:p>
            <a:r>
              <a:rPr lang="en-US" sz="1300">
                <a:solidFill>
                  <a:srgbClr val="222222"/>
                </a:solidFill>
                <a:latin typeface="Calibri"/>
                <a:ea typeface="Calibri"/>
                <a:cs typeface="Calibri"/>
              </a:rPr>
              <a:t>23P61A67F1, 23P61A67F0,</a:t>
            </a:r>
            <a:endParaRPr lang="en-US" sz="1300">
              <a:solidFill>
                <a:srgbClr val="000000"/>
              </a:solidFill>
              <a:latin typeface="Calibri"/>
              <a:ea typeface="Calibri"/>
              <a:cs typeface="Calibri"/>
            </a:endParaRPr>
          </a:p>
          <a:p>
            <a:r>
              <a:rPr lang="en-US" sz="1300">
                <a:solidFill>
                  <a:srgbClr val="222222"/>
                </a:solidFill>
                <a:latin typeface="Calibri"/>
                <a:ea typeface="Calibri"/>
                <a:cs typeface="Calibri"/>
              </a:rPr>
              <a:t>23P61A67H8</a:t>
            </a:r>
            <a:endParaRPr lang="en-US" sz="1300">
              <a:solidFill>
                <a:srgbClr val="000000"/>
              </a:solidFill>
              <a:latin typeface="Calibri"/>
              <a:ea typeface="Calibri"/>
              <a:cs typeface="Calibri"/>
            </a:endParaRPr>
          </a:p>
        </p:txBody>
      </p:sp>
      <p:sp>
        <p:nvSpPr>
          <p:cNvPr id="12" name="Text 8"/>
          <p:cNvSpPr/>
          <p:nvPr/>
        </p:nvSpPr>
        <p:spPr>
          <a:xfrm>
            <a:off x="2804008" y="5469128"/>
            <a:ext cx="1554480" cy="329184"/>
          </a:xfrm>
          <a:prstGeom prst="rect">
            <a:avLst/>
          </a:prstGeom>
          <a:noFill/>
          <a:ln/>
        </p:spPr>
        <p:txBody>
          <a:bodyPr wrap="square" rtlCol="0" anchor="ctr"/>
          <a:lstStyle/>
          <a:p>
            <a:pPr marL="0" indent="0" algn="l">
              <a:buNone/>
            </a:pPr>
            <a:r>
              <a:rPr lang="en-US" sz="1300" b="1">
                <a:solidFill>
                  <a:srgbClr val="595959"/>
                </a:solidFill>
                <a:latin typeface="Calibri" pitchFamily="34" charset="0"/>
                <a:ea typeface="Calibri" pitchFamily="34" charset="-122"/>
                <a:cs typeface="Calibri" pitchFamily="34" charset="-120"/>
              </a:rPr>
              <a:t>Guide Name:</a:t>
            </a:r>
            <a:endParaRPr lang="en-US" sz="1300"/>
          </a:p>
        </p:txBody>
      </p:sp>
      <p:sp>
        <p:nvSpPr>
          <p:cNvPr id="13" name="Text 9"/>
          <p:cNvSpPr/>
          <p:nvPr/>
        </p:nvSpPr>
        <p:spPr>
          <a:xfrm>
            <a:off x="4358488" y="5483642"/>
            <a:ext cx="1920240" cy="329184"/>
          </a:xfrm>
          <a:prstGeom prst="rect">
            <a:avLst/>
          </a:prstGeom>
          <a:noFill/>
          <a:ln/>
        </p:spPr>
        <p:txBody>
          <a:bodyPr wrap="square" lIns="91440" tIns="45720" rIns="91440" bIns="45720" rtlCol="0" anchor="ctr"/>
          <a:lstStyle/>
          <a:p>
            <a:r>
              <a:rPr lang="en-US" sz="1300" err="1">
                <a:solidFill>
                  <a:srgbClr val="222222"/>
                </a:solidFill>
                <a:latin typeface="Calibri"/>
                <a:ea typeface="Calibri"/>
                <a:cs typeface="Calibri"/>
              </a:rPr>
              <a:t>Ms. B. Mamatha</a:t>
            </a:r>
            <a:endParaRPr lang="en-US" sz="1300">
              <a:solidFill>
                <a:srgbClr val="000000"/>
              </a:solidFill>
              <a:latin typeface="Calibri"/>
              <a:ea typeface="Calibri"/>
              <a:cs typeface="Calibri"/>
            </a:endParaRPr>
          </a:p>
        </p:txBody>
      </p:sp>
      <p:sp>
        <p:nvSpPr>
          <p:cNvPr id="14" name="Text 10"/>
          <p:cNvSpPr/>
          <p:nvPr/>
        </p:nvSpPr>
        <p:spPr>
          <a:xfrm>
            <a:off x="6278728" y="3925389"/>
            <a:ext cx="1463040" cy="329184"/>
          </a:xfrm>
          <a:prstGeom prst="rect">
            <a:avLst/>
          </a:prstGeom>
          <a:noFill/>
          <a:ln/>
        </p:spPr>
        <p:txBody>
          <a:bodyPr wrap="square" rtlCol="0" anchor="ctr"/>
          <a:lstStyle/>
          <a:p>
            <a:pPr marL="0" indent="0" algn="l">
              <a:buNone/>
            </a:pPr>
            <a:r>
              <a:rPr lang="en-US" sz="1300" b="1">
                <a:solidFill>
                  <a:srgbClr val="595959"/>
                </a:solidFill>
                <a:latin typeface="Calibri" pitchFamily="34" charset="0"/>
                <a:ea typeface="Calibri" pitchFamily="34" charset="-122"/>
                <a:cs typeface="Calibri" pitchFamily="34" charset="-120"/>
              </a:rPr>
              <a:t>Department:</a:t>
            </a:r>
            <a:endParaRPr lang="en-US" sz="1300"/>
          </a:p>
        </p:txBody>
      </p:sp>
      <p:sp>
        <p:nvSpPr>
          <p:cNvPr id="15" name="Text 11"/>
          <p:cNvSpPr/>
          <p:nvPr/>
        </p:nvSpPr>
        <p:spPr>
          <a:xfrm>
            <a:off x="7741768" y="3929978"/>
            <a:ext cx="2377440" cy="329184"/>
          </a:xfrm>
          <a:prstGeom prst="rect">
            <a:avLst/>
          </a:prstGeom>
          <a:noFill/>
          <a:ln/>
        </p:spPr>
        <p:txBody>
          <a:bodyPr wrap="square" rtlCol="0" anchor="ctr"/>
          <a:lstStyle/>
          <a:p>
            <a:pPr marL="0" indent="0" algn="l">
              <a:buNone/>
            </a:pPr>
            <a:r>
              <a:rPr lang="en-US" sz="1300">
                <a:solidFill>
                  <a:srgbClr val="222222"/>
                </a:solidFill>
                <a:latin typeface="Calibri" pitchFamily="34" charset="0"/>
                <a:ea typeface="Calibri" pitchFamily="34" charset="-122"/>
                <a:cs typeface="Calibri" pitchFamily="34" charset="-120"/>
              </a:rPr>
              <a:t>Data Science</a:t>
            </a:r>
            <a:endParaRPr lang="en-US" sz="1300"/>
          </a:p>
        </p:txBody>
      </p:sp>
      <p:sp>
        <p:nvSpPr>
          <p:cNvPr id="16" name="Text 12"/>
          <p:cNvSpPr/>
          <p:nvPr/>
        </p:nvSpPr>
        <p:spPr>
          <a:xfrm>
            <a:off x="6278728" y="4443258"/>
            <a:ext cx="1463040" cy="329184"/>
          </a:xfrm>
          <a:prstGeom prst="rect">
            <a:avLst/>
          </a:prstGeom>
          <a:noFill/>
          <a:ln/>
        </p:spPr>
        <p:txBody>
          <a:bodyPr wrap="square" rtlCol="0" anchor="ctr"/>
          <a:lstStyle/>
          <a:p>
            <a:pPr marL="0" indent="0" algn="l">
              <a:buNone/>
            </a:pPr>
            <a:r>
              <a:rPr lang="en-US" sz="1300" b="1">
                <a:solidFill>
                  <a:srgbClr val="595959"/>
                </a:solidFill>
                <a:latin typeface="Calibri" pitchFamily="34" charset="0"/>
                <a:ea typeface="Calibri" pitchFamily="34" charset="-122"/>
                <a:cs typeface="Calibri" pitchFamily="34" charset="-120"/>
              </a:rPr>
              <a:t>College:</a:t>
            </a:r>
            <a:endParaRPr lang="en-US" sz="1300"/>
          </a:p>
        </p:txBody>
      </p:sp>
      <p:sp>
        <p:nvSpPr>
          <p:cNvPr id="17" name="Text 13"/>
          <p:cNvSpPr/>
          <p:nvPr/>
        </p:nvSpPr>
        <p:spPr>
          <a:xfrm>
            <a:off x="7741768" y="4494699"/>
            <a:ext cx="2377440" cy="329184"/>
          </a:xfrm>
          <a:prstGeom prst="rect">
            <a:avLst/>
          </a:prstGeom>
          <a:noFill/>
          <a:ln/>
        </p:spPr>
        <p:txBody>
          <a:bodyPr wrap="square" rtlCol="0" anchor="ctr"/>
          <a:lstStyle/>
          <a:p>
            <a:pPr marL="0" indent="0" algn="l">
              <a:buNone/>
            </a:pPr>
            <a:r>
              <a:rPr lang="en-US" sz="1300">
                <a:solidFill>
                  <a:srgbClr val="222222"/>
                </a:solidFill>
                <a:latin typeface="Calibri" pitchFamily="34" charset="0"/>
                <a:ea typeface="Calibri" pitchFamily="34" charset="-122"/>
                <a:cs typeface="Calibri" pitchFamily="34" charset="-120"/>
              </a:rPr>
              <a:t>Vignana Bharathi Institute of Technology</a:t>
            </a:r>
            <a:endParaRPr lang="en-US" sz="1300"/>
          </a:p>
        </p:txBody>
      </p:sp>
      <p:sp>
        <p:nvSpPr>
          <p:cNvPr id="18" name="Text 14"/>
          <p:cNvSpPr/>
          <p:nvPr/>
        </p:nvSpPr>
        <p:spPr>
          <a:xfrm>
            <a:off x="6278728" y="5062728"/>
            <a:ext cx="1463040" cy="329184"/>
          </a:xfrm>
          <a:prstGeom prst="rect">
            <a:avLst/>
          </a:prstGeom>
          <a:noFill/>
          <a:ln/>
        </p:spPr>
        <p:txBody>
          <a:bodyPr wrap="square" rtlCol="0" anchor="ctr"/>
          <a:lstStyle/>
          <a:p>
            <a:pPr marL="0" indent="0" algn="l">
              <a:buNone/>
            </a:pPr>
            <a:r>
              <a:rPr lang="en-US" sz="1300" b="1">
                <a:solidFill>
                  <a:srgbClr val="595959"/>
                </a:solidFill>
                <a:latin typeface="Calibri" pitchFamily="34" charset="0"/>
                <a:ea typeface="Calibri" pitchFamily="34" charset="-122"/>
                <a:cs typeface="Calibri" pitchFamily="34" charset="-120"/>
              </a:rPr>
              <a:t>Academic Year:</a:t>
            </a:r>
            <a:endParaRPr lang="en-US" sz="1300"/>
          </a:p>
        </p:txBody>
      </p:sp>
      <p:sp>
        <p:nvSpPr>
          <p:cNvPr id="19" name="Text 15"/>
          <p:cNvSpPr/>
          <p:nvPr/>
        </p:nvSpPr>
        <p:spPr>
          <a:xfrm>
            <a:off x="7741768" y="5067317"/>
            <a:ext cx="2377440" cy="329184"/>
          </a:xfrm>
          <a:prstGeom prst="rect">
            <a:avLst/>
          </a:prstGeom>
          <a:noFill/>
          <a:ln/>
        </p:spPr>
        <p:txBody>
          <a:bodyPr wrap="square" lIns="91440" tIns="45720" rIns="91440" bIns="45720" rtlCol="0" anchor="ctr"/>
          <a:lstStyle/>
          <a:p>
            <a:pPr marL="0" indent="0" algn="l">
              <a:buNone/>
            </a:pPr>
            <a:r>
              <a:rPr lang="en-US" sz="1300">
                <a:solidFill>
                  <a:srgbClr val="222222"/>
                </a:solidFill>
                <a:latin typeface="Calibri"/>
                <a:ea typeface="Calibri"/>
                <a:cs typeface="Calibri"/>
              </a:rPr>
              <a:t>[2026 – 2027]</a:t>
            </a:r>
            <a:endParaRPr lang="en-US" sz="1300">
              <a:latin typeface="Calibri"/>
              <a:ea typeface="Calibri"/>
              <a:cs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6" name="Text 2"/>
          <p:cNvSpPr/>
          <p:nvPr/>
        </p:nvSpPr>
        <p:spPr>
          <a:xfrm>
            <a:off x="11140135" y="6492240"/>
            <a:ext cx="548640" cy="274320"/>
          </a:xfrm>
          <a:prstGeom prst="rect">
            <a:avLst/>
          </a:prstGeom>
          <a:noFill/>
          <a:ln/>
        </p:spPr>
        <p:txBody>
          <a:bodyPr wrap="square" rtlCol="0" anchor="ctr"/>
          <a:lstStyle/>
          <a:p>
            <a:pPr marL="0" indent="0" algn="r">
              <a:buNone/>
            </a:pPr>
            <a:r>
              <a:rPr lang="en-US" sz="1000" dirty="0">
                <a:solidFill>
                  <a:srgbClr val="595959"/>
                </a:solidFill>
                <a:latin typeface="Calibri" pitchFamily="34" charset="0"/>
                <a:ea typeface="Calibri" pitchFamily="34" charset="-122"/>
                <a:cs typeface="Calibri" pitchFamily="34" charset="-120"/>
              </a:rPr>
              <a:t>2</a:t>
            </a:r>
            <a:endParaRPr lang="en-US" sz="1000" dirty="0"/>
          </a:p>
        </p:txBody>
      </p:sp>
      <p:sp>
        <p:nvSpPr>
          <p:cNvPr id="7" name="Text 3"/>
          <p:cNvSpPr/>
          <p:nvPr/>
        </p:nvSpPr>
        <p:spPr>
          <a:xfrm>
            <a:off x="502920" y="575491"/>
            <a:ext cx="2070884" cy="298413"/>
          </a:xfrm>
          <a:prstGeom prst="rect">
            <a:avLst/>
          </a:prstGeom>
          <a:noFill/>
          <a:ln/>
        </p:spPr>
        <p:txBody>
          <a:bodyPr wrap="square" lIns="0" tIns="0" rIns="0" bIns="0" rtlCol="0" anchor="ctr"/>
          <a:lstStyle/>
          <a:p>
            <a:pPr marL="0" indent="0" algn="l">
              <a:buNone/>
            </a:pPr>
            <a:r>
              <a:rPr lang="en-US" sz="2800" b="1" dirty="0">
                <a:solidFill>
                  <a:srgbClr val="1F3864"/>
                </a:solidFill>
                <a:latin typeface="Calibri"/>
                <a:ea typeface="Calibri"/>
                <a:cs typeface="Calibri"/>
              </a:rPr>
              <a:t>Introduction</a:t>
            </a:r>
            <a:endParaRPr lang="en-US" sz="2800" dirty="0">
              <a:latin typeface="Calibri"/>
              <a:ea typeface="Calibri"/>
              <a:cs typeface="Calibri"/>
            </a:endParaRPr>
          </a:p>
        </p:txBody>
      </p:sp>
      <p:sp>
        <p:nvSpPr>
          <p:cNvPr id="8" name="Text 4"/>
          <p:cNvSpPr/>
          <p:nvPr/>
        </p:nvSpPr>
        <p:spPr>
          <a:xfrm>
            <a:off x="502920" y="1676402"/>
            <a:ext cx="11185855" cy="3551644"/>
          </a:xfrm>
          <a:prstGeom prst="rect">
            <a:avLst/>
          </a:prstGeom>
          <a:noFill/>
          <a:ln/>
        </p:spPr>
        <p:txBody>
          <a:bodyPr wrap="square" lIns="0" tIns="0" rIns="0" bIns="0" rtlCol="0" anchor="t"/>
          <a:lstStyle/>
          <a:p>
            <a:pPr algn="just">
              <a:spcAft>
                <a:spcPts val="1200"/>
              </a:spcAft>
              <a:buSzPct val="100000"/>
            </a:pPr>
            <a:endParaRPr lang="en-US" dirty="0">
              <a:ea typeface="Calibri"/>
              <a:cs typeface="Calibri"/>
            </a:endParaRPr>
          </a:p>
          <a:p>
            <a:pPr algn="just">
              <a:spcAft>
                <a:spcPts val="1200"/>
              </a:spcAft>
              <a:buSzPct val="100000"/>
            </a:pPr>
            <a:r>
              <a:rPr lang="en-US"/>
              <a:t>Cardano is built on the extended UTXO (eUTXO) model. A decentralized-exchange liquidity pool lives in a single UTXO that can be consumed only once per block, so a hundred users cannot swap against it independently: one succeeds and the rest fail. DEXs therefore rely on off-chain batchers that collect many swap orders and settle them in one transaction. The batchers deployed today fire on fixed rules, every M orders or every T seconds, and never read the chain before deciding.</a:t>
            </a:r>
            <a:endParaRPr lang="en-US" dirty="0">
              <a:ea typeface="Calibri"/>
              <a:cs typeface="Calibri"/>
            </a:endParaRPr>
          </a:p>
        </p:txBody>
      </p:sp>
      <p:sp>
        <p:nvSpPr>
          <p:cNvPr id="2" name="Text 3">
            <a:extLst>
              <a:ext uri="{FF2B5EF4-FFF2-40B4-BE49-F238E27FC236}">
                <a16:creationId xmlns:a16="http://schemas.microsoft.com/office/drawing/2014/main" id="{CDF3C187-B394-DA78-66BB-4DE93ACD323B}"/>
              </a:ext>
            </a:extLst>
          </p:cNvPr>
          <p:cNvSpPr/>
          <p:nvPr/>
        </p:nvSpPr>
        <p:spPr>
          <a:xfrm>
            <a:off x="502919" y="1533433"/>
            <a:ext cx="3159455" cy="312927"/>
          </a:xfrm>
          <a:prstGeom prst="rect">
            <a:avLst/>
          </a:prstGeom>
          <a:noFill/>
          <a:ln/>
        </p:spPr>
        <p:txBody>
          <a:bodyPr wrap="square" lIns="0" tIns="0" rIns="0" bIns="0" rtlCol="0" anchor="ctr"/>
          <a:lstStyle/>
          <a:p>
            <a:r>
              <a:rPr lang="en-US" sz="2800" b="1">
                <a:solidFill>
                  <a:srgbClr val="1F3864"/>
                </a:solidFill>
                <a:latin typeface="Calibri"/>
                <a:ea typeface="Calibri"/>
                <a:cs typeface="Calibri"/>
              </a:rPr>
              <a:t>Project Background :</a:t>
            </a:r>
            <a:endParaRPr lang="en-US" sz="2800" b="1" dirty="0">
              <a:solidFill>
                <a:srgbClr val="1F3864"/>
              </a:solidFill>
              <a:latin typeface="Calibri"/>
              <a:ea typeface="Calibri"/>
              <a:cs typeface="Calibri"/>
            </a:endParaRPr>
          </a:p>
        </p:txBody>
      </p:sp>
    </p:spTree>
    <p:extLst>
      <p:ext uri="{BB962C8B-B14F-4D97-AF65-F5344CB8AC3E}">
        <p14:creationId xmlns:p14="http://schemas.microsoft.com/office/powerpoint/2010/main" val="39706988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C660C9D0-3A03-EDA8-6172-C284897F667D}"/>
            </a:ext>
          </a:extLst>
        </p:cNvPr>
        <p:cNvGrpSpPr/>
        <p:nvPr/>
      </p:nvGrpSpPr>
      <p:grpSpPr>
        <a:xfrm>
          <a:off x="0" y="0"/>
          <a:ext cx="0" cy="0"/>
          <a:chOff x="0" y="0"/>
          <a:chExt cx="0" cy="0"/>
        </a:xfrm>
      </p:grpSpPr>
      <p:sp>
        <p:nvSpPr>
          <p:cNvPr id="6" name="Text 2">
            <a:extLst>
              <a:ext uri="{FF2B5EF4-FFF2-40B4-BE49-F238E27FC236}">
                <a16:creationId xmlns:a16="http://schemas.microsoft.com/office/drawing/2014/main" id="{10852D18-065A-9045-A09C-00DB516DBDBF}"/>
              </a:ext>
            </a:extLst>
          </p:cNvPr>
          <p:cNvSpPr/>
          <p:nvPr/>
        </p:nvSpPr>
        <p:spPr>
          <a:xfrm>
            <a:off x="11140135" y="6492240"/>
            <a:ext cx="548640" cy="274320"/>
          </a:xfrm>
          <a:prstGeom prst="rect">
            <a:avLst/>
          </a:prstGeom>
          <a:noFill/>
          <a:ln/>
        </p:spPr>
        <p:txBody>
          <a:bodyPr wrap="square" rtlCol="0" anchor="ctr"/>
          <a:lstStyle/>
          <a:p>
            <a:pPr marL="0" indent="0" algn="r">
              <a:buNone/>
            </a:pPr>
            <a:r>
              <a:rPr lang="en-US" sz="1000" dirty="0">
                <a:solidFill>
                  <a:srgbClr val="595959"/>
                </a:solidFill>
                <a:latin typeface="Calibri" pitchFamily="34" charset="0"/>
                <a:ea typeface="Calibri" pitchFamily="34" charset="-122"/>
                <a:cs typeface="Calibri" pitchFamily="34" charset="-120"/>
              </a:rPr>
              <a:t>3</a:t>
            </a:r>
            <a:endParaRPr lang="en-US" sz="1000" dirty="0"/>
          </a:p>
        </p:txBody>
      </p:sp>
      <p:sp>
        <p:nvSpPr>
          <p:cNvPr id="7" name="Text 3">
            <a:extLst>
              <a:ext uri="{FF2B5EF4-FFF2-40B4-BE49-F238E27FC236}">
                <a16:creationId xmlns:a16="http://schemas.microsoft.com/office/drawing/2014/main" id="{43B2C3FA-EC0B-2C6F-4797-8B3E4A09D369}"/>
              </a:ext>
            </a:extLst>
          </p:cNvPr>
          <p:cNvSpPr/>
          <p:nvPr/>
        </p:nvSpPr>
        <p:spPr>
          <a:xfrm>
            <a:off x="502920" y="575491"/>
            <a:ext cx="2070884" cy="298413"/>
          </a:xfrm>
          <a:prstGeom prst="rect">
            <a:avLst/>
          </a:prstGeom>
          <a:noFill/>
          <a:ln/>
        </p:spPr>
        <p:txBody>
          <a:bodyPr wrap="square" lIns="0" tIns="0" rIns="0" bIns="0" rtlCol="0" anchor="ctr"/>
          <a:lstStyle/>
          <a:p>
            <a:pPr marL="0" indent="0" algn="l">
              <a:buNone/>
            </a:pPr>
            <a:r>
              <a:rPr lang="en-US" sz="2800" b="1" dirty="0">
                <a:solidFill>
                  <a:srgbClr val="1F3864"/>
                </a:solidFill>
                <a:latin typeface="Calibri"/>
                <a:ea typeface="Calibri"/>
                <a:cs typeface="Calibri"/>
              </a:rPr>
              <a:t>Introduction</a:t>
            </a:r>
            <a:endParaRPr lang="en-US" sz="2800" dirty="0">
              <a:latin typeface="Calibri"/>
              <a:ea typeface="Calibri"/>
              <a:cs typeface="Calibri"/>
            </a:endParaRPr>
          </a:p>
        </p:txBody>
      </p:sp>
      <p:sp>
        <p:nvSpPr>
          <p:cNvPr id="8" name="Text 4">
            <a:extLst>
              <a:ext uri="{FF2B5EF4-FFF2-40B4-BE49-F238E27FC236}">
                <a16:creationId xmlns:a16="http://schemas.microsoft.com/office/drawing/2014/main" id="{10AF4CBF-C8E7-8D51-3AB6-4F0C61E8DEAB}"/>
              </a:ext>
            </a:extLst>
          </p:cNvPr>
          <p:cNvSpPr/>
          <p:nvPr/>
        </p:nvSpPr>
        <p:spPr>
          <a:xfrm>
            <a:off x="502920" y="1676402"/>
            <a:ext cx="11185855" cy="3551644"/>
          </a:xfrm>
          <a:prstGeom prst="rect">
            <a:avLst/>
          </a:prstGeom>
          <a:noFill/>
          <a:ln/>
        </p:spPr>
        <p:txBody>
          <a:bodyPr wrap="square" lIns="0" tIns="0" rIns="0" bIns="0" rtlCol="0" anchor="t"/>
          <a:lstStyle/>
          <a:p>
            <a:pPr algn="just">
              <a:spcAft>
                <a:spcPts val="1200"/>
              </a:spcAft>
              <a:buSzPct val="100000"/>
            </a:pPr>
            <a:endParaRPr lang="en-US" sz="2400" dirty="0">
              <a:ea typeface="Calibri"/>
              <a:cs typeface="Calibri"/>
            </a:endParaRPr>
          </a:p>
          <a:p>
            <a:pPr algn="just">
              <a:spcAft>
                <a:spcPts val="1200"/>
              </a:spcAft>
            </a:pPr>
            <a:r>
              <a:rPr lang="en-US">
                <a:ea typeface="+mn-lt"/>
                <a:cs typeface="+mn-lt"/>
              </a:rPr>
              <a:t>Static batchers trigger on constants, so they are mistimed by construction: too early, and the fixed transaction cost is spread over few users; too late, and every order waits. A submitted batch also locks the pool UTXO until it confirms, so a mistimed batch blocks everyone behind it. Cardano fees are deterministic, so waiting costs time, not money. The quantity to optimise is therefore confirmation latency and per-user cost. No existing batcher learns when to submit and how many orders to include.</a:t>
            </a:r>
            <a:endParaRPr lang="en-US"/>
          </a:p>
        </p:txBody>
      </p:sp>
      <p:sp>
        <p:nvSpPr>
          <p:cNvPr id="2" name="Text 3">
            <a:extLst>
              <a:ext uri="{FF2B5EF4-FFF2-40B4-BE49-F238E27FC236}">
                <a16:creationId xmlns:a16="http://schemas.microsoft.com/office/drawing/2014/main" id="{59874E03-BFB5-B35D-81DD-9A95B050DCF4}"/>
              </a:ext>
            </a:extLst>
          </p:cNvPr>
          <p:cNvSpPr/>
          <p:nvPr/>
        </p:nvSpPr>
        <p:spPr>
          <a:xfrm>
            <a:off x="502919" y="1533433"/>
            <a:ext cx="3159455" cy="312927"/>
          </a:xfrm>
          <a:prstGeom prst="rect">
            <a:avLst/>
          </a:prstGeom>
          <a:noFill/>
          <a:ln/>
        </p:spPr>
        <p:txBody>
          <a:bodyPr wrap="square" lIns="0" tIns="0" rIns="0" bIns="0" rtlCol="0" anchor="ctr"/>
          <a:lstStyle/>
          <a:p>
            <a:r>
              <a:rPr lang="en-US" sz="2800" b="1">
                <a:solidFill>
                  <a:srgbClr val="1F3864"/>
                </a:solidFill>
                <a:latin typeface="Calibri"/>
                <a:ea typeface="Calibri"/>
                <a:cs typeface="Calibri"/>
              </a:rPr>
              <a:t>Problem Statement :</a:t>
            </a:r>
            <a:endParaRPr lang="en-US" sz="2800" b="1" dirty="0">
              <a:solidFill>
                <a:srgbClr val="1F3864"/>
              </a:solidFill>
              <a:latin typeface="Calibri"/>
              <a:ea typeface="Calibri"/>
              <a:cs typeface="Calibri"/>
            </a:endParaRPr>
          </a:p>
        </p:txBody>
      </p:sp>
    </p:spTree>
    <p:extLst>
      <p:ext uri="{BB962C8B-B14F-4D97-AF65-F5344CB8AC3E}">
        <p14:creationId xmlns:p14="http://schemas.microsoft.com/office/powerpoint/2010/main" val="39520252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04A81A0-3050-3DAD-8189-E89DF492A94A}"/>
            </a:ext>
          </a:extLst>
        </p:cNvPr>
        <p:cNvGrpSpPr/>
        <p:nvPr/>
      </p:nvGrpSpPr>
      <p:grpSpPr>
        <a:xfrm>
          <a:off x="0" y="0"/>
          <a:ext cx="0" cy="0"/>
          <a:chOff x="0" y="0"/>
          <a:chExt cx="0" cy="0"/>
        </a:xfrm>
      </p:grpSpPr>
      <p:sp>
        <p:nvSpPr>
          <p:cNvPr id="6" name="Text 2">
            <a:extLst>
              <a:ext uri="{FF2B5EF4-FFF2-40B4-BE49-F238E27FC236}">
                <a16:creationId xmlns:a16="http://schemas.microsoft.com/office/drawing/2014/main" id="{DD0BC529-5790-A7A3-28FF-FDCA45658298}"/>
              </a:ext>
            </a:extLst>
          </p:cNvPr>
          <p:cNvSpPr/>
          <p:nvPr/>
        </p:nvSpPr>
        <p:spPr>
          <a:xfrm>
            <a:off x="11140135" y="6492240"/>
            <a:ext cx="548640" cy="274320"/>
          </a:xfrm>
          <a:prstGeom prst="rect">
            <a:avLst/>
          </a:prstGeom>
          <a:noFill/>
          <a:ln/>
        </p:spPr>
        <p:txBody>
          <a:bodyPr wrap="square" rtlCol="0" anchor="ctr"/>
          <a:lstStyle/>
          <a:p>
            <a:pPr marL="0" indent="0" algn="r">
              <a:buNone/>
            </a:pPr>
            <a:r>
              <a:rPr lang="en-US" sz="1000" dirty="0">
                <a:solidFill>
                  <a:srgbClr val="595959"/>
                </a:solidFill>
                <a:latin typeface="Calibri" pitchFamily="34" charset="0"/>
                <a:ea typeface="Calibri" pitchFamily="34" charset="-122"/>
                <a:cs typeface="Calibri" pitchFamily="34" charset="-120"/>
              </a:rPr>
              <a:t>4</a:t>
            </a:r>
            <a:endParaRPr lang="en-US" sz="1000" dirty="0"/>
          </a:p>
        </p:txBody>
      </p:sp>
      <p:sp>
        <p:nvSpPr>
          <p:cNvPr id="7" name="Text 3">
            <a:extLst>
              <a:ext uri="{FF2B5EF4-FFF2-40B4-BE49-F238E27FC236}">
                <a16:creationId xmlns:a16="http://schemas.microsoft.com/office/drawing/2014/main" id="{A9DBC8A3-AF9A-0123-A133-B46F18BB9396}"/>
              </a:ext>
            </a:extLst>
          </p:cNvPr>
          <p:cNvSpPr/>
          <p:nvPr/>
        </p:nvSpPr>
        <p:spPr>
          <a:xfrm>
            <a:off x="502920" y="575491"/>
            <a:ext cx="2070884" cy="298413"/>
          </a:xfrm>
          <a:prstGeom prst="rect">
            <a:avLst/>
          </a:prstGeom>
          <a:noFill/>
          <a:ln/>
        </p:spPr>
        <p:txBody>
          <a:bodyPr wrap="square" lIns="0" tIns="0" rIns="0" bIns="0" rtlCol="0" anchor="ctr"/>
          <a:lstStyle/>
          <a:p>
            <a:pPr marL="0" indent="0" algn="l">
              <a:buNone/>
            </a:pPr>
            <a:r>
              <a:rPr lang="en-US" sz="2800" b="1" dirty="0">
                <a:solidFill>
                  <a:srgbClr val="1F3864"/>
                </a:solidFill>
                <a:latin typeface="Calibri"/>
                <a:ea typeface="Calibri"/>
                <a:cs typeface="Calibri"/>
              </a:rPr>
              <a:t>Introduction</a:t>
            </a:r>
            <a:endParaRPr lang="en-US" sz="2800" dirty="0">
              <a:latin typeface="Calibri"/>
              <a:ea typeface="Calibri"/>
              <a:cs typeface="Calibri"/>
            </a:endParaRPr>
          </a:p>
        </p:txBody>
      </p:sp>
      <p:sp>
        <p:nvSpPr>
          <p:cNvPr id="8" name="Text 4">
            <a:extLst>
              <a:ext uri="{FF2B5EF4-FFF2-40B4-BE49-F238E27FC236}">
                <a16:creationId xmlns:a16="http://schemas.microsoft.com/office/drawing/2014/main" id="{12D1E178-CFFD-CB03-65C2-917615BB7FE4}"/>
              </a:ext>
            </a:extLst>
          </p:cNvPr>
          <p:cNvSpPr/>
          <p:nvPr/>
        </p:nvSpPr>
        <p:spPr>
          <a:xfrm>
            <a:off x="502920" y="1712687"/>
            <a:ext cx="10627055" cy="2789645"/>
          </a:xfrm>
          <a:prstGeom prst="rect">
            <a:avLst/>
          </a:prstGeom>
          <a:noFill/>
          <a:ln/>
        </p:spPr>
        <p:txBody>
          <a:bodyPr wrap="square" lIns="0" tIns="0" rIns="0" bIns="0" rtlCol="0" anchor="t"/>
          <a:lstStyle/>
          <a:p>
            <a:pPr algn="just">
              <a:spcAft>
                <a:spcPts val="1200"/>
              </a:spcAft>
              <a:buSzPct val="100000"/>
            </a:pPr>
            <a:endParaRPr lang="en-US" dirty="0">
              <a:ea typeface="+mn-lt"/>
              <a:cs typeface="+mn-lt"/>
            </a:endParaRPr>
          </a:p>
          <a:p>
            <a:pPr marL="285750" indent="-285750" algn="just">
              <a:lnSpc>
                <a:spcPct val="150000"/>
              </a:lnSpc>
              <a:buFont typeface="Arial"/>
              <a:buChar char="•"/>
            </a:pPr>
            <a:r>
              <a:rPr lang="en-US">
                <a:ea typeface="+mn-lt"/>
                <a:cs typeface="+mn-lt"/>
              </a:rPr>
              <a:t>A pool UTXO admits one batch per block, so every order queues behind the batch in flight.</a:t>
            </a:r>
            <a:endParaRPr lang="en-US">
              <a:ea typeface="Calibri"/>
              <a:cs typeface="Calibri"/>
            </a:endParaRPr>
          </a:p>
          <a:p>
            <a:pPr marL="285750" indent="-285750" algn="just">
              <a:lnSpc>
                <a:spcPct val="150000"/>
              </a:lnSpc>
              <a:buFont typeface="Arial"/>
              <a:buChar char="•"/>
            </a:pPr>
            <a:r>
              <a:rPr lang="en-US">
                <a:ea typeface="+mn-lt"/>
                <a:cs typeface="+mn-lt"/>
              </a:rPr>
              <a:t>Fixed M / T triggers cannot adapt to arrival bursts or to uncertain confirmation time.</a:t>
            </a:r>
            <a:endParaRPr lang="en-US">
              <a:ea typeface="Calibri"/>
              <a:cs typeface="Calibri"/>
            </a:endParaRPr>
          </a:p>
          <a:p>
            <a:pPr marL="285750" indent="-285750" algn="just">
              <a:lnSpc>
                <a:spcPct val="150000"/>
              </a:lnSpc>
              <a:buFont typeface="Arial"/>
              <a:buChar char="•"/>
            </a:pPr>
            <a:r>
              <a:rPr lang="en-US">
                <a:ea typeface="+mn-lt"/>
                <a:cs typeface="+mn-lt"/>
              </a:rPr>
              <a:t>Cardano fees are fixed: a bad batching decision costs latency, not gas.</a:t>
            </a:r>
            <a:endParaRPr lang="en-US">
              <a:ea typeface="Calibri"/>
              <a:cs typeface="Calibri"/>
            </a:endParaRPr>
          </a:p>
          <a:p>
            <a:pPr marL="285750" indent="-285750" algn="just">
              <a:lnSpc>
                <a:spcPct val="150000"/>
              </a:lnSpc>
              <a:buFont typeface="Arial"/>
              <a:buChar char="•"/>
            </a:pPr>
            <a:r>
              <a:rPr lang="en-US">
                <a:ea typeface="+mn-lt"/>
                <a:cs typeface="+mn-lt"/>
              </a:rPr>
              <a:t>Batch size is capped by per-transaction limits (16,384 B, 14 M memory): about 20–40 orders.</a:t>
            </a:r>
            <a:endParaRPr lang="en-US">
              <a:ea typeface="Calibri"/>
              <a:cs typeface="Calibri"/>
            </a:endParaRPr>
          </a:p>
          <a:p>
            <a:pPr marL="285750" indent="-285750" algn="just">
              <a:lnSpc>
                <a:spcPct val="150000"/>
              </a:lnSpc>
              <a:buFont typeface="Arial"/>
              <a:buChar char="•"/>
            </a:pPr>
            <a:r>
              <a:rPr lang="en-US">
                <a:ea typeface="+mn-lt"/>
                <a:cs typeface="+mn-lt"/>
              </a:rPr>
              <a:t>Premise checked on 388,781 mainnet blocks: median fill is 3.0%, so concurrency is the binding constraint.</a:t>
            </a:r>
            <a:endParaRPr lang="en-US">
              <a:ea typeface="Calibri"/>
              <a:cs typeface="Calibri"/>
            </a:endParaRPr>
          </a:p>
        </p:txBody>
      </p:sp>
      <p:sp>
        <p:nvSpPr>
          <p:cNvPr id="2" name="Text 3">
            <a:extLst>
              <a:ext uri="{FF2B5EF4-FFF2-40B4-BE49-F238E27FC236}">
                <a16:creationId xmlns:a16="http://schemas.microsoft.com/office/drawing/2014/main" id="{EC7A52A2-6714-71D4-40CD-A3FC9ACCDA6A}"/>
              </a:ext>
            </a:extLst>
          </p:cNvPr>
          <p:cNvSpPr/>
          <p:nvPr/>
        </p:nvSpPr>
        <p:spPr>
          <a:xfrm>
            <a:off x="502919" y="1555204"/>
            <a:ext cx="3159455" cy="312927"/>
          </a:xfrm>
          <a:prstGeom prst="rect">
            <a:avLst/>
          </a:prstGeom>
          <a:noFill/>
          <a:ln/>
        </p:spPr>
        <p:txBody>
          <a:bodyPr wrap="square" lIns="0" tIns="0" rIns="0" bIns="0" rtlCol="0" anchor="ctr"/>
          <a:lstStyle/>
          <a:p>
            <a:r>
              <a:rPr lang="en-US" sz="2800" b="1">
                <a:solidFill>
                  <a:srgbClr val="1F3864"/>
                </a:solidFill>
                <a:latin typeface="Calibri"/>
                <a:ea typeface="Calibri"/>
                <a:cs typeface="Calibri"/>
              </a:rPr>
              <a:t>Need for the study :</a:t>
            </a:r>
            <a:endParaRPr lang="en-US" sz="2800" b="1" dirty="0">
              <a:solidFill>
                <a:srgbClr val="1F3864"/>
              </a:solidFill>
              <a:latin typeface="Calibri"/>
              <a:ea typeface="Calibri"/>
              <a:cs typeface="Calibri"/>
            </a:endParaRPr>
          </a:p>
        </p:txBody>
      </p:sp>
    </p:spTree>
    <p:extLst>
      <p:ext uri="{BB962C8B-B14F-4D97-AF65-F5344CB8AC3E}">
        <p14:creationId xmlns:p14="http://schemas.microsoft.com/office/powerpoint/2010/main" val="3077089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C56E4AF6-AEE5-A392-AF00-CB0168B92A51}"/>
            </a:ext>
          </a:extLst>
        </p:cNvPr>
        <p:cNvGrpSpPr/>
        <p:nvPr/>
      </p:nvGrpSpPr>
      <p:grpSpPr>
        <a:xfrm>
          <a:off x="0" y="0"/>
          <a:ext cx="0" cy="0"/>
          <a:chOff x="0" y="0"/>
          <a:chExt cx="0" cy="0"/>
        </a:xfrm>
      </p:grpSpPr>
      <p:sp>
        <p:nvSpPr>
          <p:cNvPr id="6" name="Text 2">
            <a:extLst>
              <a:ext uri="{FF2B5EF4-FFF2-40B4-BE49-F238E27FC236}">
                <a16:creationId xmlns:a16="http://schemas.microsoft.com/office/drawing/2014/main" id="{A1D1E45F-37B1-CC67-F920-ADF9D95A04EF}"/>
              </a:ext>
            </a:extLst>
          </p:cNvPr>
          <p:cNvSpPr/>
          <p:nvPr/>
        </p:nvSpPr>
        <p:spPr>
          <a:xfrm>
            <a:off x="11140135" y="6492240"/>
            <a:ext cx="548640" cy="274320"/>
          </a:xfrm>
          <a:prstGeom prst="rect">
            <a:avLst/>
          </a:prstGeom>
          <a:noFill/>
          <a:ln/>
        </p:spPr>
        <p:txBody>
          <a:bodyPr wrap="square" rtlCol="0" anchor="ctr"/>
          <a:lstStyle/>
          <a:p>
            <a:pPr marL="0" indent="0" algn="r">
              <a:buNone/>
            </a:pPr>
            <a:r>
              <a:rPr lang="en-US" sz="1000" dirty="0">
                <a:solidFill>
                  <a:srgbClr val="595959"/>
                </a:solidFill>
                <a:latin typeface="Calibri" pitchFamily="34" charset="0"/>
                <a:ea typeface="Calibri" pitchFamily="34" charset="-122"/>
                <a:cs typeface="Calibri" pitchFamily="34" charset="-120"/>
              </a:rPr>
              <a:t>5</a:t>
            </a:r>
            <a:endParaRPr lang="en-US" sz="1000" dirty="0"/>
          </a:p>
        </p:txBody>
      </p:sp>
      <p:sp>
        <p:nvSpPr>
          <p:cNvPr id="7" name="Text 3">
            <a:extLst>
              <a:ext uri="{FF2B5EF4-FFF2-40B4-BE49-F238E27FC236}">
                <a16:creationId xmlns:a16="http://schemas.microsoft.com/office/drawing/2014/main" id="{E6563CA5-63EA-748B-714D-6697B173D7FE}"/>
              </a:ext>
            </a:extLst>
          </p:cNvPr>
          <p:cNvSpPr/>
          <p:nvPr/>
        </p:nvSpPr>
        <p:spPr>
          <a:xfrm>
            <a:off x="502920" y="575491"/>
            <a:ext cx="2070884" cy="298413"/>
          </a:xfrm>
          <a:prstGeom prst="rect">
            <a:avLst/>
          </a:prstGeom>
          <a:noFill/>
          <a:ln/>
        </p:spPr>
        <p:txBody>
          <a:bodyPr wrap="square" lIns="0" tIns="0" rIns="0" bIns="0" rtlCol="0" anchor="ctr"/>
          <a:lstStyle/>
          <a:p>
            <a:pPr marL="0" indent="0" algn="l">
              <a:buNone/>
            </a:pPr>
            <a:r>
              <a:rPr lang="en-US" sz="2800" b="1" dirty="0">
                <a:solidFill>
                  <a:srgbClr val="1F3864"/>
                </a:solidFill>
                <a:latin typeface="Calibri"/>
                <a:ea typeface="Calibri"/>
                <a:cs typeface="Calibri"/>
              </a:rPr>
              <a:t>Introduction</a:t>
            </a:r>
            <a:endParaRPr lang="en-US" sz="2800" dirty="0">
              <a:latin typeface="Calibri"/>
              <a:ea typeface="Calibri"/>
              <a:cs typeface="Calibri"/>
            </a:endParaRPr>
          </a:p>
        </p:txBody>
      </p:sp>
      <p:sp>
        <p:nvSpPr>
          <p:cNvPr id="8" name="Text 4">
            <a:extLst>
              <a:ext uri="{FF2B5EF4-FFF2-40B4-BE49-F238E27FC236}">
                <a16:creationId xmlns:a16="http://schemas.microsoft.com/office/drawing/2014/main" id="{3A1CDDD3-A2F3-8179-BC2E-C504BC7F9694}"/>
              </a:ext>
            </a:extLst>
          </p:cNvPr>
          <p:cNvSpPr/>
          <p:nvPr/>
        </p:nvSpPr>
        <p:spPr>
          <a:xfrm>
            <a:off x="502920" y="1698173"/>
            <a:ext cx="10627055" cy="3435530"/>
          </a:xfrm>
          <a:prstGeom prst="rect">
            <a:avLst/>
          </a:prstGeom>
          <a:noFill/>
          <a:ln/>
        </p:spPr>
        <p:txBody>
          <a:bodyPr wrap="square" lIns="0" tIns="0" rIns="0" bIns="0" rtlCol="0" anchor="t"/>
          <a:lstStyle/>
          <a:p>
            <a:pPr marL="342900" indent="-342900" algn="just">
              <a:spcAft>
                <a:spcPts val="1200"/>
              </a:spcAft>
              <a:buSzPct val="100000"/>
              <a:buFont typeface="Arial" panose="020B0604020202020204" pitchFamily="34" charset="0"/>
              <a:buChar char="•"/>
            </a:pPr>
            <a:endParaRPr lang="en-US" dirty="0">
              <a:ea typeface="+mn-lt"/>
              <a:cs typeface="+mn-lt"/>
            </a:endParaRPr>
          </a:p>
          <a:p>
            <a:pPr marL="342900" indent="-342900" algn="just">
              <a:buFont typeface="Arial"/>
              <a:buChar char="•"/>
            </a:pPr>
            <a:r>
              <a:rPr lang="en-US">
                <a:ea typeface="+mn-lt"/>
                <a:cs typeface="+mn-lt"/>
              </a:rPr>
              <a:t>Collect and verify 92 days of Cardano mainnet block data (388,781 blocks).</a:t>
            </a:r>
            <a:endParaRPr lang="en-US">
              <a:ea typeface="Calibri"/>
              <a:cs typeface="Calibri"/>
            </a:endParaRPr>
          </a:p>
          <a:p>
            <a:pPr marL="342900" indent="-342900" algn="just">
              <a:buFont typeface="Arial"/>
              <a:buChar char="•"/>
            </a:pPr>
            <a:r>
              <a:rPr lang="en-US">
                <a:ea typeface="+mn-lt"/>
                <a:cs typeface="+mn-lt"/>
              </a:rPr>
              <a:t>Build a simulator that replays real blocks against tuned static baselines.</a:t>
            </a:r>
            <a:endParaRPr lang="en-US">
              <a:ea typeface="Calibri"/>
              <a:cs typeface="Calibri"/>
            </a:endParaRPr>
          </a:p>
          <a:p>
            <a:pPr marL="342900" indent="-342900" algn="just">
              <a:buFont typeface="Arial"/>
              <a:buChar char="•"/>
            </a:pPr>
            <a:r>
              <a:rPr lang="en-US">
                <a:ea typeface="+mn-lt"/>
                <a:cs typeface="+mn-lt"/>
              </a:rPr>
              <a:t>Forecast next-block capacity as a defensive input (LightGBM).</a:t>
            </a:r>
            <a:endParaRPr lang="en-US">
              <a:ea typeface="Calibri"/>
              <a:cs typeface="Calibri"/>
            </a:endParaRPr>
          </a:p>
          <a:p>
            <a:pPr marL="342900" indent="-342900" algn="just">
              <a:buFont typeface="Arial"/>
              <a:buChar char="•"/>
            </a:pPr>
            <a:r>
              <a:rPr lang="en-US">
                <a:ea typeface="+mn-lt"/>
                <a:cs typeface="+mn-lt"/>
              </a:rPr>
              <a:t>Decide WAIT or SUBMIT(n) with a constrained optimizer under hard protocol limits.</a:t>
            </a:r>
            <a:endParaRPr lang="en-US">
              <a:ea typeface="Calibri"/>
              <a:cs typeface="Calibri"/>
            </a:endParaRPr>
          </a:p>
          <a:p>
            <a:pPr marL="342900" indent="-342900" algn="just">
              <a:buFont typeface="Arial"/>
              <a:buChar char="•"/>
            </a:pPr>
            <a:r>
              <a:rPr lang="en-US">
                <a:ea typeface="+mn-lt"/>
                <a:cs typeface="+mn-lt"/>
              </a:rPr>
              <a:t>Train an RL (DQN) agent and wrap it in a safety shield.</a:t>
            </a:r>
            <a:endParaRPr lang="en-US">
              <a:ea typeface="Calibri"/>
              <a:cs typeface="Calibri"/>
            </a:endParaRPr>
          </a:p>
          <a:p>
            <a:pPr marL="342900" indent="-342900" algn="just">
              <a:buFont typeface="Arial"/>
              <a:buChar char="•"/>
            </a:pPr>
            <a:r>
              <a:rPr lang="en-US">
                <a:ea typeface="+mn-lt"/>
                <a:cs typeface="+mn-lt"/>
              </a:rPr>
              <a:t>Minimise confirmation latency and per-user cost without expiring orders.</a:t>
            </a:r>
            <a:endParaRPr lang="en-US">
              <a:ea typeface="Calibri"/>
              <a:cs typeface="Calibri"/>
            </a:endParaRPr>
          </a:p>
          <a:p>
            <a:pPr marL="342900" indent="-342900" algn="just">
              <a:buFont typeface="Arial"/>
              <a:buChar char="•"/>
            </a:pPr>
            <a:r>
              <a:rPr lang="en-US">
                <a:ea typeface="+mn-lt"/>
                <a:cs typeface="+mn-lt"/>
              </a:rPr>
              <a:t>Demonstrate a settled swap on a minimal Aiken DEX on the preprod testnet.</a:t>
            </a:r>
            <a:endParaRPr lang="en-US">
              <a:ea typeface="Calibri"/>
              <a:cs typeface="Calibri"/>
            </a:endParaRPr>
          </a:p>
        </p:txBody>
      </p:sp>
      <p:sp>
        <p:nvSpPr>
          <p:cNvPr id="2" name="Text 3">
            <a:extLst>
              <a:ext uri="{FF2B5EF4-FFF2-40B4-BE49-F238E27FC236}">
                <a16:creationId xmlns:a16="http://schemas.microsoft.com/office/drawing/2014/main" id="{0F1037F4-5AAB-C139-D9CA-B95EF8CF8840}"/>
              </a:ext>
            </a:extLst>
          </p:cNvPr>
          <p:cNvSpPr/>
          <p:nvPr/>
        </p:nvSpPr>
        <p:spPr>
          <a:xfrm>
            <a:off x="502919" y="1540690"/>
            <a:ext cx="3159455" cy="312927"/>
          </a:xfrm>
          <a:prstGeom prst="rect">
            <a:avLst/>
          </a:prstGeom>
          <a:noFill/>
          <a:ln/>
        </p:spPr>
        <p:txBody>
          <a:bodyPr wrap="square" lIns="0" tIns="0" rIns="0" bIns="0" rtlCol="0" anchor="ctr"/>
          <a:lstStyle/>
          <a:p>
            <a:r>
              <a:rPr lang="en-US" sz="2800" b="1">
                <a:solidFill>
                  <a:srgbClr val="1F3864"/>
                </a:solidFill>
                <a:latin typeface="Calibri"/>
                <a:ea typeface="Calibri"/>
                <a:cs typeface="Calibri"/>
              </a:rPr>
              <a:t>Project Objectives :</a:t>
            </a:r>
            <a:endParaRPr lang="en-US" sz="2800" b="1" dirty="0">
              <a:solidFill>
                <a:srgbClr val="1F3864"/>
              </a:solidFill>
              <a:latin typeface="Calibri"/>
              <a:ea typeface="Calibri"/>
              <a:cs typeface="Calibri"/>
            </a:endParaRPr>
          </a:p>
        </p:txBody>
      </p:sp>
    </p:spTree>
    <p:extLst>
      <p:ext uri="{BB962C8B-B14F-4D97-AF65-F5344CB8AC3E}">
        <p14:creationId xmlns:p14="http://schemas.microsoft.com/office/powerpoint/2010/main" val="3462085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774597B-C138-FD11-8BBF-8B747AAF5585}"/>
            </a:ext>
          </a:extLst>
        </p:cNvPr>
        <p:cNvGrpSpPr/>
        <p:nvPr/>
      </p:nvGrpSpPr>
      <p:grpSpPr>
        <a:xfrm>
          <a:off x="0" y="0"/>
          <a:ext cx="0" cy="0"/>
          <a:chOff x="0" y="0"/>
          <a:chExt cx="0" cy="0"/>
        </a:xfrm>
      </p:grpSpPr>
      <p:sp>
        <p:nvSpPr>
          <p:cNvPr id="6" name="Text 2">
            <a:extLst>
              <a:ext uri="{FF2B5EF4-FFF2-40B4-BE49-F238E27FC236}">
                <a16:creationId xmlns:a16="http://schemas.microsoft.com/office/drawing/2014/main" id="{AE204445-BE1B-420D-D091-E6E76D2757CD}"/>
              </a:ext>
            </a:extLst>
          </p:cNvPr>
          <p:cNvSpPr/>
          <p:nvPr/>
        </p:nvSpPr>
        <p:spPr>
          <a:xfrm>
            <a:off x="11140135" y="6492240"/>
            <a:ext cx="548640" cy="274320"/>
          </a:xfrm>
          <a:prstGeom prst="rect">
            <a:avLst/>
          </a:prstGeom>
          <a:noFill/>
          <a:ln/>
        </p:spPr>
        <p:txBody>
          <a:bodyPr wrap="square" rtlCol="0" anchor="ctr"/>
          <a:lstStyle/>
          <a:p>
            <a:pPr marL="0" indent="0" algn="r">
              <a:buNone/>
            </a:pPr>
            <a:r>
              <a:rPr lang="en-US" sz="1000" dirty="0">
                <a:solidFill>
                  <a:srgbClr val="595959"/>
                </a:solidFill>
                <a:latin typeface="Calibri" pitchFamily="34" charset="0"/>
                <a:ea typeface="Calibri" pitchFamily="34" charset="-122"/>
                <a:cs typeface="Calibri" pitchFamily="34" charset="-120"/>
              </a:rPr>
              <a:t>6</a:t>
            </a:r>
            <a:endParaRPr lang="en-US" sz="1000" dirty="0"/>
          </a:p>
        </p:txBody>
      </p:sp>
      <p:sp>
        <p:nvSpPr>
          <p:cNvPr id="7" name="Text 3">
            <a:extLst>
              <a:ext uri="{FF2B5EF4-FFF2-40B4-BE49-F238E27FC236}">
                <a16:creationId xmlns:a16="http://schemas.microsoft.com/office/drawing/2014/main" id="{10ED1650-EF1A-6849-E024-DCAC61B7525C}"/>
              </a:ext>
            </a:extLst>
          </p:cNvPr>
          <p:cNvSpPr/>
          <p:nvPr/>
        </p:nvSpPr>
        <p:spPr>
          <a:xfrm>
            <a:off x="502920" y="575491"/>
            <a:ext cx="2070884" cy="298413"/>
          </a:xfrm>
          <a:prstGeom prst="rect">
            <a:avLst/>
          </a:prstGeom>
          <a:noFill/>
          <a:ln/>
        </p:spPr>
        <p:txBody>
          <a:bodyPr wrap="square" lIns="0" tIns="0" rIns="0" bIns="0" rtlCol="0" anchor="ctr"/>
          <a:lstStyle/>
          <a:p>
            <a:pPr marL="0" indent="0" algn="l">
              <a:buNone/>
            </a:pPr>
            <a:r>
              <a:rPr lang="en-US" sz="2800" b="1" dirty="0">
                <a:solidFill>
                  <a:srgbClr val="1F3864"/>
                </a:solidFill>
                <a:latin typeface="Calibri"/>
                <a:ea typeface="Calibri"/>
                <a:cs typeface="Calibri"/>
              </a:rPr>
              <a:t>Introduction</a:t>
            </a:r>
            <a:endParaRPr lang="en-US" sz="2800" dirty="0">
              <a:latin typeface="Calibri"/>
              <a:ea typeface="Calibri"/>
              <a:cs typeface="Calibri"/>
            </a:endParaRPr>
          </a:p>
        </p:txBody>
      </p:sp>
      <p:sp>
        <p:nvSpPr>
          <p:cNvPr id="8" name="Text 4">
            <a:extLst>
              <a:ext uri="{FF2B5EF4-FFF2-40B4-BE49-F238E27FC236}">
                <a16:creationId xmlns:a16="http://schemas.microsoft.com/office/drawing/2014/main" id="{C00467B8-2DB0-DB7C-7C98-3147DA9CCD14}"/>
              </a:ext>
            </a:extLst>
          </p:cNvPr>
          <p:cNvSpPr/>
          <p:nvPr/>
        </p:nvSpPr>
        <p:spPr>
          <a:xfrm>
            <a:off x="510177" y="1705430"/>
            <a:ext cx="10888312" cy="3428273"/>
          </a:xfrm>
          <a:prstGeom prst="rect">
            <a:avLst/>
          </a:prstGeom>
          <a:noFill/>
          <a:ln/>
        </p:spPr>
        <p:txBody>
          <a:bodyPr wrap="square" lIns="0" tIns="0" rIns="0" bIns="0" rtlCol="0" anchor="t"/>
          <a:lstStyle/>
          <a:p>
            <a:pPr marL="342900" indent="-342900" algn="just">
              <a:spcAft>
                <a:spcPts val="1200"/>
              </a:spcAft>
              <a:buSzPct val="100000"/>
              <a:buFont typeface="Arial" panose="020B0604020202020204" pitchFamily="34" charset="0"/>
              <a:buChar char="•"/>
            </a:pPr>
            <a:endParaRPr lang="en-US" sz="2400" dirty="0">
              <a:ea typeface="+mn-lt"/>
              <a:cs typeface="+mn-lt"/>
            </a:endParaRPr>
          </a:p>
          <a:p>
            <a:pPr algn="just">
              <a:spcAft>
                <a:spcPts val="1200"/>
              </a:spcAft>
              <a:buSzPct val="100000"/>
            </a:pPr>
            <a:r>
              <a:rPr lang="en-US" dirty="0">
                <a:ea typeface="+mn-lt"/>
                <a:cs typeface="+mn-lt"/>
              </a:rPr>
              <a:t>An off-chain, server-side batcher: no website, no browser extension and no wallet code. It reads recent blocks and the order queue, forecasts capacity, and chooses WAIT or SUBMIT(n) under hard per-transaction (Gate A) and per-block (Gate B) limits. It is evaluated by replaying real mainnet blocks in a discrete-event simulator against tuned static batchers, and demonstrated on the Cardano preprod testnet. Wallet changes, protocol changes and mainnet deployment are out of scope.</a:t>
            </a:r>
            <a:endParaRPr lang="en-US">
              <a:ea typeface="Calibri"/>
              <a:cs typeface="Calibri"/>
            </a:endParaRPr>
          </a:p>
        </p:txBody>
      </p:sp>
      <p:sp>
        <p:nvSpPr>
          <p:cNvPr id="2" name="Text 3">
            <a:extLst>
              <a:ext uri="{FF2B5EF4-FFF2-40B4-BE49-F238E27FC236}">
                <a16:creationId xmlns:a16="http://schemas.microsoft.com/office/drawing/2014/main" id="{B578CF3C-8FDB-08ED-1CC1-BDF03C5056C9}"/>
              </a:ext>
            </a:extLst>
          </p:cNvPr>
          <p:cNvSpPr/>
          <p:nvPr/>
        </p:nvSpPr>
        <p:spPr>
          <a:xfrm>
            <a:off x="517433" y="1540690"/>
            <a:ext cx="3159455" cy="312927"/>
          </a:xfrm>
          <a:prstGeom prst="rect">
            <a:avLst/>
          </a:prstGeom>
          <a:noFill/>
          <a:ln/>
        </p:spPr>
        <p:txBody>
          <a:bodyPr wrap="square" lIns="0" tIns="0" rIns="0" bIns="0" rtlCol="0" anchor="ctr"/>
          <a:lstStyle/>
          <a:p>
            <a:r>
              <a:rPr lang="en-US" sz="2800" b="1">
                <a:solidFill>
                  <a:srgbClr val="1F3864"/>
                </a:solidFill>
                <a:latin typeface="Calibri"/>
                <a:ea typeface="Calibri"/>
                <a:cs typeface="Calibri"/>
              </a:rPr>
              <a:t>Scope of the project:</a:t>
            </a:r>
          </a:p>
        </p:txBody>
      </p:sp>
    </p:spTree>
    <p:extLst>
      <p:ext uri="{BB962C8B-B14F-4D97-AF65-F5344CB8AC3E}">
        <p14:creationId xmlns:p14="http://schemas.microsoft.com/office/powerpoint/2010/main" val="14158301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6" name="Text 2"/>
          <p:cNvSpPr/>
          <p:nvPr/>
        </p:nvSpPr>
        <p:spPr>
          <a:xfrm>
            <a:off x="11140135" y="6492240"/>
            <a:ext cx="548640" cy="274320"/>
          </a:xfrm>
          <a:prstGeom prst="rect">
            <a:avLst/>
          </a:prstGeom>
          <a:noFill/>
          <a:ln/>
        </p:spPr>
        <p:txBody>
          <a:bodyPr wrap="square" rtlCol="0" anchor="ctr"/>
          <a:lstStyle/>
          <a:p>
            <a:pPr marL="0" indent="0" algn="r">
              <a:buNone/>
            </a:pPr>
            <a:r>
              <a:rPr lang="en-US" sz="1000" dirty="0">
                <a:solidFill>
                  <a:srgbClr val="595959"/>
                </a:solidFill>
                <a:latin typeface="Calibri" pitchFamily="34" charset="0"/>
                <a:ea typeface="Calibri" pitchFamily="34" charset="-122"/>
                <a:cs typeface="Calibri" pitchFamily="34" charset="-120"/>
              </a:rPr>
              <a:t>7</a:t>
            </a:r>
            <a:endParaRPr lang="en-US" sz="1000" dirty="0"/>
          </a:p>
        </p:txBody>
      </p:sp>
      <p:sp>
        <p:nvSpPr>
          <p:cNvPr id="7" name="Text 3"/>
          <p:cNvSpPr/>
          <p:nvPr/>
        </p:nvSpPr>
        <p:spPr>
          <a:xfrm>
            <a:off x="502920" y="960120"/>
            <a:ext cx="11185855" cy="566928"/>
          </a:xfrm>
          <a:prstGeom prst="rect">
            <a:avLst/>
          </a:prstGeom>
          <a:noFill/>
          <a:ln/>
        </p:spPr>
        <p:txBody>
          <a:bodyPr wrap="square" lIns="0" tIns="0" rIns="0" bIns="0" rtlCol="0" anchor="ctr"/>
          <a:lstStyle/>
          <a:p>
            <a:pPr marL="0" indent="0" algn="l">
              <a:buNone/>
            </a:pPr>
            <a:r>
              <a:rPr lang="en-US" sz="2800" b="1" dirty="0">
                <a:solidFill>
                  <a:srgbClr val="1F3864"/>
                </a:solidFill>
                <a:latin typeface="Calibri" pitchFamily="34" charset="0"/>
                <a:ea typeface="Calibri" pitchFamily="34" charset="-122"/>
                <a:cs typeface="Calibri" pitchFamily="34" charset="-120"/>
              </a:rPr>
              <a:t>Research Paper 1</a:t>
            </a:r>
            <a:endParaRPr lang="en-US" sz="2800" dirty="0"/>
          </a:p>
        </p:txBody>
      </p:sp>
      <p:sp>
        <p:nvSpPr>
          <p:cNvPr id="8" name="Shape 4"/>
          <p:cNvSpPr/>
          <p:nvPr/>
        </p:nvSpPr>
        <p:spPr>
          <a:xfrm>
            <a:off x="502920" y="1783080"/>
            <a:ext cx="4663440" cy="4160520"/>
          </a:xfrm>
          <a:prstGeom prst="rect">
            <a:avLst/>
          </a:prstGeom>
          <a:solidFill>
            <a:srgbClr val="F7F8FA"/>
          </a:solidFill>
          <a:ln w="12700">
            <a:solidFill>
              <a:srgbClr val="D9D9D9"/>
            </a:solidFill>
            <a:prstDash val="solid"/>
          </a:ln>
        </p:spPr>
      </p:sp>
      <p:sp>
        <p:nvSpPr>
          <p:cNvPr id="9" name="Text 5"/>
          <p:cNvSpPr/>
          <p:nvPr/>
        </p:nvSpPr>
        <p:spPr>
          <a:xfrm>
            <a:off x="731520" y="2039112"/>
            <a:ext cx="4206240" cy="292608"/>
          </a:xfrm>
          <a:prstGeom prst="rect">
            <a:avLst/>
          </a:prstGeom>
          <a:noFill/>
          <a:ln/>
        </p:spPr>
        <p:txBody>
          <a:bodyPr wrap="square" lIns="0" tIns="0" rIns="0" bIns="0" rtlCol="0" anchor="ctr"/>
          <a:lstStyle/>
          <a:p>
            <a:pPr marL="0" indent="0" algn="l">
              <a:buNone/>
            </a:pPr>
            <a:r>
              <a:rPr lang="en-US" sz="1400" b="1" dirty="0">
                <a:solidFill>
                  <a:srgbClr val="1F3864"/>
                </a:solidFill>
                <a:latin typeface="Calibri" pitchFamily="34" charset="0"/>
                <a:ea typeface="Calibri" pitchFamily="34" charset="-122"/>
                <a:cs typeface="Calibri" pitchFamily="34" charset="-120"/>
              </a:rPr>
              <a:t>Paper Title:</a:t>
            </a:r>
            <a:endParaRPr lang="en-US" sz="1400" dirty="0"/>
          </a:p>
        </p:txBody>
      </p:sp>
      <p:sp>
        <p:nvSpPr>
          <p:cNvPr id="10" name="Text 6"/>
          <p:cNvSpPr/>
          <p:nvPr/>
        </p:nvSpPr>
        <p:spPr>
          <a:xfrm>
            <a:off x="731520" y="2350008"/>
            <a:ext cx="4206240" cy="502920"/>
          </a:xfrm>
          <a:prstGeom prst="rect">
            <a:avLst/>
          </a:prstGeom>
          <a:noFill/>
          <a:ln/>
        </p:spPr>
        <p:txBody>
          <a:bodyPr wrap="square" lIns="0" tIns="0" rIns="0" bIns="0" rtlCol="0" anchor="ctr"/>
          <a:lstStyle/>
          <a:p>
            <a:r>
              <a:rPr lang="en-US" sz="1300" dirty="0">
                <a:solidFill>
                  <a:srgbClr val="222222"/>
                </a:solidFill>
                <a:ea typeface="+mn-lt"/>
                <a:cs typeface="+mn-lt"/>
              </a:rPr>
              <a:t>The Extended UTXO Model (eUTXO).</a:t>
            </a:r>
            <a:endParaRPr lang="en-US" sz="1300" dirty="0">
              <a:solidFill>
                <a:srgbClr val="222222"/>
              </a:solidFill>
              <a:latin typeface="Calibri"/>
              <a:ea typeface="Calibri"/>
              <a:cs typeface="Calibri"/>
            </a:endParaRPr>
          </a:p>
        </p:txBody>
      </p:sp>
      <p:sp>
        <p:nvSpPr>
          <p:cNvPr id="11" name="Text 7"/>
          <p:cNvSpPr/>
          <p:nvPr/>
        </p:nvSpPr>
        <p:spPr>
          <a:xfrm>
            <a:off x="731520" y="2971800"/>
            <a:ext cx="4206240" cy="292608"/>
          </a:xfrm>
          <a:prstGeom prst="rect">
            <a:avLst/>
          </a:prstGeom>
          <a:noFill/>
          <a:ln/>
        </p:spPr>
        <p:txBody>
          <a:bodyPr wrap="square" lIns="0" tIns="0" rIns="0" bIns="0" rtlCol="0" anchor="ctr"/>
          <a:lstStyle/>
          <a:p>
            <a:pPr marL="0" indent="0" algn="l">
              <a:buNone/>
            </a:pPr>
            <a:r>
              <a:rPr lang="en-US" sz="1400" b="1" dirty="0">
                <a:solidFill>
                  <a:srgbClr val="1F3864"/>
                </a:solidFill>
                <a:latin typeface="Calibri" pitchFamily="34" charset="0"/>
                <a:ea typeface="Calibri" pitchFamily="34" charset="-122"/>
                <a:cs typeface="Calibri" pitchFamily="34" charset="-120"/>
              </a:rPr>
              <a:t>Author(s):</a:t>
            </a:r>
            <a:endParaRPr lang="en-US" sz="1400" dirty="0"/>
          </a:p>
        </p:txBody>
      </p:sp>
      <p:sp>
        <p:nvSpPr>
          <p:cNvPr id="12" name="Text 8"/>
          <p:cNvSpPr/>
          <p:nvPr/>
        </p:nvSpPr>
        <p:spPr>
          <a:xfrm>
            <a:off x="731520" y="3282696"/>
            <a:ext cx="4206240" cy="502920"/>
          </a:xfrm>
          <a:prstGeom prst="rect">
            <a:avLst/>
          </a:prstGeom>
          <a:noFill/>
          <a:ln/>
        </p:spPr>
        <p:txBody>
          <a:bodyPr wrap="square" lIns="0" tIns="0" rIns="0" bIns="0" rtlCol="0" anchor="ctr"/>
          <a:lstStyle/>
          <a:p>
            <a:r>
              <a:rPr lang="en-US" sz="1300">
                <a:solidFill>
                  <a:srgbClr val="222222"/>
                </a:solidFill>
                <a:ea typeface="+mn-lt"/>
                <a:cs typeface="+mn-lt"/>
              </a:rPr>
              <a:t>Chakravarty et al.</a:t>
            </a:r>
            <a:endParaRPr lang="en-US"/>
          </a:p>
        </p:txBody>
      </p:sp>
      <p:sp>
        <p:nvSpPr>
          <p:cNvPr id="13" name="Text 9"/>
          <p:cNvSpPr/>
          <p:nvPr/>
        </p:nvSpPr>
        <p:spPr>
          <a:xfrm>
            <a:off x="731520" y="3904488"/>
            <a:ext cx="4206240" cy="292608"/>
          </a:xfrm>
          <a:prstGeom prst="rect">
            <a:avLst/>
          </a:prstGeom>
          <a:noFill/>
          <a:ln/>
        </p:spPr>
        <p:txBody>
          <a:bodyPr wrap="square" lIns="0" tIns="0" rIns="0" bIns="0" rtlCol="0" anchor="ctr"/>
          <a:lstStyle/>
          <a:p>
            <a:pPr marL="0" indent="0" algn="l">
              <a:buNone/>
            </a:pPr>
            <a:r>
              <a:rPr lang="en-US" sz="1400" b="1" dirty="0">
                <a:solidFill>
                  <a:srgbClr val="1F3864"/>
                </a:solidFill>
                <a:latin typeface="Calibri" pitchFamily="34" charset="0"/>
                <a:ea typeface="Calibri" pitchFamily="34" charset="-122"/>
                <a:cs typeface="Calibri" pitchFamily="34" charset="-120"/>
              </a:rPr>
              <a:t>Year:</a:t>
            </a:r>
            <a:endParaRPr lang="en-US" sz="1400" dirty="0"/>
          </a:p>
        </p:txBody>
      </p:sp>
      <p:sp>
        <p:nvSpPr>
          <p:cNvPr id="14" name="Text 10"/>
          <p:cNvSpPr/>
          <p:nvPr/>
        </p:nvSpPr>
        <p:spPr>
          <a:xfrm>
            <a:off x="731520" y="4215384"/>
            <a:ext cx="4206240" cy="502920"/>
          </a:xfrm>
          <a:prstGeom prst="rect">
            <a:avLst/>
          </a:prstGeom>
          <a:noFill/>
          <a:ln/>
        </p:spPr>
        <p:txBody>
          <a:bodyPr wrap="square" lIns="0" tIns="0" rIns="0" bIns="0" rtlCol="0" anchor="ctr"/>
          <a:lstStyle/>
          <a:p>
            <a:pPr marL="0" indent="0" algn="l">
              <a:buNone/>
            </a:pPr>
            <a:r>
              <a:rPr lang="en-US" sz="1300">
                <a:solidFill>
                  <a:srgbClr val="222222"/>
                </a:solidFill>
                <a:latin typeface="Calibri"/>
                <a:ea typeface="Calibri"/>
                <a:cs typeface="Calibri"/>
              </a:rPr>
              <a:t>2020</a:t>
            </a:r>
            <a:endParaRPr lang="en-US" sz="1300">
              <a:latin typeface="Calibri"/>
              <a:ea typeface="Calibri"/>
              <a:cs typeface="Calibri"/>
            </a:endParaRPr>
          </a:p>
        </p:txBody>
      </p:sp>
      <p:sp>
        <p:nvSpPr>
          <p:cNvPr id="15" name="Text 11"/>
          <p:cNvSpPr/>
          <p:nvPr/>
        </p:nvSpPr>
        <p:spPr>
          <a:xfrm>
            <a:off x="731520" y="4837176"/>
            <a:ext cx="4206240" cy="292608"/>
          </a:xfrm>
          <a:prstGeom prst="rect">
            <a:avLst/>
          </a:prstGeom>
          <a:noFill/>
          <a:ln/>
        </p:spPr>
        <p:txBody>
          <a:bodyPr wrap="square" lIns="0" tIns="0" rIns="0" bIns="0" rtlCol="0" anchor="ctr"/>
          <a:lstStyle/>
          <a:p>
            <a:pPr marL="0" indent="0" algn="l">
              <a:buNone/>
            </a:pPr>
            <a:r>
              <a:rPr lang="en-US" sz="1400" b="1" dirty="0">
                <a:solidFill>
                  <a:srgbClr val="1F3864"/>
                </a:solidFill>
                <a:latin typeface="Calibri" pitchFamily="34" charset="0"/>
                <a:ea typeface="Calibri" pitchFamily="34" charset="-122"/>
                <a:cs typeface="Calibri" pitchFamily="34" charset="-120"/>
              </a:rPr>
              <a:t>Journal / Conference:</a:t>
            </a:r>
            <a:endParaRPr lang="en-US" sz="1400" dirty="0"/>
          </a:p>
        </p:txBody>
      </p:sp>
      <p:sp>
        <p:nvSpPr>
          <p:cNvPr id="16" name="Text 12"/>
          <p:cNvSpPr/>
          <p:nvPr/>
        </p:nvSpPr>
        <p:spPr>
          <a:xfrm>
            <a:off x="731520" y="5148072"/>
            <a:ext cx="4206240" cy="502920"/>
          </a:xfrm>
          <a:prstGeom prst="rect">
            <a:avLst/>
          </a:prstGeom>
          <a:noFill/>
          <a:ln/>
        </p:spPr>
        <p:txBody>
          <a:bodyPr wrap="square" lIns="0" tIns="0" rIns="0" bIns="0" rtlCol="0" anchor="ctr"/>
          <a:lstStyle/>
          <a:p>
            <a:r>
              <a:rPr lang="en-US" sz="1300">
                <a:solidFill>
                  <a:srgbClr val="222222"/>
                </a:solidFill>
                <a:ea typeface="+mn-lt"/>
                <a:cs typeface="+mn-lt"/>
              </a:rPr>
              <a:t>Financial Cryptography &amp; Data Security (FC) Workshops.</a:t>
            </a:r>
            <a:endParaRPr lang="en-US"/>
          </a:p>
        </p:txBody>
      </p:sp>
      <p:sp>
        <p:nvSpPr>
          <p:cNvPr id="17" name="Text 13"/>
          <p:cNvSpPr/>
          <p:nvPr/>
        </p:nvSpPr>
        <p:spPr>
          <a:xfrm>
            <a:off x="731520" y="5486400"/>
            <a:ext cx="4206240" cy="320040"/>
          </a:xfrm>
          <a:prstGeom prst="rect">
            <a:avLst/>
          </a:prstGeom>
          <a:noFill/>
          <a:ln/>
        </p:spPr>
        <p:txBody>
          <a:bodyPr wrap="square" lIns="0" tIns="0" rIns="0" bIns="0" rtlCol="0" anchor="ctr"/>
          <a:lstStyle/>
          <a:p>
            <a:pPr marL="0" indent="0" algn="l">
              <a:buNone/>
            </a:pPr>
            <a:r>
              <a:rPr lang="en-US" sz="1200" i="1" dirty="0">
                <a:solidFill>
                  <a:srgbClr val="595959"/>
                </a:solidFill>
                <a:latin typeface="Calibri" pitchFamily="34" charset="0"/>
                <a:ea typeface="Calibri" pitchFamily="34" charset="-122"/>
                <a:cs typeface="Calibri" pitchFamily="34" charset="-120"/>
              </a:rPr>
              <a:t>[1]</a:t>
            </a:r>
            <a:endParaRPr lang="en-US" sz="1200" dirty="0"/>
          </a:p>
        </p:txBody>
      </p:sp>
      <p:sp>
        <p:nvSpPr>
          <p:cNvPr id="18" name="Text 14"/>
          <p:cNvSpPr/>
          <p:nvPr/>
        </p:nvSpPr>
        <p:spPr>
          <a:xfrm>
            <a:off x="5532120" y="1783080"/>
            <a:ext cx="6156655" cy="292608"/>
          </a:xfrm>
          <a:prstGeom prst="rect">
            <a:avLst/>
          </a:prstGeom>
          <a:noFill/>
          <a:ln/>
        </p:spPr>
        <p:txBody>
          <a:bodyPr wrap="square" lIns="0" tIns="0" rIns="0" bIns="0" rtlCol="0" anchor="ctr"/>
          <a:lstStyle/>
          <a:p>
            <a:pPr marL="0" indent="0" algn="l">
              <a:buNone/>
            </a:pPr>
            <a:r>
              <a:rPr lang="en-US" sz="1500" b="1" dirty="0">
                <a:solidFill>
                  <a:srgbClr val="1F3864"/>
                </a:solidFill>
                <a:latin typeface="Calibri" pitchFamily="34" charset="0"/>
                <a:ea typeface="Calibri" pitchFamily="34" charset="-122"/>
                <a:cs typeface="Calibri" pitchFamily="34" charset="-120"/>
              </a:rPr>
              <a:t>Methodology</a:t>
            </a:r>
            <a:endParaRPr lang="en-US" sz="1500" dirty="0"/>
          </a:p>
        </p:txBody>
      </p:sp>
      <p:sp>
        <p:nvSpPr>
          <p:cNvPr id="19" name="Text 15"/>
          <p:cNvSpPr/>
          <p:nvPr/>
        </p:nvSpPr>
        <p:spPr>
          <a:xfrm>
            <a:off x="5532120" y="2075688"/>
            <a:ext cx="6156655" cy="713232"/>
          </a:xfrm>
          <a:prstGeom prst="rect">
            <a:avLst/>
          </a:prstGeom>
          <a:noFill/>
          <a:ln/>
        </p:spPr>
        <p:txBody>
          <a:bodyPr wrap="square" lIns="0" tIns="0" rIns="0" bIns="0" rtlCol="0" anchor="t"/>
          <a:lstStyle/>
          <a:p>
            <a:pPr marL="285750" indent="-285750">
              <a:buFont typeface="Arial"/>
              <a:buChar char="•"/>
            </a:pPr>
            <a:r>
              <a:rPr lang="en-US" sz="1300" dirty="0">
                <a:solidFill>
                  <a:srgbClr val="222222"/>
                </a:solidFill>
                <a:ea typeface="+mn-lt"/>
                <a:cs typeface="+mn-lt"/>
              </a:rPr>
              <a:t>Formal specification of an extended UTXO ledger with datums, redeemers and validator scripts, verified in Agda.</a:t>
            </a:r>
            <a:endParaRPr lang="en-US" dirty="0"/>
          </a:p>
        </p:txBody>
      </p:sp>
      <p:sp>
        <p:nvSpPr>
          <p:cNvPr id="20" name="Text 16"/>
          <p:cNvSpPr/>
          <p:nvPr/>
        </p:nvSpPr>
        <p:spPr>
          <a:xfrm>
            <a:off x="5532120" y="2788920"/>
            <a:ext cx="6156655" cy="292608"/>
          </a:xfrm>
          <a:prstGeom prst="rect">
            <a:avLst/>
          </a:prstGeom>
          <a:noFill/>
          <a:ln/>
        </p:spPr>
        <p:txBody>
          <a:bodyPr wrap="square" lIns="0" tIns="0" rIns="0" bIns="0" rtlCol="0" anchor="ctr"/>
          <a:lstStyle/>
          <a:p>
            <a:pPr marL="0" indent="0" algn="l">
              <a:buNone/>
            </a:pPr>
            <a:r>
              <a:rPr lang="en-US" sz="1500" b="1" dirty="0">
                <a:solidFill>
                  <a:srgbClr val="1F3864"/>
                </a:solidFill>
                <a:latin typeface="Calibri" pitchFamily="34" charset="0"/>
                <a:ea typeface="Calibri" pitchFamily="34" charset="-122"/>
                <a:cs typeface="Calibri" pitchFamily="34" charset="-120"/>
              </a:rPr>
              <a:t>Key Contributions</a:t>
            </a:r>
            <a:endParaRPr lang="en-US" sz="1500" dirty="0"/>
          </a:p>
        </p:txBody>
      </p:sp>
      <p:sp>
        <p:nvSpPr>
          <p:cNvPr id="21" name="Text 17"/>
          <p:cNvSpPr/>
          <p:nvPr/>
        </p:nvSpPr>
        <p:spPr>
          <a:xfrm>
            <a:off x="5532120" y="3081528"/>
            <a:ext cx="6156655" cy="713232"/>
          </a:xfrm>
          <a:prstGeom prst="rect">
            <a:avLst/>
          </a:prstGeom>
          <a:noFill/>
          <a:ln/>
        </p:spPr>
        <p:txBody>
          <a:bodyPr wrap="square" lIns="0" tIns="0" rIns="0" bIns="0" rtlCol="0" anchor="t"/>
          <a:lstStyle/>
          <a:p>
            <a:pPr marL="285750" indent="-285750">
              <a:buSzPct val="100000"/>
              <a:buFont typeface="Arial"/>
              <a:buChar char="•"/>
            </a:pPr>
            <a:r>
              <a:rPr lang="en-US" sz="1300">
                <a:solidFill>
                  <a:srgbClr val="222222"/>
                </a:solidFill>
                <a:ea typeface="+mn-lt"/>
                <a:cs typeface="+mn-lt"/>
              </a:rPr>
              <a:t>Adds expressive, stateful smart contracts to the UTXO model with deterministic, local validation.</a:t>
            </a:r>
            <a:endParaRPr lang="en-US" sz="1300" dirty="0">
              <a:solidFill>
                <a:srgbClr val="222222"/>
              </a:solidFill>
              <a:ea typeface="Calibri"/>
              <a:cs typeface="Calibri"/>
            </a:endParaRPr>
          </a:p>
        </p:txBody>
      </p:sp>
      <p:sp>
        <p:nvSpPr>
          <p:cNvPr id="22" name="Text 18"/>
          <p:cNvSpPr/>
          <p:nvPr/>
        </p:nvSpPr>
        <p:spPr>
          <a:xfrm>
            <a:off x="5532120" y="3794760"/>
            <a:ext cx="6156655" cy="292608"/>
          </a:xfrm>
          <a:prstGeom prst="rect">
            <a:avLst/>
          </a:prstGeom>
          <a:noFill/>
          <a:ln/>
        </p:spPr>
        <p:txBody>
          <a:bodyPr wrap="square" lIns="0" tIns="0" rIns="0" bIns="0" rtlCol="0" anchor="ctr"/>
          <a:lstStyle/>
          <a:p>
            <a:pPr marL="0" indent="0" algn="l">
              <a:buNone/>
            </a:pPr>
            <a:r>
              <a:rPr lang="en-US" sz="1500" b="1" dirty="0">
                <a:solidFill>
                  <a:srgbClr val="1F3864"/>
                </a:solidFill>
                <a:latin typeface="Calibri" pitchFamily="34" charset="0"/>
                <a:ea typeface="Calibri" pitchFamily="34" charset="-122"/>
                <a:cs typeface="Calibri" pitchFamily="34" charset="-120"/>
              </a:rPr>
              <a:t>Advantages</a:t>
            </a:r>
            <a:endParaRPr lang="en-US" sz="1500" dirty="0"/>
          </a:p>
        </p:txBody>
      </p:sp>
      <p:sp>
        <p:nvSpPr>
          <p:cNvPr id="23" name="Text 19"/>
          <p:cNvSpPr/>
          <p:nvPr/>
        </p:nvSpPr>
        <p:spPr>
          <a:xfrm>
            <a:off x="5532120" y="4087368"/>
            <a:ext cx="6156655" cy="713232"/>
          </a:xfrm>
          <a:prstGeom prst="rect">
            <a:avLst/>
          </a:prstGeom>
          <a:noFill/>
          <a:ln/>
        </p:spPr>
        <p:txBody>
          <a:bodyPr wrap="square" lIns="0" tIns="0" rIns="0" bIns="0" rtlCol="0" anchor="t"/>
          <a:lstStyle/>
          <a:p>
            <a:pPr marL="285750" indent="-285750">
              <a:buFont typeface="Arial"/>
              <a:buChar char="•"/>
            </a:pPr>
            <a:r>
              <a:rPr lang="en-US" sz="1300">
                <a:solidFill>
                  <a:srgbClr val="222222"/>
                </a:solidFill>
                <a:ea typeface="+mn-lt"/>
                <a:cs typeface="+mn-lt"/>
              </a:rPr>
              <a:t>Deterministic fees and predictable, locally scoped validation with strong formal guarantees.</a:t>
            </a:r>
            <a:endParaRPr lang="en-US"/>
          </a:p>
        </p:txBody>
      </p:sp>
      <p:sp>
        <p:nvSpPr>
          <p:cNvPr id="24" name="Text 20"/>
          <p:cNvSpPr/>
          <p:nvPr/>
        </p:nvSpPr>
        <p:spPr>
          <a:xfrm>
            <a:off x="5532120" y="4800600"/>
            <a:ext cx="6156655" cy="292608"/>
          </a:xfrm>
          <a:prstGeom prst="rect">
            <a:avLst/>
          </a:prstGeom>
          <a:noFill/>
          <a:ln/>
        </p:spPr>
        <p:txBody>
          <a:bodyPr wrap="square" lIns="0" tIns="0" rIns="0" bIns="0" rtlCol="0" anchor="ctr"/>
          <a:lstStyle/>
          <a:p>
            <a:pPr marL="0" indent="0" algn="l">
              <a:buNone/>
            </a:pPr>
            <a:r>
              <a:rPr lang="en-US" sz="1500" b="1" dirty="0">
                <a:solidFill>
                  <a:srgbClr val="1F3864"/>
                </a:solidFill>
                <a:latin typeface="Calibri" pitchFamily="34" charset="0"/>
                <a:ea typeface="Calibri" pitchFamily="34" charset="-122"/>
                <a:cs typeface="Calibri" pitchFamily="34" charset="-120"/>
              </a:rPr>
              <a:t>Limitations</a:t>
            </a:r>
            <a:endParaRPr lang="en-US" sz="1500" dirty="0"/>
          </a:p>
        </p:txBody>
      </p:sp>
      <p:sp>
        <p:nvSpPr>
          <p:cNvPr id="25" name="Text 21"/>
          <p:cNvSpPr/>
          <p:nvPr/>
        </p:nvSpPr>
        <p:spPr>
          <a:xfrm>
            <a:off x="5532120" y="5093208"/>
            <a:ext cx="6156655" cy="713232"/>
          </a:xfrm>
          <a:prstGeom prst="rect">
            <a:avLst/>
          </a:prstGeom>
          <a:noFill/>
          <a:ln/>
        </p:spPr>
        <p:txBody>
          <a:bodyPr wrap="square" lIns="0" tIns="0" rIns="0" bIns="0" rtlCol="0" anchor="t"/>
          <a:lstStyle/>
          <a:p>
            <a:pPr marL="285750" indent="-285750">
              <a:buFont typeface="Arial"/>
              <a:buChar char="•"/>
            </a:pPr>
            <a:r>
              <a:rPr lang="en-US" sz="1300">
                <a:solidFill>
                  <a:srgbClr val="222222"/>
                </a:solidFill>
                <a:ea typeface="+mn-lt"/>
                <a:cs typeface="+mn-lt"/>
              </a:rPr>
              <a:t>A shared pool lives in one UTXO consumable once per block: a concurrency bottleneck for DEXs.</a:t>
            </a: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6" name="Text 2"/>
          <p:cNvSpPr/>
          <p:nvPr/>
        </p:nvSpPr>
        <p:spPr>
          <a:xfrm>
            <a:off x="11140135" y="6492240"/>
            <a:ext cx="548640" cy="274320"/>
          </a:xfrm>
          <a:prstGeom prst="rect">
            <a:avLst/>
          </a:prstGeom>
          <a:noFill/>
          <a:ln/>
        </p:spPr>
        <p:txBody>
          <a:bodyPr wrap="square" rtlCol="0" anchor="ctr"/>
          <a:lstStyle/>
          <a:p>
            <a:pPr marL="0" indent="0" algn="r">
              <a:buNone/>
            </a:pPr>
            <a:r>
              <a:rPr lang="en-US" sz="1000" dirty="0">
                <a:solidFill>
                  <a:srgbClr val="595959"/>
                </a:solidFill>
                <a:latin typeface="Calibri" pitchFamily="34" charset="0"/>
                <a:ea typeface="Calibri" pitchFamily="34" charset="-122"/>
                <a:cs typeface="Calibri" pitchFamily="34" charset="-120"/>
              </a:rPr>
              <a:t>8</a:t>
            </a:r>
            <a:endParaRPr lang="en-US" sz="1000" dirty="0"/>
          </a:p>
        </p:txBody>
      </p:sp>
      <p:sp>
        <p:nvSpPr>
          <p:cNvPr id="7" name="Text 3"/>
          <p:cNvSpPr/>
          <p:nvPr/>
        </p:nvSpPr>
        <p:spPr>
          <a:xfrm>
            <a:off x="502920" y="960120"/>
            <a:ext cx="11185855" cy="566928"/>
          </a:xfrm>
          <a:prstGeom prst="rect">
            <a:avLst/>
          </a:prstGeom>
          <a:noFill/>
          <a:ln/>
        </p:spPr>
        <p:txBody>
          <a:bodyPr wrap="square" lIns="0" tIns="0" rIns="0" bIns="0" rtlCol="0" anchor="ctr"/>
          <a:lstStyle/>
          <a:p>
            <a:pPr marL="0" indent="0" algn="l">
              <a:buNone/>
            </a:pPr>
            <a:r>
              <a:rPr lang="en-US" sz="2800" b="1" dirty="0">
                <a:solidFill>
                  <a:srgbClr val="1F3864"/>
                </a:solidFill>
                <a:latin typeface="Calibri" pitchFamily="34" charset="0"/>
                <a:ea typeface="Calibri" pitchFamily="34" charset="-122"/>
                <a:cs typeface="Calibri" pitchFamily="34" charset="-120"/>
              </a:rPr>
              <a:t>Research Paper 2</a:t>
            </a:r>
            <a:endParaRPr lang="en-US" sz="2800" dirty="0"/>
          </a:p>
        </p:txBody>
      </p:sp>
      <p:sp>
        <p:nvSpPr>
          <p:cNvPr id="8" name="Shape 4"/>
          <p:cNvSpPr/>
          <p:nvPr/>
        </p:nvSpPr>
        <p:spPr>
          <a:xfrm>
            <a:off x="502920" y="1783080"/>
            <a:ext cx="4663440" cy="4160520"/>
          </a:xfrm>
          <a:prstGeom prst="rect">
            <a:avLst/>
          </a:prstGeom>
          <a:solidFill>
            <a:srgbClr val="F7F8FA"/>
          </a:solidFill>
          <a:ln w="12700">
            <a:solidFill>
              <a:srgbClr val="D9D9D9"/>
            </a:solidFill>
            <a:prstDash val="solid"/>
          </a:ln>
        </p:spPr>
      </p:sp>
      <p:sp>
        <p:nvSpPr>
          <p:cNvPr id="9" name="Text 5"/>
          <p:cNvSpPr/>
          <p:nvPr/>
        </p:nvSpPr>
        <p:spPr>
          <a:xfrm>
            <a:off x="731520" y="2039112"/>
            <a:ext cx="4206240" cy="292608"/>
          </a:xfrm>
          <a:prstGeom prst="rect">
            <a:avLst/>
          </a:prstGeom>
          <a:noFill/>
          <a:ln/>
        </p:spPr>
        <p:txBody>
          <a:bodyPr wrap="square" lIns="0" tIns="0" rIns="0" bIns="0" rtlCol="0" anchor="ctr"/>
          <a:lstStyle/>
          <a:p>
            <a:pPr marL="0" indent="0" algn="l">
              <a:buNone/>
            </a:pPr>
            <a:r>
              <a:rPr lang="en-US" sz="1400" b="1" dirty="0">
                <a:solidFill>
                  <a:srgbClr val="1F3864"/>
                </a:solidFill>
                <a:latin typeface="Calibri" pitchFamily="34" charset="0"/>
                <a:ea typeface="Calibri" pitchFamily="34" charset="-122"/>
                <a:cs typeface="Calibri" pitchFamily="34" charset="-120"/>
              </a:rPr>
              <a:t>Paper Title:</a:t>
            </a:r>
            <a:endParaRPr lang="en-US" sz="1400" dirty="0"/>
          </a:p>
        </p:txBody>
      </p:sp>
      <p:sp>
        <p:nvSpPr>
          <p:cNvPr id="10" name="Text 6"/>
          <p:cNvSpPr/>
          <p:nvPr/>
        </p:nvSpPr>
        <p:spPr>
          <a:xfrm>
            <a:off x="731520" y="2350008"/>
            <a:ext cx="4206240" cy="502920"/>
          </a:xfrm>
          <a:prstGeom prst="rect">
            <a:avLst/>
          </a:prstGeom>
          <a:noFill/>
          <a:ln/>
        </p:spPr>
        <p:txBody>
          <a:bodyPr wrap="square" lIns="0" tIns="0" rIns="0" bIns="0" rtlCol="0" anchor="ctr"/>
          <a:lstStyle/>
          <a:p>
            <a:r>
              <a:rPr lang="en-US" sz="1300" dirty="0" err="1">
                <a:solidFill>
                  <a:srgbClr val="222222"/>
                </a:solidFill>
                <a:ea typeface="+mn-lt"/>
                <a:cs typeface="+mn-lt"/>
              </a:rPr>
              <a:t>Concurrent &amp; Deterministic Batching on the UTXO Ledger.</a:t>
            </a:r>
            <a:endParaRPr lang="en-US" dirty="0"/>
          </a:p>
        </p:txBody>
      </p:sp>
      <p:sp>
        <p:nvSpPr>
          <p:cNvPr id="11" name="Text 7"/>
          <p:cNvSpPr/>
          <p:nvPr/>
        </p:nvSpPr>
        <p:spPr>
          <a:xfrm>
            <a:off x="731520" y="2971800"/>
            <a:ext cx="4206240" cy="292608"/>
          </a:xfrm>
          <a:prstGeom prst="rect">
            <a:avLst/>
          </a:prstGeom>
          <a:noFill/>
          <a:ln/>
        </p:spPr>
        <p:txBody>
          <a:bodyPr wrap="square" lIns="0" tIns="0" rIns="0" bIns="0" rtlCol="0" anchor="ctr"/>
          <a:lstStyle/>
          <a:p>
            <a:pPr marL="0" indent="0" algn="l">
              <a:buNone/>
            </a:pPr>
            <a:r>
              <a:rPr lang="en-US" sz="1400" b="1" dirty="0">
                <a:solidFill>
                  <a:srgbClr val="1F3864"/>
                </a:solidFill>
                <a:latin typeface="Calibri" pitchFamily="34" charset="0"/>
                <a:ea typeface="Calibri" pitchFamily="34" charset="-122"/>
                <a:cs typeface="Calibri" pitchFamily="34" charset="-120"/>
              </a:rPr>
              <a:t>Author(s):</a:t>
            </a:r>
            <a:endParaRPr lang="en-US" sz="1400" dirty="0"/>
          </a:p>
        </p:txBody>
      </p:sp>
      <p:sp>
        <p:nvSpPr>
          <p:cNvPr id="12" name="Text 8"/>
          <p:cNvSpPr/>
          <p:nvPr/>
        </p:nvSpPr>
        <p:spPr>
          <a:xfrm>
            <a:off x="731520" y="3282696"/>
            <a:ext cx="4206240" cy="502920"/>
          </a:xfrm>
          <a:prstGeom prst="rect">
            <a:avLst/>
          </a:prstGeom>
          <a:noFill/>
          <a:ln/>
        </p:spPr>
        <p:txBody>
          <a:bodyPr wrap="square" lIns="0" tIns="0" rIns="0" bIns="0" rtlCol="0" anchor="ctr"/>
          <a:lstStyle/>
          <a:p>
            <a:r>
              <a:rPr lang="en-US" sz="1300">
                <a:solidFill>
                  <a:srgbClr val="222222"/>
                </a:solidFill>
                <a:ea typeface="+mn-lt"/>
                <a:cs typeface="+mn-lt"/>
              </a:rPr>
              <a:t>H. Nguyen Quang (MELD)</a:t>
            </a:r>
            <a:endParaRPr lang="en-US"/>
          </a:p>
        </p:txBody>
      </p:sp>
      <p:sp>
        <p:nvSpPr>
          <p:cNvPr id="13" name="Text 9"/>
          <p:cNvSpPr/>
          <p:nvPr/>
        </p:nvSpPr>
        <p:spPr>
          <a:xfrm>
            <a:off x="731520" y="3904488"/>
            <a:ext cx="4206240" cy="292608"/>
          </a:xfrm>
          <a:prstGeom prst="rect">
            <a:avLst/>
          </a:prstGeom>
          <a:noFill/>
          <a:ln/>
        </p:spPr>
        <p:txBody>
          <a:bodyPr wrap="square" lIns="0" tIns="0" rIns="0" bIns="0" rtlCol="0" anchor="ctr"/>
          <a:lstStyle/>
          <a:p>
            <a:pPr marL="0" indent="0" algn="l">
              <a:buNone/>
            </a:pPr>
            <a:r>
              <a:rPr lang="en-US" sz="1400" b="1" dirty="0">
                <a:solidFill>
                  <a:srgbClr val="1F3864"/>
                </a:solidFill>
                <a:latin typeface="Calibri" pitchFamily="34" charset="0"/>
                <a:ea typeface="Calibri" pitchFamily="34" charset="-122"/>
                <a:cs typeface="Calibri" pitchFamily="34" charset="-120"/>
              </a:rPr>
              <a:t>Year:</a:t>
            </a:r>
            <a:endParaRPr lang="en-US" sz="1400" dirty="0"/>
          </a:p>
        </p:txBody>
      </p:sp>
      <p:sp>
        <p:nvSpPr>
          <p:cNvPr id="14" name="Text 10"/>
          <p:cNvSpPr/>
          <p:nvPr/>
        </p:nvSpPr>
        <p:spPr>
          <a:xfrm>
            <a:off x="731520" y="4215384"/>
            <a:ext cx="4206240" cy="502920"/>
          </a:xfrm>
          <a:prstGeom prst="rect">
            <a:avLst/>
          </a:prstGeom>
          <a:noFill/>
          <a:ln/>
        </p:spPr>
        <p:txBody>
          <a:bodyPr wrap="square" lIns="0" tIns="0" rIns="0" bIns="0" rtlCol="0" anchor="ctr"/>
          <a:lstStyle/>
          <a:p>
            <a:pPr marL="0" indent="0" algn="l">
              <a:buNone/>
            </a:pPr>
            <a:r>
              <a:rPr lang="en-US" sz="1300">
                <a:solidFill>
                  <a:srgbClr val="222222"/>
                </a:solidFill>
                <a:ea typeface="+mn-lt"/>
                <a:cs typeface="+mn-lt"/>
              </a:rPr>
              <a:t>2021</a:t>
            </a:r>
            <a:endParaRPr lang="en-US"/>
          </a:p>
        </p:txBody>
      </p:sp>
      <p:sp>
        <p:nvSpPr>
          <p:cNvPr id="15" name="Text 11"/>
          <p:cNvSpPr/>
          <p:nvPr/>
        </p:nvSpPr>
        <p:spPr>
          <a:xfrm>
            <a:off x="731520" y="4837176"/>
            <a:ext cx="4206240" cy="292608"/>
          </a:xfrm>
          <a:prstGeom prst="rect">
            <a:avLst/>
          </a:prstGeom>
          <a:noFill/>
          <a:ln/>
        </p:spPr>
        <p:txBody>
          <a:bodyPr wrap="square" lIns="0" tIns="0" rIns="0" bIns="0" rtlCol="0" anchor="ctr"/>
          <a:lstStyle/>
          <a:p>
            <a:pPr marL="0" indent="0" algn="l">
              <a:buNone/>
            </a:pPr>
            <a:r>
              <a:rPr lang="en-US" sz="1400" b="1" dirty="0">
                <a:solidFill>
                  <a:srgbClr val="1F3864"/>
                </a:solidFill>
                <a:latin typeface="Calibri" pitchFamily="34" charset="0"/>
                <a:ea typeface="Calibri" pitchFamily="34" charset="-122"/>
                <a:cs typeface="Calibri" pitchFamily="34" charset="-120"/>
              </a:rPr>
              <a:t>Journal / Conference:</a:t>
            </a:r>
            <a:endParaRPr lang="en-US" sz="1400" dirty="0"/>
          </a:p>
        </p:txBody>
      </p:sp>
      <p:sp>
        <p:nvSpPr>
          <p:cNvPr id="16" name="Text 12"/>
          <p:cNvSpPr/>
          <p:nvPr/>
        </p:nvSpPr>
        <p:spPr>
          <a:xfrm>
            <a:off x="731520" y="5148072"/>
            <a:ext cx="4206240" cy="502920"/>
          </a:xfrm>
          <a:prstGeom prst="rect">
            <a:avLst/>
          </a:prstGeom>
          <a:noFill/>
          <a:ln/>
        </p:spPr>
        <p:txBody>
          <a:bodyPr wrap="square" lIns="0" tIns="0" rIns="0" bIns="0" rtlCol="0" anchor="ctr"/>
          <a:lstStyle/>
          <a:p>
            <a:r>
              <a:rPr lang="en-US" sz="1300">
                <a:solidFill>
                  <a:srgbClr val="222222"/>
                </a:solidFill>
                <a:ea typeface="+mn-lt"/>
                <a:cs typeface="+mn-lt"/>
              </a:rPr>
              <a:t>MELD Technical Report.</a:t>
            </a:r>
            <a:endParaRPr lang="en-US"/>
          </a:p>
        </p:txBody>
      </p:sp>
      <p:sp>
        <p:nvSpPr>
          <p:cNvPr id="17" name="Text 13"/>
          <p:cNvSpPr/>
          <p:nvPr/>
        </p:nvSpPr>
        <p:spPr>
          <a:xfrm>
            <a:off x="731520" y="5486400"/>
            <a:ext cx="4206240" cy="320040"/>
          </a:xfrm>
          <a:prstGeom prst="rect">
            <a:avLst/>
          </a:prstGeom>
          <a:noFill/>
          <a:ln/>
        </p:spPr>
        <p:txBody>
          <a:bodyPr wrap="square" lIns="0" tIns="0" rIns="0" bIns="0" rtlCol="0" anchor="ctr"/>
          <a:lstStyle/>
          <a:p>
            <a:pPr marL="0" indent="0" algn="l">
              <a:buNone/>
            </a:pPr>
            <a:r>
              <a:rPr lang="en-US" sz="1200" i="1" dirty="0">
                <a:solidFill>
                  <a:srgbClr val="595959"/>
                </a:solidFill>
                <a:latin typeface="Calibri" pitchFamily="34" charset="0"/>
                <a:ea typeface="Calibri" pitchFamily="34" charset="-122"/>
                <a:cs typeface="Calibri" pitchFamily="34" charset="-120"/>
              </a:rPr>
              <a:t>[2]</a:t>
            </a:r>
            <a:endParaRPr lang="en-US" sz="1200" dirty="0"/>
          </a:p>
        </p:txBody>
      </p:sp>
      <p:sp>
        <p:nvSpPr>
          <p:cNvPr id="18" name="Text 14"/>
          <p:cNvSpPr/>
          <p:nvPr/>
        </p:nvSpPr>
        <p:spPr>
          <a:xfrm>
            <a:off x="5532120" y="1783080"/>
            <a:ext cx="6156655" cy="292608"/>
          </a:xfrm>
          <a:prstGeom prst="rect">
            <a:avLst/>
          </a:prstGeom>
          <a:noFill/>
          <a:ln/>
        </p:spPr>
        <p:txBody>
          <a:bodyPr wrap="square" lIns="0" tIns="0" rIns="0" bIns="0" rtlCol="0" anchor="ctr"/>
          <a:lstStyle/>
          <a:p>
            <a:pPr marL="0" indent="0" algn="l">
              <a:buNone/>
            </a:pPr>
            <a:r>
              <a:rPr lang="en-US" sz="1500" b="1" dirty="0">
                <a:solidFill>
                  <a:srgbClr val="1F3864"/>
                </a:solidFill>
                <a:latin typeface="Calibri" pitchFamily="34" charset="0"/>
                <a:ea typeface="Calibri" pitchFamily="34" charset="-122"/>
                <a:cs typeface="Calibri" pitchFamily="34" charset="-120"/>
              </a:rPr>
              <a:t>Methodology</a:t>
            </a:r>
            <a:endParaRPr lang="en-US" sz="1500" dirty="0"/>
          </a:p>
        </p:txBody>
      </p:sp>
      <p:sp>
        <p:nvSpPr>
          <p:cNvPr id="19" name="Text 15"/>
          <p:cNvSpPr/>
          <p:nvPr/>
        </p:nvSpPr>
        <p:spPr>
          <a:xfrm>
            <a:off x="5532120" y="2075688"/>
            <a:ext cx="6156655" cy="713232"/>
          </a:xfrm>
          <a:prstGeom prst="rect">
            <a:avLst/>
          </a:prstGeom>
          <a:noFill/>
          <a:ln/>
        </p:spPr>
        <p:txBody>
          <a:bodyPr wrap="square" lIns="0" tIns="0" rIns="0" bIns="0" rtlCol="0" anchor="t"/>
          <a:lstStyle/>
          <a:p>
            <a:pPr marL="285750" indent="-285750">
              <a:buFont typeface="Arial"/>
              <a:buChar char="•"/>
            </a:pPr>
            <a:r>
              <a:rPr lang="en-US" sz="1300" dirty="0" err="1">
                <a:solidFill>
                  <a:srgbClr val="222222"/>
                </a:solidFill>
                <a:ea typeface="+mn-lt"/>
                <a:cs typeface="+mn-lt"/>
              </a:rPr>
              <a:t>Orders posted as individual UTXOs are aggregated by a batcher into one deterministic pool-state update.</a:t>
            </a:r>
            <a:endParaRPr lang="en-US" dirty="0"/>
          </a:p>
        </p:txBody>
      </p:sp>
      <p:sp>
        <p:nvSpPr>
          <p:cNvPr id="20" name="Text 16"/>
          <p:cNvSpPr/>
          <p:nvPr/>
        </p:nvSpPr>
        <p:spPr>
          <a:xfrm>
            <a:off x="5532120" y="2788920"/>
            <a:ext cx="6156655" cy="292608"/>
          </a:xfrm>
          <a:prstGeom prst="rect">
            <a:avLst/>
          </a:prstGeom>
          <a:noFill/>
          <a:ln/>
        </p:spPr>
        <p:txBody>
          <a:bodyPr wrap="square" lIns="0" tIns="0" rIns="0" bIns="0" rtlCol="0" anchor="ctr"/>
          <a:lstStyle/>
          <a:p>
            <a:pPr marL="0" indent="0" algn="l">
              <a:buNone/>
            </a:pPr>
            <a:r>
              <a:rPr lang="en-US" sz="1500" b="1" dirty="0">
                <a:solidFill>
                  <a:srgbClr val="1F3864"/>
                </a:solidFill>
                <a:latin typeface="Calibri" pitchFamily="34" charset="0"/>
                <a:ea typeface="Calibri" pitchFamily="34" charset="-122"/>
                <a:cs typeface="Calibri" pitchFamily="34" charset="-120"/>
              </a:rPr>
              <a:t>Key Contributions</a:t>
            </a:r>
            <a:endParaRPr lang="en-US" sz="1500" dirty="0"/>
          </a:p>
        </p:txBody>
      </p:sp>
      <p:sp>
        <p:nvSpPr>
          <p:cNvPr id="21" name="Text 17"/>
          <p:cNvSpPr/>
          <p:nvPr/>
        </p:nvSpPr>
        <p:spPr>
          <a:xfrm>
            <a:off x="5532120" y="3081528"/>
            <a:ext cx="6156655" cy="713232"/>
          </a:xfrm>
          <a:prstGeom prst="rect">
            <a:avLst/>
          </a:prstGeom>
          <a:noFill/>
          <a:ln/>
        </p:spPr>
        <p:txBody>
          <a:bodyPr wrap="square" lIns="0" tIns="0" rIns="0" bIns="0" rtlCol="0" anchor="t"/>
          <a:lstStyle/>
          <a:p>
            <a:pPr marL="285750" indent="-285750">
              <a:buFont typeface="Arial"/>
              <a:buChar char="•"/>
            </a:pPr>
            <a:r>
              <a:rPr lang="en-US" sz="1300" dirty="0">
                <a:solidFill>
                  <a:srgbClr val="222222"/>
                </a:solidFill>
                <a:ea typeface="+mn-lt"/>
                <a:cs typeface="+mn-lt"/>
              </a:rPr>
              <a:t>A decentralized batching scheme that resolves pool contention without incentivized off-chain agents.</a:t>
            </a:r>
            <a:endParaRPr lang="en-US" dirty="0"/>
          </a:p>
        </p:txBody>
      </p:sp>
      <p:sp>
        <p:nvSpPr>
          <p:cNvPr id="22" name="Text 18"/>
          <p:cNvSpPr/>
          <p:nvPr/>
        </p:nvSpPr>
        <p:spPr>
          <a:xfrm>
            <a:off x="5532120" y="3794760"/>
            <a:ext cx="6156655" cy="292608"/>
          </a:xfrm>
          <a:prstGeom prst="rect">
            <a:avLst/>
          </a:prstGeom>
          <a:noFill/>
          <a:ln/>
        </p:spPr>
        <p:txBody>
          <a:bodyPr wrap="square" lIns="0" tIns="0" rIns="0" bIns="0" rtlCol="0" anchor="ctr"/>
          <a:lstStyle/>
          <a:p>
            <a:pPr marL="0" indent="0" algn="l">
              <a:buNone/>
            </a:pPr>
            <a:r>
              <a:rPr lang="en-US" sz="1500" b="1" dirty="0">
                <a:solidFill>
                  <a:srgbClr val="1F3864"/>
                </a:solidFill>
                <a:latin typeface="Calibri" pitchFamily="34" charset="0"/>
                <a:ea typeface="Calibri" pitchFamily="34" charset="-122"/>
                <a:cs typeface="Calibri" pitchFamily="34" charset="-120"/>
              </a:rPr>
              <a:t>Advantages</a:t>
            </a:r>
            <a:endParaRPr lang="en-US" sz="1500" dirty="0"/>
          </a:p>
        </p:txBody>
      </p:sp>
      <p:sp>
        <p:nvSpPr>
          <p:cNvPr id="23" name="Text 19"/>
          <p:cNvSpPr/>
          <p:nvPr/>
        </p:nvSpPr>
        <p:spPr>
          <a:xfrm>
            <a:off x="5532120" y="4087368"/>
            <a:ext cx="6156655" cy="713232"/>
          </a:xfrm>
          <a:prstGeom prst="rect">
            <a:avLst/>
          </a:prstGeom>
          <a:noFill/>
          <a:ln/>
        </p:spPr>
        <p:txBody>
          <a:bodyPr wrap="square" lIns="0" tIns="0" rIns="0" bIns="0" rtlCol="0" anchor="t"/>
          <a:lstStyle/>
          <a:p>
            <a:pPr marL="285750" indent="-285750">
              <a:buFont typeface="Arial"/>
              <a:buChar char="•"/>
            </a:pPr>
            <a:r>
              <a:rPr lang="en-US" sz="1300">
                <a:solidFill>
                  <a:srgbClr val="222222"/>
                </a:solidFill>
                <a:ea typeface="+mn-lt"/>
                <a:cs typeface="+mn-lt"/>
              </a:rPr>
              <a:t>Amortizes the fixed cost across users and avoids failed transactions from UTXO contention.</a:t>
            </a:r>
            <a:endParaRPr lang="en-US"/>
          </a:p>
        </p:txBody>
      </p:sp>
      <p:sp>
        <p:nvSpPr>
          <p:cNvPr id="24" name="Text 20"/>
          <p:cNvSpPr/>
          <p:nvPr/>
        </p:nvSpPr>
        <p:spPr>
          <a:xfrm>
            <a:off x="5532120" y="4800600"/>
            <a:ext cx="6156655" cy="292608"/>
          </a:xfrm>
          <a:prstGeom prst="rect">
            <a:avLst/>
          </a:prstGeom>
          <a:noFill/>
          <a:ln/>
        </p:spPr>
        <p:txBody>
          <a:bodyPr wrap="square" lIns="0" tIns="0" rIns="0" bIns="0" rtlCol="0" anchor="ctr"/>
          <a:lstStyle/>
          <a:p>
            <a:pPr marL="0" indent="0" algn="l">
              <a:buNone/>
            </a:pPr>
            <a:r>
              <a:rPr lang="en-US" sz="1500" b="1" dirty="0">
                <a:solidFill>
                  <a:srgbClr val="1F3864"/>
                </a:solidFill>
                <a:latin typeface="Calibri" pitchFamily="34" charset="0"/>
                <a:ea typeface="Calibri" pitchFamily="34" charset="-122"/>
                <a:cs typeface="Calibri" pitchFamily="34" charset="-120"/>
              </a:rPr>
              <a:t>Limitations</a:t>
            </a:r>
            <a:endParaRPr lang="en-US" sz="1500" dirty="0"/>
          </a:p>
        </p:txBody>
      </p:sp>
      <p:sp>
        <p:nvSpPr>
          <p:cNvPr id="25" name="Text 21"/>
          <p:cNvSpPr/>
          <p:nvPr/>
        </p:nvSpPr>
        <p:spPr>
          <a:xfrm>
            <a:off x="5532120" y="5093208"/>
            <a:ext cx="6156655" cy="713232"/>
          </a:xfrm>
          <a:prstGeom prst="rect">
            <a:avLst/>
          </a:prstGeom>
          <a:noFill/>
          <a:ln/>
        </p:spPr>
        <p:txBody>
          <a:bodyPr wrap="square" lIns="0" tIns="0" rIns="0" bIns="0" rtlCol="0" anchor="t"/>
          <a:lstStyle/>
          <a:p>
            <a:pPr marL="285750" indent="-285750">
              <a:buFont typeface="Arial"/>
              <a:buChar char="•"/>
            </a:pPr>
            <a:r>
              <a:rPr lang="en-US" sz="1300">
                <a:solidFill>
                  <a:srgbClr val="222222"/>
                </a:solidFill>
                <a:ea typeface="+mn-lt"/>
                <a:cs typeface="+mn-lt"/>
              </a:rPr>
              <a:t>The batching policy is static and rule-based; it ignores block fullness and latency.</a:t>
            </a:r>
            <a:endParaRPr lang="en-US"/>
          </a:p>
        </p:txBody>
      </p:sp>
    </p:spTree>
    <p:extLst>
      <p:ext uri="{BB962C8B-B14F-4D97-AF65-F5344CB8AC3E}">
        <p14:creationId xmlns:p14="http://schemas.microsoft.com/office/powerpoint/2010/main" val="19260577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6" name="Text 2"/>
          <p:cNvSpPr/>
          <p:nvPr/>
        </p:nvSpPr>
        <p:spPr>
          <a:xfrm>
            <a:off x="11140135" y="6492240"/>
            <a:ext cx="548640" cy="274320"/>
          </a:xfrm>
          <a:prstGeom prst="rect">
            <a:avLst/>
          </a:prstGeom>
          <a:noFill/>
          <a:ln/>
        </p:spPr>
        <p:txBody>
          <a:bodyPr wrap="square" rtlCol="0" anchor="ctr"/>
          <a:lstStyle/>
          <a:p>
            <a:pPr marL="0" indent="0" algn="r">
              <a:buNone/>
            </a:pPr>
            <a:r>
              <a:rPr lang="en-US" sz="1000" dirty="0">
                <a:solidFill>
                  <a:srgbClr val="595959"/>
                </a:solidFill>
                <a:latin typeface="Calibri" pitchFamily="34" charset="0"/>
                <a:ea typeface="Calibri" pitchFamily="34" charset="-122"/>
                <a:cs typeface="Calibri" pitchFamily="34" charset="-120"/>
              </a:rPr>
              <a:t>9</a:t>
            </a:r>
            <a:endParaRPr lang="en-US" sz="1000" dirty="0"/>
          </a:p>
        </p:txBody>
      </p:sp>
      <p:sp>
        <p:nvSpPr>
          <p:cNvPr id="7" name="Text 3"/>
          <p:cNvSpPr/>
          <p:nvPr/>
        </p:nvSpPr>
        <p:spPr>
          <a:xfrm>
            <a:off x="502920" y="960120"/>
            <a:ext cx="11185855" cy="566928"/>
          </a:xfrm>
          <a:prstGeom prst="rect">
            <a:avLst/>
          </a:prstGeom>
          <a:noFill/>
          <a:ln/>
        </p:spPr>
        <p:txBody>
          <a:bodyPr wrap="square" lIns="0" tIns="0" rIns="0" bIns="0" rtlCol="0" anchor="ctr"/>
          <a:lstStyle/>
          <a:p>
            <a:pPr marL="0" indent="0" algn="l">
              <a:buNone/>
            </a:pPr>
            <a:r>
              <a:rPr lang="en-US" sz="2800" b="1" dirty="0">
                <a:solidFill>
                  <a:srgbClr val="1F3864"/>
                </a:solidFill>
                <a:latin typeface="Calibri" pitchFamily="34" charset="0"/>
                <a:ea typeface="Calibri" pitchFamily="34" charset="-122"/>
                <a:cs typeface="Calibri" pitchFamily="34" charset="-120"/>
              </a:rPr>
              <a:t>Research Paper 3</a:t>
            </a:r>
            <a:endParaRPr lang="en-US" sz="2800" dirty="0"/>
          </a:p>
        </p:txBody>
      </p:sp>
      <p:sp>
        <p:nvSpPr>
          <p:cNvPr id="8" name="Shape 4"/>
          <p:cNvSpPr/>
          <p:nvPr/>
        </p:nvSpPr>
        <p:spPr>
          <a:xfrm>
            <a:off x="502920" y="1783080"/>
            <a:ext cx="4663440" cy="4160520"/>
          </a:xfrm>
          <a:prstGeom prst="rect">
            <a:avLst/>
          </a:prstGeom>
          <a:solidFill>
            <a:srgbClr val="F7F8FA"/>
          </a:solidFill>
          <a:ln w="12700">
            <a:solidFill>
              <a:srgbClr val="D9D9D9"/>
            </a:solidFill>
            <a:prstDash val="solid"/>
          </a:ln>
        </p:spPr>
      </p:sp>
      <p:sp>
        <p:nvSpPr>
          <p:cNvPr id="9" name="Text 5"/>
          <p:cNvSpPr/>
          <p:nvPr/>
        </p:nvSpPr>
        <p:spPr>
          <a:xfrm>
            <a:off x="731520" y="2039112"/>
            <a:ext cx="4206240" cy="292608"/>
          </a:xfrm>
          <a:prstGeom prst="rect">
            <a:avLst/>
          </a:prstGeom>
          <a:noFill/>
          <a:ln/>
        </p:spPr>
        <p:txBody>
          <a:bodyPr wrap="square" lIns="0" tIns="0" rIns="0" bIns="0" rtlCol="0" anchor="ctr"/>
          <a:lstStyle/>
          <a:p>
            <a:pPr marL="0" indent="0" algn="l">
              <a:buNone/>
            </a:pPr>
            <a:r>
              <a:rPr lang="en-US" sz="1400" b="1" dirty="0">
                <a:solidFill>
                  <a:srgbClr val="1F3864"/>
                </a:solidFill>
                <a:latin typeface="Calibri" pitchFamily="34" charset="0"/>
                <a:ea typeface="Calibri" pitchFamily="34" charset="-122"/>
                <a:cs typeface="Calibri" pitchFamily="34" charset="-120"/>
              </a:rPr>
              <a:t>Paper Title:</a:t>
            </a:r>
            <a:endParaRPr lang="en-US" sz="1400" dirty="0"/>
          </a:p>
        </p:txBody>
      </p:sp>
      <p:sp>
        <p:nvSpPr>
          <p:cNvPr id="10" name="Text 6"/>
          <p:cNvSpPr/>
          <p:nvPr/>
        </p:nvSpPr>
        <p:spPr>
          <a:xfrm>
            <a:off x="731520" y="2350008"/>
            <a:ext cx="4206240" cy="502920"/>
          </a:xfrm>
          <a:prstGeom prst="rect">
            <a:avLst/>
          </a:prstGeom>
          <a:noFill/>
          <a:ln/>
        </p:spPr>
        <p:txBody>
          <a:bodyPr wrap="square" lIns="0" tIns="0" rIns="0" bIns="0" rtlCol="0" anchor="ctr"/>
          <a:lstStyle/>
          <a:p>
            <a:r>
              <a:rPr lang="en-US" sz="1300" dirty="0">
                <a:solidFill>
                  <a:srgbClr val="222222"/>
                </a:solidFill>
                <a:ea typeface="+mn-lt"/>
                <a:cs typeface="+mn-lt"/>
              </a:rPr>
              <a:t>A Concurrent DEX on Cardano.</a:t>
            </a:r>
            <a:endParaRPr lang="en-US" dirty="0"/>
          </a:p>
        </p:txBody>
      </p:sp>
      <p:sp>
        <p:nvSpPr>
          <p:cNvPr id="11" name="Text 7"/>
          <p:cNvSpPr/>
          <p:nvPr/>
        </p:nvSpPr>
        <p:spPr>
          <a:xfrm>
            <a:off x="731520" y="2971800"/>
            <a:ext cx="4206240" cy="292608"/>
          </a:xfrm>
          <a:prstGeom prst="rect">
            <a:avLst/>
          </a:prstGeom>
          <a:noFill/>
          <a:ln/>
        </p:spPr>
        <p:txBody>
          <a:bodyPr wrap="square" lIns="0" tIns="0" rIns="0" bIns="0" rtlCol="0" anchor="ctr"/>
          <a:lstStyle/>
          <a:p>
            <a:pPr marL="0" indent="0" algn="l">
              <a:buNone/>
            </a:pPr>
            <a:r>
              <a:rPr lang="en-US" sz="1400" b="1" dirty="0">
                <a:solidFill>
                  <a:srgbClr val="1F3864"/>
                </a:solidFill>
                <a:latin typeface="Calibri" pitchFamily="34" charset="0"/>
                <a:ea typeface="Calibri" pitchFamily="34" charset="-122"/>
                <a:cs typeface="Calibri" pitchFamily="34" charset="-120"/>
              </a:rPr>
              <a:t>Author(s):</a:t>
            </a:r>
            <a:endParaRPr lang="en-US" sz="1400" dirty="0"/>
          </a:p>
        </p:txBody>
      </p:sp>
      <p:sp>
        <p:nvSpPr>
          <p:cNvPr id="12" name="Text 8"/>
          <p:cNvSpPr/>
          <p:nvPr/>
        </p:nvSpPr>
        <p:spPr>
          <a:xfrm>
            <a:off x="731520" y="3282696"/>
            <a:ext cx="4206240" cy="502920"/>
          </a:xfrm>
          <a:prstGeom prst="rect">
            <a:avLst/>
          </a:prstGeom>
          <a:noFill/>
          <a:ln/>
        </p:spPr>
        <p:txBody>
          <a:bodyPr wrap="square" lIns="0" tIns="0" rIns="0" bIns="0" rtlCol="0" anchor="ctr"/>
          <a:lstStyle/>
          <a:p>
            <a:r>
              <a:rPr lang="en-US" sz="1300">
                <a:solidFill>
                  <a:srgbClr val="222222"/>
                </a:solidFill>
                <a:ea typeface="+mn-lt"/>
                <a:cs typeface="+mn-lt"/>
              </a:rPr>
              <a:t>P. Bruhwiler</a:t>
            </a:r>
            <a:endParaRPr lang="en-US">
              <a:ea typeface="+mn-lt"/>
              <a:cs typeface="+mn-lt"/>
            </a:endParaRPr>
          </a:p>
        </p:txBody>
      </p:sp>
      <p:sp>
        <p:nvSpPr>
          <p:cNvPr id="13" name="Text 9"/>
          <p:cNvSpPr/>
          <p:nvPr/>
        </p:nvSpPr>
        <p:spPr>
          <a:xfrm>
            <a:off x="731520" y="3904488"/>
            <a:ext cx="4206240" cy="292608"/>
          </a:xfrm>
          <a:prstGeom prst="rect">
            <a:avLst/>
          </a:prstGeom>
          <a:noFill/>
          <a:ln/>
        </p:spPr>
        <p:txBody>
          <a:bodyPr wrap="square" lIns="0" tIns="0" rIns="0" bIns="0" rtlCol="0" anchor="ctr"/>
          <a:lstStyle/>
          <a:p>
            <a:pPr marL="0" indent="0" algn="l">
              <a:buNone/>
            </a:pPr>
            <a:r>
              <a:rPr lang="en-US" sz="1400" b="1" dirty="0">
                <a:solidFill>
                  <a:srgbClr val="1F3864"/>
                </a:solidFill>
                <a:latin typeface="Calibri" pitchFamily="34" charset="0"/>
                <a:ea typeface="Calibri" pitchFamily="34" charset="-122"/>
                <a:cs typeface="Calibri" pitchFamily="34" charset="-120"/>
              </a:rPr>
              <a:t>Year:</a:t>
            </a:r>
            <a:endParaRPr lang="en-US" sz="1400" dirty="0"/>
          </a:p>
        </p:txBody>
      </p:sp>
      <p:sp>
        <p:nvSpPr>
          <p:cNvPr id="14" name="Text 10"/>
          <p:cNvSpPr/>
          <p:nvPr/>
        </p:nvSpPr>
        <p:spPr>
          <a:xfrm>
            <a:off x="731520" y="4215384"/>
            <a:ext cx="4206240" cy="502920"/>
          </a:xfrm>
          <a:prstGeom prst="rect">
            <a:avLst/>
          </a:prstGeom>
          <a:noFill/>
          <a:ln/>
        </p:spPr>
        <p:txBody>
          <a:bodyPr wrap="square" lIns="0" tIns="0" rIns="0" bIns="0" rtlCol="0" anchor="ctr"/>
          <a:lstStyle/>
          <a:p>
            <a:pPr marL="0" indent="0" algn="l">
              <a:buNone/>
            </a:pPr>
            <a:r>
              <a:rPr lang="en-US" sz="1300">
                <a:solidFill>
                  <a:srgbClr val="222222"/>
                </a:solidFill>
                <a:latin typeface="Calibri"/>
                <a:ea typeface="Calibri"/>
                <a:cs typeface="Calibri"/>
              </a:rPr>
              <a:t>2021</a:t>
            </a:r>
            <a:endParaRPr lang="en-US" sz="1300">
              <a:latin typeface="Calibri"/>
              <a:ea typeface="Calibri"/>
              <a:cs typeface="Calibri"/>
            </a:endParaRPr>
          </a:p>
        </p:txBody>
      </p:sp>
      <p:sp>
        <p:nvSpPr>
          <p:cNvPr id="15" name="Text 11"/>
          <p:cNvSpPr/>
          <p:nvPr/>
        </p:nvSpPr>
        <p:spPr>
          <a:xfrm>
            <a:off x="731520" y="4837176"/>
            <a:ext cx="4206240" cy="292608"/>
          </a:xfrm>
          <a:prstGeom prst="rect">
            <a:avLst/>
          </a:prstGeom>
          <a:noFill/>
          <a:ln/>
        </p:spPr>
        <p:txBody>
          <a:bodyPr wrap="square" lIns="0" tIns="0" rIns="0" bIns="0" rtlCol="0" anchor="ctr"/>
          <a:lstStyle/>
          <a:p>
            <a:pPr marL="0" indent="0" algn="l">
              <a:buNone/>
            </a:pPr>
            <a:r>
              <a:rPr lang="en-US" sz="1400" b="1" dirty="0">
                <a:solidFill>
                  <a:srgbClr val="1F3864"/>
                </a:solidFill>
                <a:latin typeface="Calibri" pitchFamily="34" charset="0"/>
                <a:ea typeface="Calibri" pitchFamily="34" charset="-122"/>
                <a:cs typeface="Calibri" pitchFamily="34" charset="-120"/>
              </a:rPr>
              <a:t>Journal / Conference:</a:t>
            </a:r>
            <a:endParaRPr lang="en-US" sz="1400" dirty="0"/>
          </a:p>
        </p:txBody>
      </p:sp>
      <p:sp>
        <p:nvSpPr>
          <p:cNvPr id="16" name="Text 12"/>
          <p:cNvSpPr/>
          <p:nvPr/>
        </p:nvSpPr>
        <p:spPr>
          <a:xfrm>
            <a:off x="731520" y="5148072"/>
            <a:ext cx="4206240" cy="502920"/>
          </a:xfrm>
          <a:prstGeom prst="rect">
            <a:avLst/>
          </a:prstGeom>
          <a:noFill/>
          <a:ln/>
        </p:spPr>
        <p:txBody>
          <a:bodyPr wrap="square" lIns="0" tIns="0" rIns="0" bIns="0" rtlCol="0" anchor="ctr"/>
          <a:lstStyle/>
          <a:p>
            <a:r>
              <a:rPr lang="en-US" sz="1300">
                <a:solidFill>
                  <a:srgbClr val="222222"/>
                </a:solidFill>
                <a:ea typeface="+mn-lt"/>
                <a:cs typeface="+mn-lt"/>
              </a:rPr>
              <a:t>B.Sc. Thesis, University of Bern.</a:t>
            </a:r>
            <a:endParaRPr lang="en-US"/>
          </a:p>
        </p:txBody>
      </p:sp>
      <p:sp>
        <p:nvSpPr>
          <p:cNvPr id="17" name="Text 13"/>
          <p:cNvSpPr/>
          <p:nvPr/>
        </p:nvSpPr>
        <p:spPr>
          <a:xfrm>
            <a:off x="731520" y="5486400"/>
            <a:ext cx="4206240" cy="320040"/>
          </a:xfrm>
          <a:prstGeom prst="rect">
            <a:avLst/>
          </a:prstGeom>
          <a:noFill/>
          <a:ln/>
        </p:spPr>
        <p:txBody>
          <a:bodyPr wrap="square" lIns="0" tIns="0" rIns="0" bIns="0" rtlCol="0" anchor="ctr"/>
          <a:lstStyle/>
          <a:p>
            <a:pPr marL="0" indent="0" algn="l">
              <a:buNone/>
            </a:pPr>
            <a:r>
              <a:rPr lang="en-US" sz="1200" i="1" dirty="0">
                <a:solidFill>
                  <a:srgbClr val="595959"/>
                </a:solidFill>
                <a:latin typeface="Calibri" pitchFamily="34" charset="0"/>
                <a:ea typeface="Calibri" pitchFamily="34" charset="-122"/>
                <a:cs typeface="Calibri" pitchFamily="34" charset="-120"/>
              </a:rPr>
              <a:t>[3]</a:t>
            </a:r>
            <a:endParaRPr lang="en-US" sz="1200" dirty="0"/>
          </a:p>
        </p:txBody>
      </p:sp>
      <p:sp>
        <p:nvSpPr>
          <p:cNvPr id="18" name="Text 14"/>
          <p:cNvSpPr/>
          <p:nvPr/>
        </p:nvSpPr>
        <p:spPr>
          <a:xfrm>
            <a:off x="5532120" y="1783080"/>
            <a:ext cx="6156655" cy="292608"/>
          </a:xfrm>
          <a:prstGeom prst="rect">
            <a:avLst/>
          </a:prstGeom>
          <a:noFill/>
          <a:ln/>
        </p:spPr>
        <p:txBody>
          <a:bodyPr wrap="square" lIns="0" tIns="0" rIns="0" bIns="0" rtlCol="0" anchor="ctr"/>
          <a:lstStyle/>
          <a:p>
            <a:pPr marL="0" indent="0" algn="l">
              <a:buNone/>
            </a:pPr>
            <a:r>
              <a:rPr lang="en-US" sz="1500" b="1" dirty="0">
                <a:solidFill>
                  <a:srgbClr val="1F3864"/>
                </a:solidFill>
                <a:latin typeface="Calibri" pitchFamily="34" charset="0"/>
                <a:ea typeface="Calibri" pitchFamily="34" charset="-122"/>
                <a:cs typeface="Calibri" pitchFamily="34" charset="-120"/>
              </a:rPr>
              <a:t>Methodology</a:t>
            </a:r>
            <a:endParaRPr lang="en-US" sz="1500" dirty="0"/>
          </a:p>
        </p:txBody>
      </p:sp>
      <p:sp>
        <p:nvSpPr>
          <p:cNvPr id="19" name="Text 15"/>
          <p:cNvSpPr/>
          <p:nvPr/>
        </p:nvSpPr>
        <p:spPr>
          <a:xfrm>
            <a:off x="5532120" y="2075688"/>
            <a:ext cx="6156655" cy="713232"/>
          </a:xfrm>
          <a:prstGeom prst="rect">
            <a:avLst/>
          </a:prstGeom>
          <a:noFill/>
          <a:ln/>
        </p:spPr>
        <p:txBody>
          <a:bodyPr wrap="square" lIns="0" tIns="0" rIns="0" bIns="0" rtlCol="0" anchor="t"/>
          <a:lstStyle/>
          <a:p>
            <a:pPr marL="285750" indent="-285750">
              <a:buFont typeface="Arial"/>
              <a:buChar char="•"/>
            </a:pPr>
            <a:r>
              <a:rPr lang="en-US" sz="1300" dirty="0" err="1">
                <a:solidFill>
                  <a:srgbClr val="222222"/>
                </a:solidFill>
                <a:ea typeface="+mn-lt"/>
                <a:cs typeface="+mn-lt"/>
              </a:rPr>
              <a:t>Analyzes the eUTXO concurrency problem for AMM-style DEXs and implements a concurrent DEX prototype.</a:t>
            </a:r>
            <a:endParaRPr lang="en-US" dirty="0"/>
          </a:p>
        </p:txBody>
      </p:sp>
      <p:sp>
        <p:nvSpPr>
          <p:cNvPr id="20" name="Text 16"/>
          <p:cNvSpPr/>
          <p:nvPr/>
        </p:nvSpPr>
        <p:spPr>
          <a:xfrm>
            <a:off x="5532120" y="2788920"/>
            <a:ext cx="6156655" cy="292608"/>
          </a:xfrm>
          <a:prstGeom prst="rect">
            <a:avLst/>
          </a:prstGeom>
          <a:noFill/>
          <a:ln/>
        </p:spPr>
        <p:txBody>
          <a:bodyPr wrap="square" lIns="0" tIns="0" rIns="0" bIns="0" rtlCol="0" anchor="ctr"/>
          <a:lstStyle/>
          <a:p>
            <a:pPr marL="0" indent="0" algn="l">
              <a:buNone/>
            </a:pPr>
            <a:r>
              <a:rPr lang="en-US" sz="1500" b="1" dirty="0">
                <a:solidFill>
                  <a:srgbClr val="1F3864"/>
                </a:solidFill>
                <a:latin typeface="Calibri" pitchFamily="34" charset="0"/>
                <a:ea typeface="Calibri" pitchFamily="34" charset="-122"/>
                <a:cs typeface="Calibri" pitchFamily="34" charset="-120"/>
              </a:rPr>
              <a:t>Key Contributions</a:t>
            </a:r>
            <a:endParaRPr lang="en-US" sz="1500" dirty="0"/>
          </a:p>
        </p:txBody>
      </p:sp>
      <p:sp>
        <p:nvSpPr>
          <p:cNvPr id="21" name="Text 17"/>
          <p:cNvSpPr/>
          <p:nvPr/>
        </p:nvSpPr>
        <p:spPr>
          <a:xfrm>
            <a:off x="5532120" y="3081528"/>
            <a:ext cx="6156655" cy="713232"/>
          </a:xfrm>
          <a:prstGeom prst="rect">
            <a:avLst/>
          </a:prstGeom>
          <a:noFill/>
          <a:ln/>
        </p:spPr>
        <p:txBody>
          <a:bodyPr wrap="square" lIns="0" tIns="0" rIns="0" bIns="0" rtlCol="0" anchor="t"/>
          <a:lstStyle/>
          <a:p>
            <a:pPr marL="285750" indent="-285750">
              <a:buFont typeface="Arial"/>
              <a:buChar char="•"/>
            </a:pPr>
            <a:r>
              <a:rPr lang="en-US" sz="1300">
                <a:solidFill>
                  <a:srgbClr val="222222"/>
                </a:solidFill>
                <a:ea typeface="+mn-lt"/>
                <a:cs typeface="+mn-lt"/>
              </a:rPr>
              <a:t>Shows how contention arises when many users hit one pool and demonstrates a working solution.</a:t>
            </a:r>
            <a:endParaRPr lang="en-US"/>
          </a:p>
        </p:txBody>
      </p:sp>
      <p:sp>
        <p:nvSpPr>
          <p:cNvPr id="22" name="Text 18"/>
          <p:cNvSpPr/>
          <p:nvPr/>
        </p:nvSpPr>
        <p:spPr>
          <a:xfrm>
            <a:off x="5532120" y="3794760"/>
            <a:ext cx="6156655" cy="292608"/>
          </a:xfrm>
          <a:prstGeom prst="rect">
            <a:avLst/>
          </a:prstGeom>
          <a:noFill/>
          <a:ln/>
        </p:spPr>
        <p:txBody>
          <a:bodyPr wrap="square" lIns="0" tIns="0" rIns="0" bIns="0" rtlCol="0" anchor="ctr"/>
          <a:lstStyle/>
          <a:p>
            <a:pPr marL="0" indent="0" algn="l">
              <a:buNone/>
            </a:pPr>
            <a:r>
              <a:rPr lang="en-US" sz="1500" b="1" dirty="0">
                <a:solidFill>
                  <a:srgbClr val="1F3864"/>
                </a:solidFill>
                <a:latin typeface="Calibri" pitchFamily="34" charset="0"/>
                <a:ea typeface="Calibri" pitchFamily="34" charset="-122"/>
                <a:cs typeface="Calibri" pitchFamily="34" charset="-120"/>
              </a:rPr>
              <a:t>Advantages</a:t>
            </a:r>
            <a:endParaRPr lang="en-US" sz="1500" dirty="0"/>
          </a:p>
        </p:txBody>
      </p:sp>
      <p:sp>
        <p:nvSpPr>
          <p:cNvPr id="23" name="Text 19"/>
          <p:cNvSpPr/>
          <p:nvPr/>
        </p:nvSpPr>
        <p:spPr>
          <a:xfrm>
            <a:off x="5532120" y="4087368"/>
            <a:ext cx="6156655" cy="713232"/>
          </a:xfrm>
          <a:prstGeom prst="rect">
            <a:avLst/>
          </a:prstGeom>
          <a:noFill/>
          <a:ln/>
        </p:spPr>
        <p:txBody>
          <a:bodyPr wrap="square" lIns="0" tIns="0" rIns="0" bIns="0" rtlCol="0" anchor="t"/>
          <a:lstStyle/>
          <a:p>
            <a:pPr marL="285750" indent="-285750">
              <a:buFont typeface="Arial"/>
              <a:buChar char="•"/>
            </a:pPr>
            <a:r>
              <a:rPr lang="en-US" sz="1300">
                <a:solidFill>
                  <a:srgbClr val="222222"/>
                </a:solidFill>
                <a:ea typeface="+mn-lt"/>
                <a:cs typeface="+mn-lt"/>
              </a:rPr>
              <a:t>A concrete, implementable design for scalable swaps on a UTXO blockchain.</a:t>
            </a:r>
            <a:endParaRPr lang="en-US"/>
          </a:p>
        </p:txBody>
      </p:sp>
      <p:sp>
        <p:nvSpPr>
          <p:cNvPr id="24" name="Text 20"/>
          <p:cNvSpPr/>
          <p:nvPr/>
        </p:nvSpPr>
        <p:spPr>
          <a:xfrm>
            <a:off x="5532120" y="4800600"/>
            <a:ext cx="6156655" cy="292608"/>
          </a:xfrm>
          <a:prstGeom prst="rect">
            <a:avLst/>
          </a:prstGeom>
          <a:noFill/>
          <a:ln/>
        </p:spPr>
        <p:txBody>
          <a:bodyPr wrap="square" lIns="0" tIns="0" rIns="0" bIns="0" rtlCol="0" anchor="ctr"/>
          <a:lstStyle/>
          <a:p>
            <a:pPr marL="0" indent="0" algn="l">
              <a:buNone/>
            </a:pPr>
            <a:r>
              <a:rPr lang="en-US" sz="1500" b="1" dirty="0">
                <a:solidFill>
                  <a:srgbClr val="1F3864"/>
                </a:solidFill>
                <a:latin typeface="Calibri" pitchFamily="34" charset="0"/>
                <a:ea typeface="Calibri" pitchFamily="34" charset="-122"/>
                <a:cs typeface="Calibri" pitchFamily="34" charset="-120"/>
              </a:rPr>
              <a:t>Limitations</a:t>
            </a:r>
            <a:endParaRPr lang="en-US" sz="1500" dirty="0"/>
          </a:p>
        </p:txBody>
      </p:sp>
      <p:sp>
        <p:nvSpPr>
          <p:cNvPr id="25" name="Text 21"/>
          <p:cNvSpPr/>
          <p:nvPr/>
        </p:nvSpPr>
        <p:spPr>
          <a:xfrm>
            <a:off x="5532120" y="5093208"/>
            <a:ext cx="6156655" cy="713232"/>
          </a:xfrm>
          <a:prstGeom prst="rect">
            <a:avLst/>
          </a:prstGeom>
          <a:noFill/>
          <a:ln/>
        </p:spPr>
        <p:txBody>
          <a:bodyPr wrap="square" lIns="0" tIns="0" rIns="0" bIns="0" rtlCol="0" anchor="t"/>
          <a:lstStyle/>
          <a:p>
            <a:pPr marL="285750" indent="-285750">
              <a:buFont typeface="Arial"/>
              <a:buChar char="•"/>
            </a:pPr>
            <a:r>
              <a:rPr lang="en-US" sz="1300" dirty="0">
                <a:solidFill>
                  <a:srgbClr val="222222"/>
                </a:solidFill>
                <a:ea typeface="+mn-lt"/>
                <a:cs typeface="+mn-lt"/>
              </a:rPr>
              <a:t>Focuses on correctness and concurrency, not on batch timing or size under load.</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6" name="Text 2"/>
          <p:cNvSpPr/>
          <p:nvPr/>
        </p:nvSpPr>
        <p:spPr>
          <a:xfrm>
            <a:off x="11140135" y="6492240"/>
            <a:ext cx="548640" cy="274320"/>
          </a:xfrm>
          <a:prstGeom prst="rect">
            <a:avLst/>
          </a:prstGeom>
          <a:noFill/>
          <a:ln/>
        </p:spPr>
        <p:txBody>
          <a:bodyPr wrap="square" rtlCol="0" anchor="ctr"/>
          <a:lstStyle/>
          <a:p>
            <a:pPr marL="0" indent="0" algn="r">
              <a:buNone/>
            </a:pPr>
            <a:r>
              <a:rPr lang="en-US" sz="1000" dirty="0">
                <a:solidFill>
                  <a:srgbClr val="595959"/>
                </a:solidFill>
                <a:latin typeface="Calibri" pitchFamily="34" charset="0"/>
                <a:ea typeface="Calibri" pitchFamily="34" charset="-122"/>
                <a:cs typeface="Calibri" pitchFamily="34" charset="-120"/>
              </a:rPr>
              <a:t>10</a:t>
            </a:r>
            <a:endParaRPr lang="en-US" sz="1000" dirty="0"/>
          </a:p>
        </p:txBody>
      </p:sp>
      <p:sp>
        <p:nvSpPr>
          <p:cNvPr id="7" name="Text 3"/>
          <p:cNvSpPr/>
          <p:nvPr/>
        </p:nvSpPr>
        <p:spPr>
          <a:xfrm>
            <a:off x="502920" y="960120"/>
            <a:ext cx="11185855" cy="566928"/>
          </a:xfrm>
          <a:prstGeom prst="rect">
            <a:avLst/>
          </a:prstGeom>
          <a:noFill/>
          <a:ln/>
        </p:spPr>
        <p:txBody>
          <a:bodyPr wrap="square" lIns="0" tIns="0" rIns="0" bIns="0" rtlCol="0" anchor="ctr"/>
          <a:lstStyle/>
          <a:p>
            <a:pPr marL="0" indent="0" algn="l">
              <a:buNone/>
            </a:pPr>
            <a:r>
              <a:rPr lang="en-US" sz="2800" b="1" dirty="0">
                <a:solidFill>
                  <a:srgbClr val="1F3864"/>
                </a:solidFill>
                <a:latin typeface="Calibri" pitchFamily="34" charset="0"/>
                <a:ea typeface="Calibri" pitchFamily="34" charset="-122"/>
                <a:cs typeface="Calibri" pitchFamily="34" charset="-120"/>
              </a:rPr>
              <a:t>Research Paper 4</a:t>
            </a:r>
            <a:endParaRPr lang="en-US" sz="2800" dirty="0"/>
          </a:p>
        </p:txBody>
      </p:sp>
      <p:sp>
        <p:nvSpPr>
          <p:cNvPr id="8" name="Shape 4"/>
          <p:cNvSpPr/>
          <p:nvPr/>
        </p:nvSpPr>
        <p:spPr>
          <a:xfrm>
            <a:off x="502920" y="1783080"/>
            <a:ext cx="4663440" cy="4160520"/>
          </a:xfrm>
          <a:prstGeom prst="rect">
            <a:avLst/>
          </a:prstGeom>
          <a:solidFill>
            <a:srgbClr val="F7F8FA"/>
          </a:solidFill>
          <a:ln w="12700">
            <a:solidFill>
              <a:srgbClr val="D9D9D9"/>
            </a:solidFill>
            <a:prstDash val="solid"/>
          </a:ln>
        </p:spPr>
      </p:sp>
      <p:sp>
        <p:nvSpPr>
          <p:cNvPr id="9" name="Text 5"/>
          <p:cNvSpPr/>
          <p:nvPr/>
        </p:nvSpPr>
        <p:spPr>
          <a:xfrm>
            <a:off x="731520" y="2039112"/>
            <a:ext cx="4206240" cy="292608"/>
          </a:xfrm>
          <a:prstGeom prst="rect">
            <a:avLst/>
          </a:prstGeom>
          <a:noFill/>
          <a:ln/>
        </p:spPr>
        <p:txBody>
          <a:bodyPr wrap="square" lIns="0" tIns="0" rIns="0" bIns="0" rtlCol="0" anchor="ctr"/>
          <a:lstStyle/>
          <a:p>
            <a:pPr marL="0" indent="0" algn="l">
              <a:buNone/>
            </a:pPr>
            <a:r>
              <a:rPr lang="en-US" sz="1400" b="1" dirty="0">
                <a:solidFill>
                  <a:srgbClr val="1F3864"/>
                </a:solidFill>
                <a:latin typeface="Calibri" pitchFamily="34" charset="0"/>
                <a:ea typeface="Calibri" pitchFamily="34" charset="-122"/>
                <a:cs typeface="Calibri" pitchFamily="34" charset="-120"/>
              </a:rPr>
              <a:t>Paper Title:</a:t>
            </a:r>
            <a:endParaRPr lang="en-US" sz="1400" dirty="0"/>
          </a:p>
        </p:txBody>
      </p:sp>
      <p:sp>
        <p:nvSpPr>
          <p:cNvPr id="10" name="Text 6"/>
          <p:cNvSpPr/>
          <p:nvPr/>
        </p:nvSpPr>
        <p:spPr>
          <a:xfrm>
            <a:off x="731520" y="2350008"/>
            <a:ext cx="4206240" cy="502920"/>
          </a:xfrm>
          <a:prstGeom prst="rect">
            <a:avLst/>
          </a:prstGeom>
          <a:noFill/>
          <a:ln/>
        </p:spPr>
        <p:txBody>
          <a:bodyPr wrap="square" lIns="0" tIns="0" rIns="0" bIns="0" rtlCol="0" anchor="ctr"/>
          <a:lstStyle/>
          <a:p>
            <a:r>
              <a:rPr lang="en-US" sz="1300">
                <a:solidFill>
                  <a:srgbClr val="222222"/>
                </a:solidFill>
                <a:ea typeface="+mn-lt"/>
                <a:cs typeface="+mn-lt"/>
              </a:rPr>
              <a:t>Transaction Fee Mechanism Design: An Economic Analysis of EIP-1559.</a:t>
            </a:r>
            <a:endParaRPr lang="en-US"/>
          </a:p>
        </p:txBody>
      </p:sp>
      <p:sp>
        <p:nvSpPr>
          <p:cNvPr id="11" name="Text 7"/>
          <p:cNvSpPr/>
          <p:nvPr/>
        </p:nvSpPr>
        <p:spPr>
          <a:xfrm>
            <a:off x="731520" y="2971800"/>
            <a:ext cx="4206240" cy="292608"/>
          </a:xfrm>
          <a:prstGeom prst="rect">
            <a:avLst/>
          </a:prstGeom>
          <a:noFill/>
          <a:ln/>
        </p:spPr>
        <p:txBody>
          <a:bodyPr wrap="square" lIns="0" tIns="0" rIns="0" bIns="0" rtlCol="0" anchor="ctr"/>
          <a:lstStyle/>
          <a:p>
            <a:pPr marL="0" indent="0" algn="l">
              <a:buNone/>
            </a:pPr>
            <a:r>
              <a:rPr lang="en-US" sz="1400" b="1" dirty="0">
                <a:solidFill>
                  <a:srgbClr val="1F3864"/>
                </a:solidFill>
                <a:latin typeface="Calibri" pitchFamily="34" charset="0"/>
                <a:ea typeface="Calibri" pitchFamily="34" charset="-122"/>
                <a:cs typeface="Calibri" pitchFamily="34" charset="-120"/>
              </a:rPr>
              <a:t>Author(s):</a:t>
            </a:r>
            <a:endParaRPr lang="en-US" sz="1400" dirty="0"/>
          </a:p>
        </p:txBody>
      </p:sp>
      <p:sp>
        <p:nvSpPr>
          <p:cNvPr id="12" name="Text 8"/>
          <p:cNvSpPr/>
          <p:nvPr/>
        </p:nvSpPr>
        <p:spPr>
          <a:xfrm>
            <a:off x="731520" y="3282696"/>
            <a:ext cx="4206240" cy="502920"/>
          </a:xfrm>
          <a:prstGeom prst="rect">
            <a:avLst/>
          </a:prstGeom>
          <a:noFill/>
          <a:ln/>
        </p:spPr>
        <p:txBody>
          <a:bodyPr wrap="square" lIns="0" tIns="0" rIns="0" bIns="0" rtlCol="0" anchor="ctr"/>
          <a:lstStyle/>
          <a:p>
            <a:r>
              <a:rPr lang="en-US" sz="1300">
                <a:solidFill>
                  <a:srgbClr val="222222"/>
                </a:solidFill>
                <a:ea typeface="+mn-lt"/>
                <a:cs typeface="+mn-lt"/>
              </a:rPr>
              <a:t>T. Roughgarden</a:t>
            </a:r>
            <a:endParaRPr lang="en-US"/>
          </a:p>
        </p:txBody>
      </p:sp>
      <p:sp>
        <p:nvSpPr>
          <p:cNvPr id="13" name="Text 9"/>
          <p:cNvSpPr/>
          <p:nvPr/>
        </p:nvSpPr>
        <p:spPr>
          <a:xfrm>
            <a:off x="731520" y="3904488"/>
            <a:ext cx="4206240" cy="292608"/>
          </a:xfrm>
          <a:prstGeom prst="rect">
            <a:avLst/>
          </a:prstGeom>
          <a:noFill/>
          <a:ln/>
        </p:spPr>
        <p:txBody>
          <a:bodyPr wrap="square" lIns="0" tIns="0" rIns="0" bIns="0" rtlCol="0" anchor="ctr"/>
          <a:lstStyle/>
          <a:p>
            <a:pPr marL="0" indent="0" algn="l">
              <a:buNone/>
            </a:pPr>
            <a:r>
              <a:rPr lang="en-US" sz="1400" b="1" dirty="0">
                <a:solidFill>
                  <a:srgbClr val="1F3864"/>
                </a:solidFill>
                <a:latin typeface="Calibri" pitchFamily="34" charset="0"/>
                <a:ea typeface="Calibri" pitchFamily="34" charset="-122"/>
                <a:cs typeface="Calibri" pitchFamily="34" charset="-120"/>
              </a:rPr>
              <a:t>Year:</a:t>
            </a:r>
            <a:endParaRPr lang="en-US" sz="1400" dirty="0"/>
          </a:p>
        </p:txBody>
      </p:sp>
      <p:sp>
        <p:nvSpPr>
          <p:cNvPr id="14" name="Text 10"/>
          <p:cNvSpPr/>
          <p:nvPr/>
        </p:nvSpPr>
        <p:spPr>
          <a:xfrm>
            <a:off x="731520" y="4215384"/>
            <a:ext cx="4206240" cy="502920"/>
          </a:xfrm>
          <a:prstGeom prst="rect">
            <a:avLst/>
          </a:prstGeom>
          <a:noFill/>
          <a:ln/>
        </p:spPr>
        <p:txBody>
          <a:bodyPr wrap="square" lIns="0" tIns="0" rIns="0" bIns="0" rtlCol="0" anchor="ctr"/>
          <a:lstStyle/>
          <a:p>
            <a:pPr marL="0" indent="0" algn="l">
              <a:buNone/>
            </a:pPr>
            <a:r>
              <a:rPr lang="en-US" sz="1300">
                <a:solidFill>
                  <a:srgbClr val="222222"/>
                </a:solidFill>
                <a:latin typeface="Calibri"/>
                <a:ea typeface="Calibri"/>
                <a:cs typeface="Calibri"/>
              </a:rPr>
              <a:t>2020</a:t>
            </a:r>
            <a:endParaRPr lang="en-US" sz="1300" dirty="0">
              <a:solidFill>
                <a:srgbClr val="222222"/>
              </a:solidFill>
              <a:latin typeface="Calibri"/>
              <a:ea typeface="Calibri"/>
              <a:cs typeface="Calibri"/>
            </a:endParaRPr>
          </a:p>
        </p:txBody>
      </p:sp>
      <p:sp>
        <p:nvSpPr>
          <p:cNvPr id="15" name="Text 11"/>
          <p:cNvSpPr/>
          <p:nvPr/>
        </p:nvSpPr>
        <p:spPr>
          <a:xfrm>
            <a:off x="731520" y="4837176"/>
            <a:ext cx="4206240" cy="292608"/>
          </a:xfrm>
          <a:prstGeom prst="rect">
            <a:avLst/>
          </a:prstGeom>
          <a:noFill/>
          <a:ln/>
        </p:spPr>
        <p:txBody>
          <a:bodyPr wrap="square" lIns="0" tIns="0" rIns="0" bIns="0" rtlCol="0" anchor="ctr"/>
          <a:lstStyle/>
          <a:p>
            <a:pPr marL="0" indent="0" algn="l">
              <a:buNone/>
            </a:pPr>
            <a:r>
              <a:rPr lang="en-US" sz="1400" b="1" dirty="0">
                <a:solidFill>
                  <a:srgbClr val="1F3864"/>
                </a:solidFill>
                <a:latin typeface="Calibri" pitchFamily="34" charset="0"/>
                <a:ea typeface="Calibri" pitchFamily="34" charset="-122"/>
                <a:cs typeface="Calibri" pitchFamily="34" charset="-120"/>
              </a:rPr>
              <a:t>Journal / Conference:</a:t>
            </a:r>
            <a:endParaRPr lang="en-US" sz="1400" dirty="0"/>
          </a:p>
        </p:txBody>
      </p:sp>
      <p:sp>
        <p:nvSpPr>
          <p:cNvPr id="16" name="Text 12"/>
          <p:cNvSpPr/>
          <p:nvPr/>
        </p:nvSpPr>
        <p:spPr>
          <a:xfrm>
            <a:off x="731520" y="5148072"/>
            <a:ext cx="4206240" cy="502920"/>
          </a:xfrm>
          <a:prstGeom prst="rect">
            <a:avLst/>
          </a:prstGeom>
          <a:noFill/>
          <a:ln/>
        </p:spPr>
        <p:txBody>
          <a:bodyPr wrap="square" lIns="0" tIns="0" rIns="0" bIns="0" rtlCol="0" anchor="ctr"/>
          <a:lstStyle/>
          <a:p>
            <a:r>
              <a:rPr lang="en-US" sz="1300">
                <a:solidFill>
                  <a:srgbClr val="222222"/>
                </a:solidFill>
                <a:ea typeface="+mn-lt"/>
                <a:cs typeface="+mn-lt"/>
              </a:rPr>
              <a:t>Proc. ACM Economics &amp; Computation (EC), 2021.</a:t>
            </a:r>
            <a:endParaRPr lang="en-US"/>
          </a:p>
        </p:txBody>
      </p:sp>
      <p:sp>
        <p:nvSpPr>
          <p:cNvPr id="17" name="Text 13"/>
          <p:cNvSpPr/>
          <p:nvPr/>
        </p:nvSpPr>
        <p:spPr>
          <a:xfrm>
            <a:off x="731520" y="5486400"/>
            <a:ext cx="4206240" cy="320040"/>
          </a:xfrm>
          <a:prstGeom prst="rect">
            <a:avLst/>
          </a:prstGeom>
          <a:noFill/>
          <a:ln/>
        </p:spPr>
        <p:txBody>
          <a:bodyPr wrap="square" lIns="0" tIns="0" rIns="0" bIns="0" rtlCol="0" anchor="ctr"/>
          <a:lstStyle/>
          <a:p>
            <a:pPr marL="0" indent="0" algn="l">
              <a:buNone/>
            </a:pPr>
            <a:r>
              <a:rPr lang="en-US" sz="1200" i="1" dirty="0">
                <a:solidFill>
                  <a:srgbClr val="595959"/>
                </a:solidFill>
                <a:latin typeface="Calibri" pitchFamily="34" charset="0"/>
                <a:ea typeface="Calibri" pitchFamily="34" charset="-122"/>
                <a:cs typeface="Calibri" pitchFamily="34" charset="-120"/>
              </a:rPr>
              <a:t>[4]</a:t>
            </a:r>
            <a:endParaRPr lang="en-US" sz="1200" dirty="0"/>
          </a:p>
        </p:txBody>
      </p:sp>
      <p:sp>
        <p:nvSpPr>
          <p:cNvPr id="18" name="Text 14"/>
          <p:cNvSpPr/>
          <p:nvPr/>
        </p:nvSpPr>
        <p:spPr>
          <a:xfrm>
            <a:off x="5532120" y="1783080"/>
            <a:ext cx="6156655" cy="292608"/>
          </a:xfrm>
          <a:prstGeom prst="rect">
            <a:avLst/>
          </a:prstGeom>
          <a:noFill/>
          <a:ln/>
        </p:spPr>
        <p:txBody>
          <a:bodyPr wrap="square" lIns="0" tIns="0" rIns="0" bIns="0" rtlCol="0" anchor="ctr"/>
          <a:lstStyle/>
          <a:p>
            <a:pPr marL="0" indent="0" algn="l">
              <a:buNone/>
            </a:pPr>
            <a:r>
              <a:rPr lang="en-US" sz="1500" b="1" dirty="0">
                <a:solidFill>
                  <a:srgbClr val="1F3864"/>
                </a:solidFill>
                <a:latin typeface="Calibri" pitchFamily="34" charset="0"/>
                <a:ea typeface="Calibri" pitchFamily="34" charset="-122"/>
                <a:cs typeface="Calibri" pitchFamily="34" charset="-120"/>
              </a:rPr>
              <a:t>Methodology</a:t>
            </a:r>
            <a:endParaRPr lang="en-US" sz="1500" dirty="0"/>
          </a:p>
        </p:txBody>
      </p:sp>
      <p:sp>
        <p:nvSpPr>
          <p:cNvPr id="19" name="Text 15"/>
          <p:cNvSpPr/>
          <p:nvPr/>
        </p:nvSpPr>
        <p:spPr>
          <a:xfrm>
            <a:off x="5532120" y="2075688"/>
            <a:ext cx="6156655" cy="713232"/>
          </a:xfrm>
          <a:prstGeom prst="rect">
            <a:avLst/>
          </a:prstGeom>
          <a:noFill/>
          <a:ln/>
        </p:spPr>
        <p:txBody>
          <a:bodyPr wrap="square" lIns="0" tIns="0" rIns="0" bIns="0" rtlCol="0" anchor="t"/>
          <a:lstStyle/>
          <a:p>
            <a:pPr marL="285750" indent="-285750">
              <a:buFont typeface="Arial"/>
              <a:buChar char="•"/>
            </a:pPr>
            <a:r>
              <a:rPr lang="en-US" sz="1300" dirty="0" err="1">
                <a:solidFill>
                  <a:srgbClr val="222222"/>
                </a:solidFill>
                <a:ea typeface="+mn-lt"/>
                <a:cs typeface="+mn-lt"/>
              </a:rPr>
              <a:t>Game-theoretic analysis of EIP-1559: variable-size blocks and a burned base fee.</a:t>
            </a:r>
            <a:endParaRPr lang="en-US" dirty="0"/>
          </a:p>
        </p:txBody>
      </p:sp>
      <p:sp>
        <p:nvSpPr>
          <p:cNvPr id="20" name="Text 16"/>
          <p:cNvSpPr/>
          <p:nvPr/>
        </p:nvSpPr>
        <p:spPr>
          <a:xfrm>
            <a:off x="5532120" y="2788920"/>
            <a:ext cx="6156655" cy="292608"/>
          </a:xfrm>
          <a:prstGeom prst="rect">
            <a:avLst/>
          </a:prstGeom>
          <a:noFill/>
          <a:ln/>
        </p:spPr>
        <p:txBody>
          <a:bodyPr wrap="square" lIns="0" tIns="0" rIns="0" bIns="0" rtlCol="0" anchor="ctr"/>
          <a:lstStyle/>
          <a:p>
            <a:pPr marL="0" indent="0" algn="l">
              <a:buNone/>
            </a:pPr>
            <a:r>
              <a:rPr lang="en-US" sz="1500" b="1" dirty="0">
                <a:solidFill>
                  <a:srgbClr val="1F3864"/>
                </a:solidFill>
                <a:latin typeface="Calibri" pitchFamily="34" charset="0"/>
                <a:ea typeface="Calibri" pitchFamily="34" charset="-122"/>
                <a:cs typeface="Calibri" pitchFamily="34" charset="-120"/>
              </a:rPr>
              <a:t>Key Contributions</a:t>
            </a:r>
            <a:endParaRPr lang="en-US" sz="1500" dirty="0"/>
          </a:p>
        </p:txBody>
      </p:sp>
      <p:sp>
        <p:nvSpPr>
          <p:cNvPr id="21" name="Text 17"/>
          <p:cNvSpPr/>
          <p:nvPr/>
        </p:nvSpPr>
        <p:spPr>
          <a:xfrm>
            <a:off x="5532120" y="3081528"/>
            <a:ext cx="6156655" cy="713232"/>
          </a:xfrm>
          <a:prstGeom prst="rect">
            <a:avLst/>
          </a:prstGeom>
          <a:noFill/>
          <a:ln/>
        </p:spPr>
        <p:txBody>
          <a:bodyPr wrap="square" lIns="0" tIns="0" rIns="0" bIns="0" rtlCol="0" anchor="t"/>
          <a:lstStyle/>
          <a:p>
            <a:pPr marL="285750" indent="-285750">
              <a:buFont typeface="Arial"/>
              <a:buChar char="•"/>
            </a:pPr>
            <a:r>
              <a:rPr lang="en-US" sz="1300">
                <a:solidFill>
                  <a:srgbClr val="222222"/>
                </a:solidFill>
                <a:ea typeface="+mn-lt"/>
                <a:cs typeface="+mn-lt"/>
              </a:rPr>
              <a:t>Shows how demand-responsive base fees price block space on account-based chains such as Ethereum.</a:t>
            </a:r>
            <a:endParaRPr lang="en-US"/>
          </a:p>
        </p:txBody>
      </p:sp>
      <p:sp>
        <p:nvSpPr>
          <p:cNvPr id="22" name="Text 18"/>
          <p:cNvSpPr/>
          <p:nvPr/>
        </p:nvSpPr>
        <p:spPr>
          <a:xfrm>
            <a:off x="5532120" y="3794760"/>
            <a:ext cx="6156655" cy="292608"/>
          </a:xfrm>
          <a:prstGeom prst="rect">
            <a:avLst/>
          </a:prstGeom>
          <a:noFill/>
          <a:ln/>
        </p:spPr>
        <p:txBody>
          <a:bodyPr wrap="square" lIns="0" tIns="0" rIns="0" bIns="0" rtlCol="0" anchor="ctr"/>
          <a:lstStyle/>
          <a:p>
            <a:pPr marL="0" indent="0" algn="l">
              <a:buNone/>
            </a:pPr>
            <a:r>
              <a:rPr lang="en-US" sz="1500" b="1" dirty="0">
                <a:solidFill>
                  <a:srgbClr val="1F3864"/>
                </a:solidFill>
                <a:latin typeface="Calibri" pitchFamily="34" charset="0"/>
                <a:ea typeface="Calibri" pitchFamily="34" charset="-122"/>
                <a:cs typeface="Calibri" pitchFamily="34" charset="-120"/>
              </a:rPr>
              <a:t>Advantages</a:t>
            </a:r>
            <a:endParaRPr lang="en-US" sz="1500" dirty="0"/>
          </a:p>
        </p:txBody>
      </p:sp>
      <p:sp>
        <p:nvSpPr>
          <p:cNvPr id="23" name="Text 19"/>
          <p:cNvSpPr/>
          <p:nvPr/>
        </p:nvSpPr>
        <p:spPr>
          <a:xfrm>
            <a:off x="5532120" y="4087368"/>
            <a:ext cx="6156655" cy="713232"/>
          </a:xfrm>
          <a:prstGeom prst="rect">
            <a:avLst/>
          </a:prstGeom>
          <a:noFill/>
          <a:ln/>
        </p:spPr>
        <p:txBody>
          <a:bodyPr wrap="square" lIns="0" tIns="0" rIns="0" bIns="0" rtlCol="0" anchor="t"/>
          <a:lstStyle/>
          <a:p>
            <a:pPr marL="285750" indent="-285750">
              <a:buFont typeface="Arial"/>
              <a:buChar char="•"/>
            </a:pPr>
            <a:r>
              <a:rPr lang="en-US" sz="1300">
                <a:solidFill>
                  <a:srgbClr val="222222"/>
                </a:solidFill>
                <a:ea typeface="+mn-lt"/>
                <a:cs typeface="+mn-lt"/>
              </a:rPr>
              <a:t>A clear economic model of congestion pricing under variable demand.</a:t>
            </a:r>
            <a:endParaRPr lang="en-US"/>
          </a:p>
        </p:txBody>
      </p:sp>
      <p:sp>
        <p:nvSpPr>
          <p:cNvPr id="24" name="Text 20"/>
          <p:cNvSpPr/>
          <p:nvPr/>
        </p:nvSpPr>
        <p:spPr>
          <a:xfrm>
            <a:off x="5532120" y="4800600"/>
            <a:ext cx="6156655" cy="292608"/>
          </a:xfrm>
          <a:prstGeom prst="rect">
            <a:avLst/>
          </a:prstGeom>
          <a:noFill/>
          <a:ln/>
        </p:spPr>
        <p:txBody>
          <a:bodyPr wrap="square" lIns="0" tIns="0" rIns="0" bIns="0" rtlCol="0" anchor="ctr"/>
          <a:lstStyle/>
          <a:p>
            <a:pPr marL="0" indent="0" algn="l">
              <a:buNone/>
            </a:pPr>
            <a:r>
              <a:rPr lang="en-US" sz="1500" b="1" dirty="0">
                <a:solidFill>
                  <a:srgbClr val="1F3864"/>
                </a:solidFill>
                <a:latin typeface="Calibri" pitchFamily="34" charset="0"/>
                <a:ea typeface="Calibri" pitchFamily="34" charset="-122"/>
                <a:cs typeface="Calibri" pitchFamily="34" charset="-120"/>
              </a:rPr>
              <a:t>Limitations</a:t>
            </a:r>
            <a:endParaRPr lang="en-US" sz="1500" dirty="0"/>
          </a:p>
        </p:txBody>
      </p:sp>
      <p:sp>
        <p:nvSpPr>
          <p:cNvPr id="25" name="Text 21"/>
          <p:cNvSpPr/>
          <p:nvPr/>
        </p:nvSpPr>
        <p:spPr>
          <a:xfrm>
            <a:off x="5532120" y="5093208"/>
            <a:ext cx="6156655" cy="713232"/>
          </a:xfrm>
          <a:prstGeom prst="rect">
            <a:avLst/>
          </a:prstGeom>
          <a:noFill/>
          <a:ln/>
        </p:spPr>
        <p:txBody>
          <a:bodyPr wrap="square" lIns="0" tIns="0" rIns="0" bIns="0" rtlCol="0" anchor="t"/>
          <a:lstStyle/>
          <a:p>
            <a:pPr marL="285750" indent="-285750">
              <a:buFont typeface="Arial"/>
              <a:buChar char="•"/>
            </a:pPr>
            <a:r>
              <a:rPr lang="en-US" sz="1300">
                <a:solidFill>
                  <a:srgbClr val="222222"/>
                </a:solidFill>
                <a:ea typeface="+mn-lt"/>
                <a:cs typeface="+mn-lt"/>
              </a:rPr>
              <a:t>Does not apply to Cardano's deterministic fees: there, congestion costs latency, not money.</a:t>
            </a: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C01796B-F921-FCE5-26DF-D9BB3E9F7085}"/>
            </a:ext>
          </a:extLst>
        </p:cNvPr>
        <p:cNvGrpSpPr/>
        <p:nvPr/>
      </p:nvGrpSpPr>
      <p:grpSpPr>
        <a:xfrm>
          <a:off x="0" y="0"/>
          <a:ext cx="0" cy="0"/>
          <a:chOff x="0" y="0"/>
          <a:chExt cx="0" cy="0"/>
        </a:xfrm>
      </p:grpSpPr>
      <p:sp>
        <p:nvSpPr>
          <p:cNvPr id="6" name="Text 2">
            <a:extLst>
              <a:ext uri="{FF2B5EF4-FFF2-40B4-BE49-F238E27FC236}">
                <a16:creationId xmlns:a16="http://schemas.microsoft.com/office/drawing/2014/main" id="{F6EB583D-C531-AF20-6B14-89C979117CA9}"/>
              </a:ext>
            </a:extLst>
          </p:cNvPr>
          <p:cNvSpPr/>
          <p:nvPr/>
        </p:nvSpPr>
        <p:spPr>
          <a:xfrm>
            <a:off x="11140135" y="6492240"/>
            <a:ext cx="548640" cy="274320"/>
          </a:xfrm>
          <a:prstGeom prst="rect">
            <a:avLst/>
          </a:prstGeom>
          <a:noFill/>
          <a:ln/>
        </p:spPr>
        <p:txBody>
          <a:bodyPr wrap="square" rtlCol="0" anchor="ctr"/>
          <a:lstStyle/>
          <a:p>
            <a:pPr marL="0" indent="0" algn="r">
              <a:buNone/>
            </a:pPr>
            <a:r>
              <a:rPr lang="en-US" sz="1000" dirty="0">
                <a:solidFill>
                  <a:srgbClr val="595959"/>
                </a:solidFill>
                <a:latin typeface="Calibri" pitchFamily="34" charset="0"/>
                <a:ea typeface="Calibri" pitchFamily="34" charset="-122"/>
                <a:cs typeface="Calibri" pitchFamily="34" charset="-120"/>
              </a:rPr>
              <a:t>11</a:t>
            </a:r>
            <a:endParaRPr lang="en-US" sz="1000" dirty="0"/>
          </a:p>
        </p:txBody>
      </p:sp>
      <p:sp>
        <p:nvSpPr>
          <p:cNvPr id="7" name="Text 3">
            <a:extLst>
              <a:ext uri="{FF2B5EF4-FFF2-40B4-BE49-F238E27FC236}">
                <a16:creationId xmlns:a16="http://schemas.microsoft.com/office/drawing/2014/main" id="{914CED58-C0AA-A10E-05CB-D711ABCA42AE}"/>
              </a:ext>
            </a:extLst>
          </p:cNvPr>
          <p:cNvSpPr/>
          <p:nvPr/>
        </p:nvSpPr>
        <p:spPr>
          <a:xfrm>
            <a:off x="502920" y="960120"/>
            <a:ext cx="11185855" cy="566928"/>
          </a:xfrm>
          <a:prstGeom prst="rect">
            <a:avLst/>
          </a:prstGeom>
          <a:noFill/>
          <a:ln/>
        </p:spPr>
        <p:txBody>
          <a:bodyPr wrap="square" lIns="0" tIns="0" rIns="0" bIns="0" rtlCol="0" anchor="ctr"/>
          <a:lstStyle/>
          <a:p>
            <a:pPr marL="0" indent="0" algn="l">
              <a:buNone/>
            </a:pPr>
            <a:r>
              <a:rPr lang="en-US" sz="2800" b="1">
                <a:solidFill>
                  <a:srgbClr val="1F3864"/>
                </a:solidFill>
                <a:latin typeface="Calibri"/>
                <a:ea typeface="Calibri"/>
                <a:cs typeface="Calibri"/>
              </a:rPr>
              <a:t>Research Paper 5</a:t>
            </a:r>
            <a:endParaRPr lang="en-US" sz="2800" dirty="0"/>
          </a:p>
        </p:txBody>
      </p:sp>
      <p:sp>
        <p:nvSpPr>
          <p:cNvPr id="8" name="Shape 4">
            <a:extLst>
              <a:ext uri="{FF2B5EF4-FFF2-40B4-BE49-F238E27FC236}">
                <a16:creationId xmlns:a16="http://schemas.microsoft.com/office/drawing/2014/main" id="{ADCBBFFB-2BAA-4B97-56DA-14486189A76C}"/>
              </a:ext>
            </a:extLst>
          </p:cNvPr>
          <p:cNvSpPr/>
          <p:nvPr/>
        </p:nvSpPr>
        <p:spPr>
          <a:xfrm>
            <a:off x="502920" y="1783080"/>
            <a:ext cx="4663440" cy="4160520"/>
          </a:xfrm>
          <a:prstGeom prst="rect">
            <a:avLst/>
          </a:prstGeom>
          <a:solidFill>
            <a:srgbClr val="F7F8FA"/>
          </a:solidFill>
          <a:ln w="12700">
            <a:solidFill>
              <a:srgbClr val="D9D9D9"/>
            </a:solidFill>
            <a:prstDash val="solid"/>
          </a:ln>
        </p:spPr>
      </p:sp>
      <p:sp>
        <p:nvSpPr>
          <p:cNvPr id="9" name="Text 5">
            <a:extLst>
              <a:ext uri="{FF2B5EF4-FFF2-40B4-BE49-F238E27FC236}">
                <a16:creationId xmlns:a16="http://schemas.microsoft.com/office/drawing/2014/main" id="{EC8BC0FD-32C7-FFD3-2535-6A24EC4BF9B5}"/>
              </a:ext>
            </a:extLst>
          </p:cNvPr>
          <p:cNvSpPr/>
          <p:nvPr/>
        </p:nvSpPr>
        <p:spPr>
          <a:xfrm>
            <a:off x="731520" y="2039112"/>
            <a:ext cx="4206240" cy="292608"/>
          </a:xfrm>
          <a:prstGeom prst="rect">
            <a:avLst/>
          </a:prstGeom>
          <a:noFill/>
          <a:ln/>
        </p:spPr>
        <p:txBody>
          <a:bodyPr wrap="square" lIns="0" tIns="0" rIns="0" bIns="0" rtlCol="0" anchor="ctr"/>
          <a:lstStyle/>
          <a:p>
            <a:pPr marL="0" indent="0" algn="l">
              <a:buNone/>
            </a:pPr>
            <a:r>
              <a:rPr lang="en-US" sz="1400" b="1" dirty="0">
                <a:solidFill>
                  <a:srgbClr val="1F3864"/>
                </a:solidFill>
                <a:latin typeface="Calibri" pitchFamily="34" charset="0"/>
                <a:ea typeface="Calibri" pitchFamily="34" charset="-122"/>
                <a:cs typeface="Calibri" pitchFamily="34" charset="-120"/>
              </a:rPr>
              <a:t>Paper Title:</a:t>
            </a:r>
            <a:endParaRPr lang="en-US" sz="1400" dirty="0"/>
          </a:p>
        </p:txBody>
      </p:sp>
      <p:sp>
        <p:nvSpPr>
          <p:cNvPr id="10" name="Text 6">
            <a:extLst>
              <a:ext uri="{FF2B5EF4-FFF2-40B4-BE49-F238E27FC236}">
                <a16:creationId xmlns:a16="http://schemas.microsoft.com/office/drawing/2014/main" id="{E38F1915-6F8F-3EEC-7200-A229C6A19837}"/>
              </a:ext>
            </a:extLst>
          </p:cNvPr>
          <p:cNvSpPr/>
          <p:nvPr/>
        </p:nvSpPr>
        <p:spPr>
          <a:xfrm>
            <a:off x="731520" y="2350008"/>
            <a:ext cx="4206240" cy="502920"/>
          </a:xfrm>
          <a:prstGeom prst="rect">
            <a:avLst/>
          </a:prstGeom>
          <a:noFill/>
          <a:ln/>
        </p:spPr>
        <p:txBody>
          <a:bodyPr wrap="square" lIns="0" tIns="0" rIns="0" bIns="0" rtlCol="0" anchor="ctr"/>
          <a:lstStyle/>
          <a:p>
            <a:r>
              <a:rPr lang="en-US" sz="1300" dirty="0" err="1">
                <a:solidFill>
                  <a:srgbClr val="222222"/>
                </a:solidFill>
                <a:ea typeface="+mn-lt"/>
                <a:cs typeface="+mn-lt"/>
              </a:rPr>
              <a:t>Resource Management with Deep Reinforcement Learning.</a:t>
            </a:r>
            <a:endParaRPr lang="en-US"/>
          </a:p>
        </p:txBody>
      </p:sp>
      <p:sp>
        <p:nvSpPr>
          <p:cNvPr id="11" name="Text 7">
            <a:extLst>
              <a:ext uri="{FF2B5EF4-FFF2-40B4-BE49-F238E27FC236}">
                <a16:creationId xmlns:a16="http://schemas.microsoft.com/office/drawing/2014/main" id="{72F0CC8A-4B0E-5AEF-5A87-0A1A80C461CB}"/>
              </a:ext>
            </a:extLst>
          </p:cNvPr>
          <p:cNvSpPr/>
          <p:nvPr/>
        </p:nvSpPr>
        <p:spPr>
          <a:xfrm>
            <a:off x="731520" y="2971800"/>
            <a:ext cx="4206240" cy="292608"/>
          </a:xfrm>
          <a:prstGeom prst="rect">
            <a:avLst/>
          </a:prstGeom>
          <a:noFill/>
          <a:ln/>
        </p:spPr>
        <p:txBody>
          <a:bodyPr wrap="square" lIns="0" tIns="0" rIns="0" bIns="0" rtlCol="0" anchor="ctr"/>
          <a:lstStyle/>
          <a:p>
            <a:pPr marL="0" indent="0" algn="l">
              <a:buNone/>
            </a:pPr>
            <a:r>
              <a:rPr lang="en-US" sz="1400" b="1" dirty="0">
                <a:solidFill>
                  <a:srgbClr val="1F3864"/>
                </a:solidFill>
                <a:latin typeface="Calibri" pitchFamily="34" charset="0"/>
                <a:ea typeface="Calibri" pitchFamily="34" charset="-122"/>
                <a:cs typeface="Calibri" pitchFamily="34" charset="-120"/>
              </a:rPr>
              <a:t>Author(s):</a:t>
            </a:r>
            <a:endParaRPr lang="en-US" sz="1400" dirty="0"/>
          </a:p>
        </p:txBody>
      </p:sp>
      <p:sp>
        <p:nvSpPr>
          <p:cNvPr id="12" name="Text 8">
            <a:extLst>
              <a:ext uri="{FF2B5EF4-FFF2-40B4-BE49-F238E27FC236}">
                <a16:creationId xmlns:a16="http://schemas.microsoft.com/office/drawing/2014/main" id="{97A26696-8580-937E-CD77-FEDAD3302FF3}"/>
              </a:ext>
            </a:extLst>
          </p:cNvPr>
          <p:cNvSpPr/>
          <p:nvPr/>
        </p:nvSpPr>
        <p:spPr>
          <a:xfrm>
            <a:off x="731520" y="3282696"/>
            <a:ext cx="4206240" cy="502920"/>
          </a:xfrm>
          <a:prstGeom prst="rect">
            <a:avLst/>
          </a:prstGeom>
          <a:noFill/>
          <a:ln/>
        </p:spPr>
        <p:txBody>
          <a:bodyPr wrap="square" lIns="0" tIns="0" rIns="0" bIns="0" rtlCol="0" anchor="ctr"/>
          <a:lstStyle/>
          <a:p>
            <a:r>
              <a:rPr lang="en-US" sz="1300">
                <a:solidFill>
                  <a:srgbClr val="222222"/>
                </a:solidFill>
                <a:ea typeface="+mn-lt"/>
                <a:cs typeface="+mn-lt"/>
              </a:rPr>
              <a:t>Mao et al.</a:t>
            </a:r>
            <a:endParaRPr lang="en-US"/>
          </a:p>
        </p:txBody>
      </p:sp>
      <p:sp>
        <p:nvSpPr>
          <p:cNvPr id="13" name="Text 9">
            <a:extLst>
              <a:ext uri="{FF2B5EF4-FFF2-40B4-BE49-F238E27FC236}">
                <a16:creationId xmlns:a16="http://schemas.microsoft.com/office/drawing/2014/main" id="{8391ACFC-3B91-809C-DDDE-CE8B06321CB6}"/>
              </a:ext>
            </a:extLst>
          </p:cNvPr>
          <p:cNvSpPr/>
          <p:nvPr/>
        </p:nvSpPr>
        <p:spPr>
          <a:xfrm>
            <a:off x="731520" y="3904488"/>
            <a:ext cx="4206240" cy="292608"/>
          </a:xfrm>
          <a:prstGeom prst="rect">
            <a:avLst/>
          </a:prstGeom>
          <a:noFill/>
          <a:ln/>
        </p:spPr>
        <p:txBody>
          <a:bodyPr wrap="square" lIns="0" tIns="0" rIns="0" bIns="0" rtlCol="0" anchor="ctr"/>
          <a:lstStyle/>
          <a:p>
            <a:pPr marL="0" indent="0" algn="l">
              <a:buNone/>
            </a:pPr>
            <a:r>
              <a:rPr lang="en-US" sz="1400" b="1" dirty="0">
                <a:solidFill>
                  <a:srgbClr val="1F3864"/>
                </a:solidFill>
                <a:latin typeface="Calibri" pitchFamily="34" charset="0"/>
                <a:ea typeface="Calibri" pitchFamily="34" charset="-122"/>
                <a:cs typeface="Calibri" pitchFamily="34" charset="-120"/>
              </a:rPr>
              <a:t>Year:</a:t>
            </a:r>
            <a:endParaRPr lang="en-US" sz="1400" dirty="0"/>
          </a:p>
        </p:txBody>
      </p:sp>
      <p:sp>
        <p:nvSpPr>
          <p:cNvPr id="14" name="Text 10">
            <a:extLst>
              <a:ext uri="{FF2B5EF4-FFF2-40B4-BE49-F238E27FC236}">
                <a16:creationId xmlns:a16="http://schemas.microsoft.com/office/drawing/2014/main" id="{12812001-E22D-47D6-1B4D-F215D0D16567}"/>
              </a:ext>
            </a:extLst>
          </p:cNvPr>
          <p:cNvSpPr/>
          <p:nvPr/>
        </p:nvSpPr>
        <p:spPr>
          <a:xfrm>
            <a:off x="731520" y="4215384"/>
            <a:ext cx="4206240" cy="502920"/>
          </a:xfrm>
          <a:prstGeom prst="rect">
            <a:avLst/>
          </a:prstGeom>
          <a:noFill/>
          <a:ln/>
        </p:spPr>
        <p:txBody>
          <a:bodyPr wrap="square" lIns="0" tIns="0" rIns="0" bIns="0" rtlCol="0" anchor="ctr"/>
          <a:lstStyle/>
          <a:p>
            <a:pPr marL="0" indent="0" algn="l">
              <a:buNone/>
            </a:pPr>
            <a:r>
              <a:rPr lang="en-US" sz="1300">
                <a:solidFill>
                  <a:srgbClr val="222222"/>
                </a:solidFill>
                <a:ea typeface="+mn-lt"/>
                <a:cs typeface="+mn-lt"/>
              </a:rPr>
              <a:t>2016</a:t>
            </a:r>
            <a:endParaRPr lang="en-US"/>
          </a:p>
        </p:txBody>
      </p:sp>
      <p:sp>
        <p:nvSpPr>
          <p:cNvPr id="15" name="Text 11">
            <a:extLst>
              <a:ext uri="{FF2B5EF4-FFF2-40B4-BE49-F238E27FC236}">
                <a16:creationId xmlns:a16="http://schemas.microsoft.com/office/drawing/2014/main" id="{606805A9-4657-2A51-DB3D-C1E6682EA0F0}"/>
              </a:ext>
            </a:extLst>
          </p:cNvPr>
          <p:cNvSpPr/>
          <p:nvPr/>
        </p:nvSpPr>
        <p:spPr>
          <a:xfrm>
            <a:off x="731520" y="4837176"/>
            <a:ext cx="4206240" cy="292608"/>
          </a:xfrm>
          <a:prstGeom prst="rect">
            <a:avLst/>
          </a:prstGeom>
          <a:noFill/>
          <a:ln/>
        </p:spPr>
        <p:txBody>
          <a:bodyPr wrap="square" lIns="0" tIns="0" rIns="0" bIns="0" rtlCol="0" anchor="ctr"/>
          <a:lstStyle/>
          <a:p>
            <a:pPr marL="0" indent="0" algn="l">
              <a:buNone/>
            </a:pPr>
            <a:r>
              <a:rPr lang="en-US" sz="1400" b="1" dirty="0">
                <a:solidFill>
                  <a:srgbClr val="1F3864"/>
                </a:solidFill>
                <a:latin typeface="Calibri" pitchFamily="34" charset="0"/>
                <a:ea typeface="Calibri" pitchFamily="34" charset="-122"/>
                <a:cs typeface="Calibri" pitchFamily="34" charset="-120"/>
              </a:rPr>
              <a:t>Journal / Conference:</a:t>
            </a:r>
            <a:endParaRPr lang="en-US" sz="1400" dirty="0"/>
          </a:p>
        </p:txBody>
      </p:sp>
      <p:sp>
        <p:nvSpPr>
          <p:cNvPr id="16" name="Text 12">
            <a:extLst>
              <a:ext uri="{FF2B5EF4-FFF2-40B4-BE49-F238E27FC236}">
                <a16:creationId xmlns:a16="http://schemas.microsoft.com/office/drawing/2014/main" id="{D2ECC11E-C98C-94DB-3D01-D6E9B29FA9BF}"/>
              </a:ext>
            </a:extLst>
          </p:cNvPr>
          <p:cNvSpPr/>
          <p:nvPr/>
        </p:nvSpPr>
        <p:spPr>
          <a:xfrm>
            <a:off x="731520" y="5148072"/>
            <a:ext cx="4206240" cy="502920"/>
          </a:xfrm>
          <a:prstGeom prst="rect">
            <a:avLst/>
          </a:prstGeom>
          <a:noFill/>
          <a:ln/>
        </p:spPr>
        <p:txBody>
          <a:bodyPr wrap="square" lIns="0" tIns="0" rIns="0" bIns="0" rtlCol="0" anchor="ctr"/>
          <a:lstStyle/>
          <a:p>
            <a:r>
              <a:rPr lang="en-US" sz="1300">
                <a:solidFill>
                  <a:srgbClr val="222222"/>
                </a:solidFill>
                <a:ea typeface="+mn-lt"/>
                <a:cs typeface="+mn-lt"/>
              </a:rPr>
              <a:t>Proc. ACM HotNets.</a:t>
            </a:r>
            <a:endParaRPr lang="en-US">
              <a:ea typeface="+mn-lt"/>
              <a:cs typeface="+mn-lt"/>
            </a:endParaRPr>
          </a:p>
        </p:txBody>
      </p:sp>
      <p:sp>
        <p:nvSpPr>
          <p:cNvPr id="17" name="Text 13">
            <a:extLst>
              <a:ext uri="{FF2B5EF4-FFF2-40B4-BE49-F238E27FC236}">
                <a16:creationId xmlns:a16="http://schemas.microsoft.com/office/drawing/2014/main" id="{F5C57100-2223-4F98-D1CF-B553ACD83ED3}"/>
              </a:ext>
            </a:extLst>
          </p:cNvPr>
          <p:cNvSpPr/>
          <p:nvPr/>
        </p:nvSpPr>
        <p:spPr>
          <a:xfrm>
            <a:off x="731520" y="5486400"/>
            <a:ext cx="4206240" cy="320040"/>
          </a:xfrm>
          <a:prstGeom prst="rect">
            <a:avLst/>
          </a:prstGeom>
          <a:noFill/>
          <a:ln/>
        </p:spPr>
        <p:txBody>
          <a:bodyPr wrap="square" lIns="0" tIns="0" rIns="0" bIns="0" rtlCol="0" anchor="ctr"/>
          <a:lstStyle/>
          <a:p>
            <a:pPr marL="0" indent="0" algn="l">
              <a:buNone/>
            </a:pPr>
            <a:r>
              <a:rPr lang="en-US" sz="1200" i="1">
                <a:solidFill>
                  <a:srgbClr val="595959"/>
                </a:solidFill>
                <a:latin typeface="Calibri"/>
                <a:ea typeface="Calibri"/>
                <a:cs typeface="Calibri"/>
              </a:rPr>
              <a:t>[5]</a:t>
            </a:r>
            <a:endParaRPr lang="en-US" sz="1200" dirty="0"/>
          </a:p>
        </p:txBody>
      </p:sp>
      <p:sp>
        <p:nvSpPr>
          <p:cNvPr id="18" name="Text 14">
            <a:extLst>
              <a:ext uri="{FF2B5EF4-FFF2-40B4-BE49-F238E27FC236}">
                <a16:creationId xmlns:a16="http://schemas.microsoft.com/office/drawing/2014/main" id="{D2D443B9-9D23-897E-FDCF-863C4EA2D45C}"/>
              </a:ext>
            </a:extLst>
          </p:cNvPr>
          <p:cNvSpPr/>
          <p:nvPr/>
        </p:nvSpPr>
        <p:spPr>
          <a:xfrm>
            <a:off x="5532120" y="1783080"/>
            <a:ext cx="6156655" cy="292608"/>
          </a:xfrm>
          <a:prstGeom prst="rect">
            <a:avLst/>
          </a:prstGeom>
          <a:noFill/>
          <a:ln/>
        </p:spPr>
        <p:txBody>
          <a:bodyPr wrap="square" lIns="0" tIns="0" rIns="0" bIns="0" rtlCol="0" anchor="ctr"/>
          <a:lstStyle/>
          <a:p>
            <a:pPr marL="0" indent="0" algn="l">
              <a:buNone/>
            </a:pPr>
            <a:r>
              <a:rPr lang="en-US" sz="1500" b="1" dirty="0">
                <a:solidFill>
                  <a:srgbClr val="1F3864"/>
                </a:solidFill>
                <a:latin typeface="Calibri" pitchFamily="34" charset="0"/>
                <a:ea typeface="Calibri" pitchFamily="34" charset="-122"/>
                <a:cs typeface="Calibri" pitchFamily="34" charset="-120"/>
              </a:rPr>
              <a:t>Methodology</a:t>
            </a:r>
            <a:endParaRPr lang="en-US" sz="1500" dirty="0"/>
          </a:p>
        </p:txBody>
      </p:sp>
      <p:sp>
        <p:nvSpPr>
          <p:cNvPr id="19" name="Text 15">
            <a:extLst>
              <a:ext uri="{FF2B5EF4-FFF2-40B4-BE49-F238E27FC236}">
                <a16:creationId xmlns:a16="http://schemas.microsoft.com/office/drawing/2014/main" id="{F180C1D6-6FAF-C7F9-9EA9-3678EF3685DF}"/>
              </a:ext>
            </a:extLst>
          </p:cNvPr>
          <p:cNvSpPr/>
          <p:nvPr/>
        </p:nvSpPr>
        <p:spPr>
          <a:xfrm>
            <a:off x="5532120" y="2075688"/>
            <a:ext cx="6156655" cy="713232"/>
          </a:xfrm>
          <a:prstGeom prst="rect">
            <a:avLst/>
          </a:prstGeom>
          <a:noFill/>
          <a:ln/>
        </p:spPr>
        <p:txBody>
          <a:bodyPr wrap="square" lIns="0" tIns="0" rIns="0" bIns="0" rtlCol="0" anchor="t"/>
          <a:lstStyle/>
          <a:p>
            <a:pPr marL="285750" indent="-285750">
              <a:buFont typeface="Arial"/>
              <a:buChar char="•"/>
            </a:pPr>
            <a:r>
              <a:rPr lang="en-US" sz="1300" dirty="0" err="1">
                <a:solidFill>
                  <a:srgbClr val="222222"/>
                </a:solidFill>
                <a:ea typeface="+mn-lt"/>
                <a:cs typeface="+mn-lt"/>
              </a:rPr>
              <a:t>DeepRM casts multi-resource task packing as an RL problem trained in a simulator.</a:t>
            </a:r>
            <a:endParaRPr lang="en-US" dirty="0">
              <a:solidFill>
                <a:srgbClr val="000000"/>
              </a:solidFill>
              <a:ea typeface="+mn-lt"/>
              <a:cs typeface="+mn-lt"/>
            </a:endParaRPr>
          </a:p>
        </p:txBody>
      </p:sp>
      <p:sp>
        <p:nvSpPr>
          <p:cNvPr id="20" name="Text 16">
            <a:extLst>
              <a:ext uri="{FF2B5EF4-FFF2-40B4-BE49-F238E27FC236}">
                <a16:creationId xmlns:a16="http://schemas.microsoft.com/office/drawing/2014/main" id="{73567127-FC32-C36C-4D41-7E96DA53F27F}"/>
              </a:ext>
            </a:extLst>
          </p:cNvPr>
          <p:cNvSpPr/>
          <p:nvPr/>
        </p:nvSpPr>
        <p:spPr>
          <a:xfrm>
            <a:off x="5532120" y="2788920"/>
            <a:ext cx="6156655" cy="292608"/>
          </a:xfrm>
          <a:prstGeom prst="rect">
            <a:avLst/>
          </a:prstGeom>
          <a:noFill/>
          <a:ln/>
        </p:spPr>
        <p:txBody>
          <a:bodyPr wrap="square" lIns="0" tIns="0" rIns="0" bIns="0" rtlCol="0" anchor="ctr"/>
          <a:lstStyle/>
          <a:p>
            <a:pPr marL="0" indent="0" algn="l">
              <a:buNone/>
            </a:pPr>
            <a:r>
              <a:rPr lang="en-US" sz="1500" b="1" dirty="0">
                <a:solidFill>
                  <a:srgbClr val="1F3864"/>
                </a:solidFill>
                <a:latin typeface="Calibri" pitchFamily="34" charset="0"/>
                <a:ea typeface="Calibri" pitchFamily="34" charset="-122"/>
                <a:cs typeface="Calibri" pitchFamily="34" charset="-120"/>
              </a:rPr>
              <a:t>Key Contributions</a:t>
            </a:r>
            <a:endParaRPr lang="en-US" sz="1500" dirty="0"/>
          </a:p>
        </p:txBody>
      </p:sp>
      <p:sp>
        <p:nvSpPr>
          <p:cNvPr id="21" name="Text 17">
            <a:extLst>
              <a:ext uri="{FF2B5EF4-FFF2-40B4-BE49-F238E27FC236}">
                <a16:creationId xmlns:a16="http://schemas.microsoft.com/office/drawing/2014/main" id="{259CFFE0-EE9F-7BEE-B33E-C4571F19B836}"/>
              </a:ext>
            </a:extLst>
          </p:cNvPr>
          <p:cNvSpPr/>
          <p:nvPr/>
        </p:nvSpPr>
        <p:spPr>
          <a:xfrm>
            <a:off x="5532120" y="3081528"/>
            <a:ext cx="6156655" cy="713232"/>
          </a:xfrm>
          <a:prstGeom prst="rect">
            <a:avLst/>
          </a:prstGeom>
          <a:noFill/>
          <a:ln/>
        </p:spPr>
        <p:txBody>
          <a:bodyPr wrap="square" lIns="0" tIns="0" rIns="0" bIns="0" rtlCol="0" anchor="t"/>
          <a:lstStyle/>
          <a:p>
            <a:pPr marL="285750" indent="-285750">
              <a:buFont typeface="Arial"/>
              <a:buChar char="•"/>
            </a:pPr>
            <a:r>
              <a:rPr lang="en-US" sz="1300">
                <a:solidFill>
                  <a:srgbClr val="222222"/>
                </a:solidFill>
                <a:ea typeface="+mn-lt"/>
                <a:cs typeface="+mn-lt"/>
              </a:rPr>
              <a:t>Learns scheduling policies that match or beat hand-tuned heuristics and adapt to load.</a:t>
            </a:r>
            <a:endParaRPr lang="en-US">
              <a:solidFill>
                <a:srgbClr val="000000"/>
              </a:solidFill>
              <a:ea typeface="+mn-lt"/>
              <a:cs typeface="+mn-lt"/>
            </a:endParaRPr>
          </a:p>
        </p:txBody>
      </p:sp>
      <p:sp>
        <p:nvSpPr>
          <p:cNvPr id="22" name="Text 18">
            <a:extLst>
              <a:ext uri="{FF2B5EF4-FFF2-40B4-BE49-F238E27FC236}">
                <a16:creationId xmlns:a16="http://schemas.microsoft.com/office/drawing/2014/main" id="{340EC67A-18B5-61AB-9A5C-65216E9A3299}"/>
              </a:ext>
            </a:extLst>
          </p:cNvPr>
          <p:cNvSpPr/>
          <p:nvPr/>
        </p:nvSpPr>
        <p:spPr>
          <a:xfrm>
            <a:off x="5532120" y="3794760"/>
            <a:ext cx="6156655" cy="292608"/>
          </a:xfrm>
          <a:prstGeom prst="rect">
            <a:avLst/>
          </a:prstGeom>
          <a:noFill/>
          <a:ln/>
        </p:spPr>
        <p:txBody>
          <a:bodyPr wrap="square" lIns="0" tIns="0" rIns="0" bIns="0" rtlCol="0" anchor="ctr"/>
          <a:lstStyle/>
          <a:p>
            <a:pPr marL="0" indent="0" algn="l">
              <a:buNone/>
            </a:pPr>
            <a:r>
              <a:rPr lang="en-US" sz="1500" b="1" dirty="0">
                <a:solidFill>
                  <a:srgbClr val="1F3864"/>
                </a:solidFill>
                <a:latin typeface="Calibri" pitchFamily="34" charset="0"/>
                <a:ea typeface="Calibri" pitchFamily="34" charset="-122"/>
                <a:cs typeface="Calibri" pitchFamily="34" charset="-120"/>
              </a:rPr>
              <a:t>Advantages</a:t>
            </a:r>
            <a:endParaRPr lang="en-US" sz="1500" dirty="0"/>
          </a:p>
        </p:txBody>
      </p:sp>
      <p:sp>
        <p:nvSpPr>
          <p:cNvPr id="23" name="Text 19">
            <a:extLst>
              <a:ext uri="{FF2B5EF4-FFF2-40B4-BE49-F238E27FC236}">
                <a16:creationId xmlns:a16="http://schemas.microsoft.com/office/drawing/2014/main" id="{2949B762-B9FF-B524-948C-3BCB7ECE0597}"/>
              </a:ext>
            </a:extLst>
          </p:cNvPr>
          <p:cNvSpPr/>
          <p:nvPr/>
        </p:nvSpPr>
        <p:spPr>
          <a:xfrm>
            <a:off x="5532120" y="4087368"/>
            <a:ext cx="6156655" cy="713232"/>
          </a:xfrm>
          <a:prstGeom prst="rect">
            <a:avLst/>
          </a:prstGeom>
          <a:noFill/>
          <a:ln/>
        </p:spPr>
        <p:txBody>
          <a:bodyPr wrap="square" lIns="0" tIns="0" rIns="0" bIns="0" rtlCol="0" anchor="t"/>
          <a:lstStyle/>
          <a:p>
            <a:pPr marL="285750" indent="-285750">
              <a:buFont typeface="Arial"/>
              <a:buChar char="•"/>
            </a:pPr>
            <a:r>
              <a:rPr lang="en-US" sz="1300">
                <a:solidFill>
                  <a:srgbClr val="222222"/>
                </a:solidFill>
                <a:ea typeface="+mn-lt"/>
                <a:cs typeface="+mn-lt"/>
              </a:rPr>
              <a:t>Adapts to changing conditions and needs no hand-crafted heuristics.</a:t>
            </a:r>
            <a:endParaRPr lang="en-US">
              <a:ea typeface="+mn-lt"/>
              <a:cs typeface="+mn-lt"/>
            </a:endParaRPr>
          </a:p>
        </p:txBody>
      </p:sp>
      <p:sp>
        <p:nvSpPr>
          <p:cNvPr id="24" name="Text 20">
            <a:extLst>
              <a:ext uri="{FF2B5EF4-FFF2-40B4-BE49-F238E27FC236}">
                <a16:creationId xmlns:a16="http://schemas.microsoft.com/office/drawing/2014/main" id="{0F23F1B6-EAFC-A804-EC0F-C0EA242C7D03}"/>
              </a:ext>
            </a:extLst>
          </p:cNvPr>
          <p:cNvSpPr/>
          <p:nvPr/>
        </p:nvSpPr>
        <p:spPr>
          <a:xfrm>
            <a:off x="5532120" y="4800600"/>
            <a:ext cx="6156655" cy="292608"/>
          </a:xfrm>
          <a:prstGeom prst="rect">
            <a:avLst/>
          </a:prstGeom>
          <a:noFill/>
          <a:ln/>
        </p:spPr>
        <p:txBody>
          <a:bodyPr wrap="square" lIns="0" tIns="0" rIns="0" bIns="0" rtlCol="0" anchor="ctr"/>
          <a:lstStyle/>
          <a:p>
            <a:pPr marL="0" indent="0" algn="l">
              <a:buNone/>
            </a:pPr>
            <a:r>
              <a:rPr lang="en-US" sz="1500" b="1" dirty="0">
                <a:solidFill>
                  <a:srgbClr val="1F3864"/>
                </a:solidFill>
                <a:latin typeface="Calibri" pitchFamily="34" charset="0"/>
                <a:ea typeface="Calibri" pitchFamily="34" charset="-122"/>
                <a:cs typeface="Calibri" pitchFamily="34" charset="-120"/>
              </a:rPr>
              <a:t>Limitations</a:t>
            </a:r>
            <a:endParaRPr lang="en-US" sz="1500" dirty="0"/>
          </a:p>
        </p:txBody>
      </p:sp>
      <p:sp>
        <p:nvSpPr>
          <p:cNvPr id="25" name="Text 21">
            <a:extLst>
              <a:ext uri="{FF2B5EF4-FFF2-40B4-BE49-F238E27FC236}">
                <a16:creationId xmlns:a16="http://schemas.microsoft.com/office/drawing/2014/main" id="{3E51FE45-E872-7349-55FE-5D65F6C2D71A}"/>
              </a:ext>
            </a:extLst>
          </p:cNvPr>
          <p:cNvSpPr/>
          <p:nvPr/>
        </p:nvSpPr>
        <p:spPr>
          <a:xfrm>
            <a:off x="5532120" y="5093208"/>
            <a:ext cx="6156655" cy="713232"/>
          </a:xfrm>
          <a:prstGeom prst="rect">
            <a:avLst/>
          </a:prstGeom>
          <a:noFill/>
          <a:ln/>
        </p:spPr>
        <p:txBody>
          <a:bodyPr wrap="square" lIns="0" tIns="0" rIns="0" bIns="0" rtlCol="0" anchor="t"/>
          <a:lstStyle/>
          <a:p>
            <a:pPr marL="285750" indent="-285750">
              <a:buFont typeface="Arial"/>
              <a:buChar char="•"/>
            </a:pPr>
            <a:r>
              <a:rPr lang="en-US" sz="1300">
                <a:solidFill>
                  <a:srgbClr val="222222"/>
                </a:solidFill>
                <a:ea typeface="+mn-lt"/>
                <a:cs typeface="+mn-lt"/>
              </a:rPr>
              <a:t>Built for datacenter jobs: unaware of block limits and eUTXO batching.</a:t>
            </a:r>
            <a:endParaRPr lang="en-US">
              <a:ea typeface="+mn-lt"/>
              <a:cs typeface="+mn-lt"/>
            </a:endParaRPr>
          </a:p>
        </p:txBody>
      </p:sp>
    </p:spTree>
    <p:extLst>
      <p:ext uri="{BB962C8B-B14F-4D97-AF65-F5344CB8AC3E}">
        <p14:creationId xmlns:p14="http://schemas.microsoft.com/office/powerpoint/2010/main" val="32097497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5" name="Text 1"/>
          <p:cNvSpPr/>
          <p:nvPr/>
        </p:nvSpPr>
        <p:spPr>
          <a:xfrm>
            <a:off x="502920" y="6492240"/>
            <a:ext cx="7315200" cy="274320"/>
          </a:xfrm>
          <a:prstGeom prst="rect">
            <a:avLst/>
          </a:prstGeom>
          <a:noFill/>
          <a:ln/>
        </p:spPr>
        <p:txBody>
          <a:bodyPr wrap="square" rtlCol="0" anchor="ctr"/>
          <a:lstStyle/>
          <a:p>
            <a:pPr marL="0" indent="0" algn="l">
              <a:buNone/>
            </a:pPr>
            <a:r>
              <a:rPr lang="en-US" sz="1000" dirty="0">
                <a:solidFill>
                  <a:srgbClr val="595959"/>
                </a:solidFill>
                <a:latin typeface="Calibri" pitchFamily="34" charset="0"/>
                <a:ea typeface="Calibri" pitchFamily="34" charset="-122"/>
                <a:cs typeface="Calibri" pitchFamily="34" charset="-120"/>
              </a:rPr>
              <a:t>B.Tech Final Year Project — Design Review</a:t>
            </a:r>
            <a:endParaRPr lang="en-US" sz="1000" dirty="0"/>
          </a:p>
        </p:txBody>
      </p:sp>
      <p:sp>
        <p:nvSpPr>
          <p:cNvPr id="6" name="Text 2"/>
          <p:cNvSpPr/>
          <p:nvPr/>
        </p:nvSpPr>
        <p:spPr>
          <a:xfrm>
            <a:off x="11140135" y="6492240"/>
            <a:ext cx="548640" cy="274320"/>
          </a:xfrm>
          <a:prstGeom prst="rect">
            <a:avLst/>
          </a:prstGeom>
          <a:noFill/>
          <a:ln/>
        </p:spPr>
        <p:txBody>
          <a:bodyPr wrap="square" rtlCol="0" anchor="ctr"/>
          <a:lstStyle/>
          <a:p>
            <a:pPr marL="0" indent="0" algn="r">
              <a:buNone/>
            </a:pPr>
            <a:r>
              <a:rPr lang="en-US" sz="1000" dirty="0">
                <a:solidFill>
                  <a:srgbClr val="595959"/>
                </a:solidFill>
                <a:latin typeface="Calibri" pitchFamily="34" charset="0"/>
                <a:ea typeface="Calibri" pitchFamily="34" charset="-122"/>
                <a:cs typeface="Calibri" pitchFamily="34" charset="-120"/>
              </a:rPr>
              <a:t>12</a:t>
            </a:r>
            <a:endParaRPr lang="en-US" sz="1000" dirty="0"/>
          </a:p>
        </p:txBody>
      </p:sp>
      <p:sp>
        <p:nvSpPr>
          <p:cNvPr id="7" name="Text 3"/>
          <p:cNvSpPr/>
          <p:nvPr/>
        </p:nvSpPr>
        <p:spPr>
          <a:xfrm>
            <a:off x="502920" y="960120"/>
            <a:ext cx="11185855" cy="566928"/>
          </a:xfrm>
          <a:prstGeom prst="rect">
            <a:avLst/>
          </a:prstGeom>
          <a:noFill/>
          <a:ln/>
        </p:spPr>
        <p:txBody>
          <a:bodyPr wrap="square" lIns="0" tIns="0" rIns="0" bIns="0" rtlCol="0" anchor="ctr"/>
          <a:lstStyle/>
          <a:p>
            <a:pPr marL="0" indent="0" algn="l">
              <a:buNone/>
            </a:pPr>
            <a:r>
              <a:rPr lang="en-US" sz="2800" b="1" dirty="0">
                <a:solidFill>
                  <a:srgbClr val="1F3864"/>
                </a:solidFill>
                <a:latin typeface="Calibri" pitchFamily="34" charset="0"/>
                <a:ea typeface="Calibri" pitchFamily="34" charset="-122"/>
                <a:cs typeface="Calibri" pitchFamily="34" charset="-120"/>
              </a:rPr>
              <a:t>Literature Comparison</a:t>
            </a:r>
            <a:endParaRPr lang="en-US" sz="2800" dirty="0"/>
          </a:p>
        </p:txBody>
      </p:sp>
      <p:graphicFrame>
        <p:nvGraphicFramePr>
          <p:cNvPr id="9" name="Table 0"/>
          <p:cNvGraphicFramePr>
            <a:graphicFrameLocks noGrp="1"/>
          </p:cNvGraphicFramePr>
          <p:nvPr/>
        </p:nvGraphicFramePr>
        <p:xfrm>
          <a:off x="500742" y="1828800"/>
          <a:ext cx="10947514" cy="4396566"/>
        </p:xfrm>
        <a:graphic>
          <a:graphicData uri="http://schemas.openxmlformats.org/drawingml/2006/table">
            <a:tbl>
              <a:tblPr/>
              <a:tblGrid>
                <a:gridCol w="1523133">
                  <a:extLst>
                    <a:ext uri="{9D8B030D-6E8A-4147-A177-3AD203B41FA5}">
                      <a16:colId xmlns:a16="http://schemas.microsoft.com/office/drawing/2014/main" val="20000"/>
                    </a:ext>
                  </a:extLst>
                </a:gridCol>
                <a:gridCol w="2094306">
                  <a:extLst>
                    <a:ext uri="{9D8B030D-6E8A-4147-A177-3AD203B41FA5}">
                      <a16:colId xmlns:a16="http://schemas.microsoft.com/office/drawing/2014/main" val="20001"/>
                    </a:ext>
                  </a:extLst>
                </a:gridCol>
                <a:gridCol w="1954503">
                  <a:extLst>
                    <a:ext uri="{9D8B030D-6E8A-4147-A177-3AD203B41FA5}">
                      <a16:colId xmlns:a16="http://schemas.microsoft.com/office/drawing/2014/main" val="20002"/>
                    </a:ext>
                  </a:extLst>
                </a:gridCol>
                <a:gridCol w="2816785">
                  <a:extLst>
                    <a:ext uri="{9D8B030D-6E8A-4147-A177-3AD203B41FA5}">
                      <a16:colId xmlns:a16="http://schemas.microsoft.com/office/drawing/2014/main" val="20003"/>
                    </a:ext>
                  </a:extLst>
                </a:gridCol>
                <a:gridCol w="2558787">
                  <a:extLst>
                    <a:ext uri="{9D8B030D-6E8A-4147-A177-3AD203B41FA5}">
                      <a16:colId xmlns:a16="http://schemas.microsoft.com/office/drawing/2014/main" val="20004"/>
                    </a:ext>
                  </a:extLst>
                </a:gridCol>
              </a:tblGrid>
              <a:tr h="732761">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Paper</a:t>
                      </a:r>
                      <a:endParaRPr lang="en-US" sz="1400" dirty="0">
                        <a:latin typeface="Calibri" charset="0"/>
                        <a:ea typeface="Calibri" charset="0"/>
                        <a:cs typeface="Calibri" charset="0"/>
                      </a:endParaRPr>
                    </a:p>
                  </a:txBody>
                  <a:tcPr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1F3864"/>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Method</a:t>
                      </a:r>
                      <a:endParaRPr lang="en-US" sz="1400" dirty="0">
                        <a:latin typeface="Calibri" charset="0"/>
                        <a:ea typeface="Calibri" charset="0"/>
                        <a:cs typeface="Calibri" charset="0"/>
                      </a:endParaRPr>
                    </a:p>
                  </a:txBody>
                  <a:tcPr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1F3864"/>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Dataset</a:t>
                      </a:r>
                      <a:endParaRPr lang="en-US" sz="1400" dirty="0">
                        <a:latin typeface="Calibri" charset="0"/>
                        <a:ea typeface="Calibri" charset="0"/>
                        <a:cs typeface="Calibri" charset="0"/>
                      </a:endParaRPr>
                    </a:p>
                  </a:txBody>
                  <a:tcPr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1F3864"/>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Advantages</a:t>
                      </a:r>
                      <a:endParaRPr lang="en-US" sz="1400" dirty="0">
                        <a:latin typeface="Calibri" charset="0"/>
                        <a:ea typeface="Calibri" charset="0"/>
                        <a:cs typeface="Calibri" charset="0"/>
                      </a:endParaRPr>
                    </a:p>
                  </a:txBody>
                  <a:tcPr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1F3864"/>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Limitations</a:t>
                      </a:r>
                      <a:endParaRPr lang="en-US" sz="1400" dirty="0">
                        <a:latin typeface="Calibri" charset="0"/>
                        <a:ea typeface="Calibri" charset="0"/>
                        <a:cs typeface="Calibri" charset="0"/>
                      </a:endParaRPr>
                    </a:p>
                  </a:txBody>
                  <a:tcPr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1F3864"/>
                    </a:solidFill>
                  </a:tcPr>
                </a:tc>
                <a:extLst>
                  <a:ext uri="{0D108BD9-81ED-4DB2-BD59-A6C34878D82A}">
                    <a16:rowId xmlns:a16="http://schemas.microsoft.com/office/drawing/2014/main" val="10000"/>
                  </a:ext>
                </a:extLst>
              </a:tr>
              <a:tr h="732761">
                <a:tc>
                  <a:txBody>
                    <a:bodyPr/>
                    <a:lstStyle/>
                    <a:p>
                      <a:pPr marL="0" indent="0" algn="l">
                        <a:buNone/>
                      </a:pPr>
                      <a:r>
                        <a:rPr lang="en-US" sz="1250" b="1" dirty="0">
                          <a:solidFill>
                            <a:srgbClr val="222222"/>
                          </a:solidFill>
                          <a:latin typeface="Calibri" pitchFamily="34" charset="0"/>
                          <a:ea typeface="Calibri" pitchFamily="34" charset="-122"/>
                          <a:cs typeface="Calibri" pitchFamily="34" charset="-120"/>
                        </a:rPr>
                        <a:t>eUTXO Model</a:t>
                      </a:r>
                      <a:endParaRPr lang="en-US" sz="1250" dirty="0">
                        <a:latin typeface="Calibri" charset="0"/>
                        <a:ea typeface="Calibri" charset="0"/>
                        <a:cs typeface="Calibri" charset="0"/>
                      </a:endParaRPr>
                    </a:p>
                  </a:txBody>
                  <a:tcPr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lvl="0" indent="0" algn="l">
                        <a:buNone/>
                      </a:pPr>
                      <a:r>
                        <a:rPr lang="en-US" sz="1250" b="0" i="0" u="none" strike="noStrike" noProof="0" dirty="0" err="1">
                          <a:solidFill>
                            <a:srgbClr val="222222"/>
                          </a:solidFill>
                        </a:rPr>
                        <a:t>Formal eUTXO spec (Agda)</a:t>
                      </a:r>
                      <a:endParaRPr lang="en-US" dirty="0"/>
                    </a:p>
                  </a:txBody>
                  <a:tcPr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indent="0" algn="just">
                        <a:buNone/>
                      </a:pPr>
                      <a:r>
                        <a:rPr lang="en-US" sz="1250">
                          <a:solidFill>
                            <a:srgbClr val="222222"/>
                          </a:solidFill>
                          <a:latin typeface="Calibri"/>
                          <a:ea typeface="Calibri"/>
                          <a:cs typeface="Calibri"/>
                        </a:rPr>
                        <a:t>Formal model (no dataset)</a:t>
                      </a:r>
                      <a:endParaRPr lang="en-US" sz="1250" dirty="0">
                        <a:solidFill>
                          <a:srgbClr val="222222"/>
                        </a:solidFill>
                        <a:latin typeface="Calibri"/>
                        <a:ea typeface="Calibri"/>
                        <a:cs typeface="Calibri"/>
                      </a:endParaRPr>
                    </a:p>
                  </a:txBody>
                  <a:tcPr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lvl="0" indent="0" algn="l">
                        <a:buNone/>
                      </a:pPr>
                      <a:r>
                        <a:rPr lang="en-US" sz="1250" b="0" i="0" u="none" strike="noStrike" noProof="0">
                          <a:solidFill>
                            <a:srgbClr val="222222"/>
                          </a:solidFill>
                        </a:rPr>
                        <a:t>Deterministic, verified validation</a:t>
                      </a:r>
                      <a:endParaRPr lang="en-US"/>
                    </a:p>
                  </a:txBody>
                  <a:tcPr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lvl="0" indent="0" algn="l">
                        <a:buNone/>
                      </a:pPr>
                      <a:r>
                        <a:rPr lang="en-US" sz="1250" b="0" i="0" u="none" strike="noStrike" noProof="0">
                          <a:solidFill>
                            <a:srgbClr val="222222"/>
                          </a:solidFill>
                        </a:rPr>
                        <a:t>Single-UTXO concurrency bottleneck</a:t>
                      </a:r>
                      <a:endParaRPr lang="en-US"/>
                    </a:p>
                  </a:txBody>
                  <a:tcPr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32761">
                <a:tc>
                  <a:txBody>
                    <a:bodyPr/>
                    <a:lstStyle/>
                    <a:p>
                      <a:pPr marL="0" indent="0" algn="l">
                        <a:buNone/>
                      </a:pPr>
                      <a:r>
                        <a:rPr lang="en-US" sz="1250" b="1" dirty="0">
                          <a:solidFill>
                            <a:srgbClr val="222222"/>
                          </a:solidFill>
                          <a:latin typeface="Calibri" pitchFamily="34" charset="0"/>
                          <a:ea typeface="Calibri" pitchFamily="34" charset="-122"/>
                          <a:cs typeface="Calibri" pitchFamily="34" charset="-120"/>
                        </a:rPr>
                        <a:t>MELD Batching</a:t>
                      </a:r>
                      <a:endParaRPr lang="en-US" sz="1250" dirty="0">
                        <a:latin typeface="Calibri" charset="0"/>
                        <a:ea typeface="Calibri" charset="0"/>
                        <a:cs typeface="Calibri" charset="0"/>
                      </a:endParaRPr>
                    </a:p>
                  </a:txBody>
                  <a:tcPr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lvl="0" indent="0" algn="l">
                        <a:buNone/>
                      </a:pPr>
                      <a:r>
                        <a:rPr lang="en-US" sz="1250" b="0" i="0" u="none" strike="noStrike" noProof="0" dirty="0" err="1">
                          <a:solidFill>
                            <a:srgbClr val="222222"/>
                          </a:solidFill>
                        </a:rPr>
                        <a:t>Deterministic order batching</a:t>
                      </a:r>
                      <a:endParaRPr lang="en-US" dirty="0"/>
                    </a:p>
                  </a:txBody>
                  <a:tcPr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indent="0" algn="just">
                        <a:buNone/>
                      </a:pPr>
                      <a:r>
                        <a:rPr lang="en-US" sz="1250">
                          <a:solidFill>
                            <a:srgbClr val="222222"/>
                          </a:solidFill>
                          <a:latin typeface="Calibri"/>
                          <a:ea typeface="Calibri"/>
                          <a:cs typeface="Calibri"/>
                        </a:rPr>
                        <a:t>eUTXO swap orders</a:t>
                      </a:r>
                      <a:endParaRPr lang="en-US" sz="1250" dirty="0">
                        <a:solidFill>
                          <a:srgbClr val="222222"/>
                        </a:solidFill>
                        <a:latin typeface="Calibri"/>
                        <a:ea typeface="Calibri"/>
                        <a:cs typeface="Calibri"/>
                      </a:endParaRPr>
                    </a:p>
                  </a:txBody>
                  <a:tcPr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lvl="0" indent="0" algn="l">
                        <a:buNone/>
                      </a:pPr>
                      <a:r>
                        <a:rPr lang="en-US" sz="1250" b="0" i="0" u="none" strike="noStrike" noProof="0">
                          <a:solidFill>
                            <a:srgbClr val="222222"/>
                          </a:solidFill>
                        </a:rPr>
                        <a:t>Resolves contention, amortizes cost</a:t>
                      </a:r>
                      <a:endParaRPr lang="en-US"/>
                    </a:p>
                  </a:txBody>
                  <a:tcPr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lvl="0" algn="l">
                        <a:lnSpc>
                          <a:spcPct val="100000"/>
                        </a:lnSpc>
                        <a:spcBef>
                          <a:spcPts val="0"/>
                        </a:spcBef>
                        <a:spcAft>
                          <a:spcPts val="0"/>
                        </a:spcAft>
                        <a:buNone/>
                      </a:pPr>
                      <a:r>
                        <a:rPr lang="en-US" sz="1200"/>
                        <a:t>Static, not congestion-aware</a:t>
                      </a:r>
                    </a:p>
                  </a:txBody>
                  <a:tcPr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32761">
                <a:tc>
                  <a:txBody>
                    <a:bodyPr/>
                    <a:lstStyle/>
                    <a:p>
                      <a:pPr marL="0" indent="0" algn="l">
                        <a:buNone/>
                      </a:pPr>
                      <a:r>
                        <a:rPr lang="en-US" sz="1250" b="1" dirty="0">
                          <a:solidFill>
                            <a:srgbClr val="222222"/>
                          </a:solidFill>
                          <a:latin typeface="Calibri" pitchFamily="34" charset="0"/>
                          <a:ea typeface="Calibri" pitchFamily="34" charset="-122"/>
                          <a:cs typeface="Calibri" pitchFamily="34" charset="-120"/>
                        </a:rPr>
                        <a:t>Concurrent DEX</a:t>
                      </a:r>
                      <a:endParaRPr lang="en-US" sz="1250" dirty="0">
                        <a:latin typeface="Calibri" charset="0"/>
                        <a:ea typeface="Calibri" charset="0"/>
                        <a:cs typeface="Calibri" charset="0"/>
                      </a:endParaRPr>
                    </a:p>
                  </a:txBody>
                  <a:tcPr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lvl="0" indent="0" algn="l">
                        <a:buNone/>
                      </a:pPr>
                      <a:r>
                        <a:rPr lang="en-US" sz="1250" b="0" i="0" u="none" strike="noStrike" noProof="0" dirty="0" err="1">
                          <a:solidFill>
                            <a:srgbClr val="222222"/>
                          </a:solidFill>
                        </a:rPr>
                        <a:t>Concurrent DEX prototype</a:t>
                      </a:r>
                      <a:endParaRPr lang="en-US" dirty="0"/>
                    </a:p>
                  </a:txBody>
                  <a:tcPr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indent="0" algn="just">
                        <a:buNone/>
                      </a:pPr>
                      <a:r>
                        <a:rPr lang="en-US" sz="1250">
                          <a:solidFill>
                            <a:srgbClr val="222222"/>
                          </a:solidFill>
                          <a:latin typeface="Calibri"/>
                          <a:ea typeface="Calibri"/>
                          <a:cs typeface="Calibri"/>
                        </a:rPr>
                        <a:t>Cardano testnet DEX</a:t>
                      </a:r>
                      <a:endParaRPr lang="en-US" sz="1250" dirty="0">
                        <a:solidFill>
                          <a:srgbClr val="222222"/>
                        </a:solidFill>
                        <a:latin typeface="Calibri"/>
                        <a:ea typeface="Calibri"/>
                        <a:cs typeface="Calibri"/>
                      </a:endParaRPr>
                    </a:p>
                  </a:txBody>
                  <a:tcPr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lvl="0" indent="0" algn="l">
                        <a:buNone/>
                      </a:pPr>
                      <a:r>
                        <a:rPr lang="en-US" sz="1250" b="0" i="0" u="none" strike="noStrike" noProof="0">
                          <a:solidFill>
                            <a:srgbClr val="222222"/>
                          </a:solidFill>
                        </a:rPr>
                        <a:t>Scalable concurrent swaps</a:t>
                      </a:r>
                      <a:endParaRPr lang="en-US"/>
                    </a:p>
                  </a:txBody>
                  <a:tcPr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lvl="0" indent="0" algn="l">
                        <a:buNone/>
                      </a:pPr>
                      <a:r>
                        <a:rPr lang="en-US" sz="1250" b="0" i="0" u="none" strike="noStrike" noProof="0">
                          <a:solidFill>
                            <a:srgbClr val="222222"/>
                          </a:solidFill>
                        </a:rPr>
                        <a:t>No congestion-aware batching</a:t>
                      </a:r>
                      <a:endParaRPr lang="en-US"/>
                    </a:p>
                  </a:txBody>
                  <a:tcPr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32761">
                <a:tc>
                  <a:txBody>
                    <a:bodyPr/>
                    <a:lstStyle/>
                    <a:p>
                      <a:pPr marL="0" indent="0" algn="l">
                        <a:buNone/>
                      </a:pPr>
                      <a:r>
                        <a:rPr lang="en-US" sz="1250" b="1" dirty="0">
                          <a:solidFill>
                            <a:srgbClr val="222222"/>
                          </a:solidFill>
                          <a:latin typeface="Calibri" pitchFamily="34" charset="0"/>
                          <a:ea typeface="Calibri" pitchFamily="34" charset="-122"/>
                          <a:cs typeface="Calibri" pitchFamily="34" charset="-120"/>
                        </a:rPr>
                        <a:t>EIP-1559</a:t>
                      </a:r>
                      <a:endParaRPr lang="en-US" sz="1250" dirty="0">
                        <a:latin typeface="Calibri" charset="0"/>
                        <a:ea typeface="Calibri" charset="0"/>
                        <a:cs typeface="Calibri" charset="0"/>
                      </a:endParaRPr>
                    </a:p>
                  </a:txBody>
                  <a:tcPr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lvl="0" indent="0" algn="l">
                        <a:buNone/>
                      </a:pPr>
                      <a:r>
                        <a:rPr lang="en-US" sz="1250" b="0" i="0" u="none" strike="noStrike" noProof="0">
                          <a:solidFill>
                            <a:srgbClr val="222222"/>
                          </a:solidFill>
                        </a:rPr>
                        <a:t>Fee-mechanism analysis</a:t>
                      </a:r>
                      <a:endParaRPr lang="en-US"/>
                    </a:p>
                  </a:txBody>
                  <a:tcPr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indent="0" algn="just">
                        <a:buNone/>
                      </a:pPr>
                      <a:r>
                        <a:rPr lang="en-US" sz="1250">
                          <a:solidFill>
                            <a:srgbClr val="222222"/>
                          </a:solidFill>
                          <a:latin typeface="Calibri"/>
                          <a:ea typeface="Calibri"/>
                          <a:cs typeface="Calibri"/>
                        </a:rPr>
                        <a:t>Ethereum fee model</a:t>
                      </a:r>
                      <a:endParaRPr lang="en-US" sz="1250" dirty="0">
                        <a:solidFill>
                          <a:srgbClr val="222222"/>
                        </a:solidFill>
                        <a:latin typeface="Calibri"/>
                        <a:ea typeface="Calibri"/>
                        <a:cs typeface="Calibri"/>
                      </a:endParaRPr>
                    </a:p>
                  </a:txBody>
                  <a:tcPr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indent="0" algn="l">
                        <a:buNone/>
                      </a:pPr>
                      <a:r>
                        <a:rPr lang="en-US" sz="1250" b="0" i="0" u="none" strike="noStrike" noProof="0">
                          <a:solidFill>
                            <a:srgbClr val="222222"/>
                          </a:solidFill>
                        </a:rPr>
                        <a:t>Models congestion pricing</a:t>
                      </a:r>
                      <a:endParaRPr lang="en-US" sz="1250" dirty="0">
                        <a:latin typeface="Calibri" charset="0"/>
                        <a:ea typeface="Calibri" charset="0"/>
                        <a:cs typeface="Calibri" charset="0"/>
                      </a:endParaRPr>
                    </a:p>
                  </a:txBody>
                  <a:tcPr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lvl="0" algn="l">
                        <a:lnSpc>
                          <a:spcPct val="100000"/>
                        </a:lnSpc>
                        <a:spcBef>
                          <a:spcPts val="0"/>
                        </a:spcBef>
                        <a:spcAft>
                          <a:spcPts val="0"/>
                        </a:spcAft>
                        <a:buNone/>
                      </a:pPr>
                      <a:r>
                        <a:rPr lang="en-US" sz="1200"/>
                        <a:t>Inapplicable to Cardano's fixed fees</a:t>
                      </a:r>
                    </a:p>
                  </a:txBody>
                  <a:tcPr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732761">
                <a:tc>
                  <a:txBody>
                    <a:bodyPr/>
                    <a:lstStyle/>
                    <a:p>
                      <a:pPr marL="0" lvl="0" indent="0" algn="l">
                        <a:buNone/>
                      </a:pPr>
                      <a:r>
                        <a:rPr lang="en-US" sz="1300" b="1" i="0" u="none" strike="noStrike" noProof="0">
                          <a:solidFill>
                            <a:srgbClr val="222222"/>
                          </a:solidFill>
                          <a:latin typeface="Calibri"/>
                          <a:ea typeface="Calibri"/>
                          <a:cs typeface="Calibri"/>
                        </a:rPr>
                        <a:t>DeepRM</a:t>
                      </a:r>
                      <a:endParaRPr lang="en-US"/>
                    </a:p>
                  </a:txBody>
                  <a:tcPr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lvl="0" indent="0" algn="l">
                        <a:buNone/>
                      </a:pPr>
                      <a:r>
                        <a:rPr lang="en-US" sz="1250" b="0" i="0" u="none" strike="noStrike" noProof="0">
                          <a:solidFill>
                            <a:srgbClr val="222222"/>
                          </a:solidFill>
                        </a:rPr>
                        <a:t>Deep RL scheduling</a:t>
                      </a:r>
                      <a:endParaRPr lang="en-US"/>
                    </a:p>
                  </a:txBody>
                  <a:tcPr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indent="0" algn="just">
                        <a:buNone/>
                      </a:pPr>
                      <a:r>
                        <a:rPr lang="en-US" sz="1250">
                          <a:solidFill>
                            <a:srgbClr val="222222"/>
                          </a:solidFill>
                          <a:latin typeface="Calibri"/>
                          <a:ea typeface="Calibri"/>
                          <a:cs typeface="Calibri"/>
                        </a:rPr>
                        <a:t>Cluster job traces (sim.)</a:t>
                      </a:r>
                      <a:endParaRPr lang="en-US" sz="1250" dirty="0">
                        <a:solidFill>
                          <a:srgbClr val="222222"/>
                        </a:solidFill>
                        <a:latin typeface="Calibri"/>
                        <a:ea typeface="Calibri"/>
                        <a:cs typeface="Calibri"/>
                      </a:endParaRPr>
                    </a:p>
                  </a:txBody>
                  <a:tcPr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lvl="0" indent="0" algn="l">
                        <a:buNone/>
                      </a:pPr>
                      <a:r>
                        <a:rPr lang="en-US" sz="1250" b="0" i="0" u="none" strike="noStrike" noProof="0">
                          <a:solidFill>
                            <a:srgbClr val="222222"/>
                          </a:solidFill>
                        </a:rPr>
                        <a:t>Learns adaptive scheduling</a:t>
                      </a:r>
                      <a:endParaRPr lang="en-US"/>
                    </a:p>
                  </a:txBody>
                  <a:tcPr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lvl="0" algn="l">
                        <a:lnSpc>
                          <a:spcPct val="100000"/>
                        </a:lnSpc>
                        <a:spcBef>
                          <a:spcPts val="0"/>
                        </a:spcBef>
                        <a:spcAft>
                          <a:spcPts val="0"/>
                        </a:spcAft>
                        <a:buNone/>
                      </a:pPr>
                      <a:r>
                        <a:rPr lang="en-US" sz="1200"/>
                        <a:t>Not blockchain-aware</a:t>
                      </a:r>
                    </a:p>
                  </a:txBody>
                  <a:tcPr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6" name="Text 2"/>
          <p:cNvSpPr/>
          <p:nvPr/>
        </p:nvSpPr>
        <p:spPr>
          <a:xfrm>
            <a:off x="11140135" y="6492240"/>
            <a:ext cx="548640" cy="274320"/>
          </a:xfrm>
          <a:prstGeom prst="rect">
            <a:avLst/>
          </a:prstGeom>
          <a:noFill/>
          <a:ln/>
        </p:spPr>
        <p:txBody>
          <a:bodyPr wrap="square" rtlCol="0" anchor="ctr"/>
          <a:lstStyle/>
          <a:p>
            <a:pPr marL="0" indent="0" algn="r">
              <a:buNone/>
            </a:pPr>
            <a:r>
              <a:rPr lang="en-US" sz="1000" dirty="0">
                <a:solidFill>
                  <a:srgbClr val="595959"/>
                </a:solidFill>
                <a:latin typeface="Calibri" pitchFamily="34" charset="0"/>
                <a:ea typeface="Calibri" pitchFamily="34" charset="-122"/>
                <a:cs typeface="Calibri" pitchFamily="34" charset="-120"/>
              </a:rPr>
              <a:t>13</a:t>
            </a:r>
            <a:endParaRPr lang="en-US" sz="1000" dirty="0"/>
          </a:p>
        </p:txBody>
      </p:sp>
      <p:sp>
        <p:nvSpPr>
          <p:cNvPr id="7" name="Text 3"/>
          <p:cNvSpPr/>
          <p:nvPr/>
        </p:nvSpPr>
        <p:spPr>
          <a:xfrm>
            <a:off x="365034" y="169092"/>
            <a:ext cx="4748770" cy="566928"/>
          </a:xfrm>
          <a:prstGeom prst="rect">
            <a:avLst/>
          </a:prstGeom>
          <a:noFill/>
          <a:ln/>
        </p:spPr>
        <p:txBody>
          <a:bodyPr wrap="square" lIns="0" tIns="0" rIns="0" bIns="0" rtlCol="0" anchor="ctr"/>
          <a:lstStyle/>
          <a:p>
            <a:pPr marL="0" indent="0" algn="l">
              <a:buNone/>
            </a:pPr>
            <a:r>
              <a:rPr lang="en-US" sz="2800" b="1" dirty="0">
                <a:solidFill>
                  <a:srgbClr val="1F3864"/>
                </a:solidFill>
                <a:latin typeface="Calibri" pitchFamily="34" charset="0"/>
                <a:ea typeface="Calibri" pitchFamily="34" charset="-122"/>
                <a:cs typeface="Calibri" pitchFamily="34" charset="-120"/>
              </a:rPr>
              <a:t>Research Gap &amp; Proposed Work</a:t>
            </a:r>
            <a:endParaRPr lang="en-US" sz="2800" dirty="0"/>
          </a:p>
        </p:txBody>
      </p:sp>
      <p:sp>
        <p:nvSpPr>
          <p:cNvPr id="8" name="Text 4"/>
          <p:cNvSpPr/>
          <p:nvPr/>
        </p:nvSpPr>
        <p:spPr>
          <a:xfrm>
            <a:off x="365034" y="738051"/>
            <a:ext cx="1764785" cy="365760"/>
          </a:xfrm>
          <a:prstGeom prst="rect">
            <a:avLst/>
          </a:prstGeom>
          <a:noFill/>
          <a:ln/>
        </p:spPr>
        <p:txBody>
          <a:bodyPr wrap="square" lIns="0" tIns="0" rIns="0" bIns="0" rtlCol="0" anchor="ctr"/>
          <a:lstStyle/>
          <a:p>
            <a:r>
              <a:rPr lang="en-US" sz="2000" b="1" dirty="0">
                <a:solidFill>
                  <a:srgbClr val="1F3864"/>
                </a:solidFill>
                <a:latin typeface="Calibri"/>
                <a:ea typeface="Calibri"/>
                <a:cs typeface="Calibri"/>
              </a:rPr>
              <a:t>Research Gap</a:t>
            </a:r>
            <a:endParaRPr lang="en-US" sz="2000">
              <a:ea typeface="Calibri"/>
              <a:cs typeface="Calibri"/>
            </a:endParaRPr>
          </a:p>
        </p:txBody>
      </p:sp>
      <p:sp>
        <p:nvSpPr>
          <p:cNvPr id="9" name="Text 5"/>
          <p:cNvSpPr/>
          <p:nvPr/>
        </p:nvSpPr>
        <p:spPr>
          <a:xfrm>
            <a:off x="365034" y="1691640"/>
            <a:ext cx="5168386" cy="2011680"/>
          </a:xfrm>
          <a:prstGeom prst="rect">
            <a:avLst/>
          </a:prstGeom>
          <a:noFill/>
          <a:ln/>
        </p:spPr>
        <p:txBody>
          <a:bodyPr wrap="square" lIns="0" tIns="0" rIns="0" bIns="0" rtlCol="0" anchor="t"/>
          <a:lstStyle/>
          <a:p>
            <a:pPr marL="285750" indent="-285750" algn="l">
              <a:buFont typeface="Arial"/>
              <a:buChar char="•"/>
            </a:pPr>
            <a:r>
              <a:rPr lang="en-US" sz="1800" dirty="0">
                <a:ea typeface="+mn-lt"/>
                <a:cs typeface="+mn-lt"/>
              </a:rPr>
              <a:t>Fixed M-orders or T-seconds triggers, blind to the chain.</a:t>
            </a:r>
            <a:endParaRPr lang="en-US" sz="1600" dirty="0">
              <a:ea typeface="Calibri"/>
              <a:cs typeface="Calibri"/>
            </a:endParaRPr>
          </a:p>
          <a:p>
            <a:pPr marL="285750" indent="-285750" algn="l">
              <a:buFont typeface="Arial"/>
              <a:buChar char="•"/>
            </a:pPr>
            <a:r>
              <a:rPr lang="en-US" sz="1800" dirty="0">
                <a:ea typeface="+mn-lt"/>
                <a:cs typeface="+mn-lt"/>
              </a:rPr>
              <a:t>Queue state and block data are never read before submitting.</a:t>
            </a:r>
            <a:endParaRPr lang="en-US" sz="1600" dirty="0">
              <a:ea typeface="Calibri"/>
              <a:cs typeface="Calibri"/>
            </a:endParaRPr>
          </a:p>
          <a:p>
            <a:pPr marL="285750" indent="-285750" algn="l">
              <a:buFont typeface="Arial"/>
              <a:buChar char="•"/>
            </a:pPr>
            <a:r>
              <a:rPr lang="en-US" sz="1800" dirty="0">
                <a:ea typeface="+mn-lt"/>
                <a:cs typeface="+mn-lt"/>
              </a:rPr>
              <a:t>Optimised for fees (the Ethereum view), not latency.</a:t>
            </a:r>
            <a:endParaRPr lang="en-US" sz="1600" dirty="0">
              <a:ea typeface="Calibri"/>
              <a:cs typeface="Calibri"/>
            </a:endParaRPr>
          </a:p>
        </p:txBody>
      </p:sp>
      <p:sp>
        <p:nvSpPr>
          <p:cNvPr id="11" name="Text 7"/>
          <p:cNvSpPr/>
          <p:nvPr/>
        </p:nvSpPr>
        <p:spPr>
          <a:xfrm>
            <a:off x="6701819" y="4301308"/>
            <a:ext cx="4986957" cy="2030548"/>
          </a:xfrm>
          <a:prstGeom prst="rect">
            <a:avLst/>
          </a:prstGeom>
          <a:noFill/>
          <a:ln/>
        </p:spPr>
        <p:txBody>
          <a:bodyPr wrap="square" lIns="0" tIns="0" rIns="0" bIns="0" rtlCol="0" anchor="t"/>
          <a:lstStyle/>
          <a:p>
            <a:pPr marL="228600" indent="-228600" algn="l">
              <a:spcAft>
                <a:spcPts val="1200"/>
              </a:spcAft>
              <a:buSzPct val="100000"/>
              <a:buChar char="•"/>
            </a:pPr>
            <a:endParaRPr lang="en-US" sz="1700" dirty="0">
              <a:solidFill>
                <a:srgbClr val="222222"/>
              </a:solidFill>
              <a:ea typeface="Calibri"/>
              <a:cs typeface="Calibri"/>
            </a:endParaRPr>
          </a:p>
        </p:txBody>
      </p:sp>
      <p:sp>
        <p:nvSpPr>
          <p:cNvPr id="2" name="Text 4">
            <a:extLst>
              <a:ext uri="{FF2B5EF4-FFF2-40B4-BE49-F238E27FC236}">
                <a16:creationId xmlns:a16="http://schemas.microsoft.com/office/drawing/2014/main" id="{ECBD59C9-4A5F-2BAE-4393-CB24656FC64C}"/>
              </a:ext>
            </a:extLst>
          </p:cNvPr>
          <p:cNvSpPr/>
          <p:nvPr/>
        </p:nvSpPr>
        <p:spPr>
          <a:xfrm>
            <a:off x="684347" y="1253307"/>
            <a:ext cx="3136385" cy="365760"/>
          </a:xfrm>
          <a:prstGeom prst="rect">
            <a:avLst/>
          </a:prstGeom>
          <a:noFill/>
          <a:ln/>
        </p:spPr>
        <p:txBody>
          <a:bodyPr wrap="square" lIns="0" tIns="0" rIns="0" bIns="0" rtlCol="0" anchor="ctr"/>
          <a:lstStyle/>
          <a:p>
            <a:r>
              <a:rPr lang="en-US" sz="1700" b="1" i="0" u="none" strike="noStrike" baseline="0">
                <a:solidFill>
                  <a:srgbClr val="222222"/>
                </a:solidFill>
                <a:latin typeface="Calibri"/>
              </a:rPr>
              <a:t>Limitations in existing studies</a:t>
            </a:r>
            <a:r>
              <a:rPr lang="en-US" sz="1700" b="1">
                <a:solidFill>
                  <a:srgbClr val="222222"/>
                </a:solidFill>
                <a:latin typeface="Calibri"/>
              </a:rPr>
              <a:t> :</a:t>
            </a:r>
            <a:endParaRPr lang="en-US" sz="2000" b="1" dirty="0">
              <a:solidFill>
                <a:srgbClr val="1F3864"/>
              </a:solidFill>
              <a:ea typeface="Calibri"/>
              <a:cs typeface="Calibri"/>
            </a:endParaRPr>
          </a:p>
        </p:txBody>
      </p:sp>
      <p:sp>
        <p:nvSpPr>
          <p:cNvPr id="3" name="Text 4">
            <a:extLst>
              <a:ext uri="{FF2B5EF4-FFF2-40B4-BE49-F238E27FC236}">
                <a16:creationId xmlns:a16="http://schemas.microsoft.com/office/drawing/2014/main" id="{4D6B7A9D-1463-48A7-9740-4B952E256DED}"/>
              </a:ext>
            </a:extLst>
          </p:cNvPr>
          <p:cNvSpPr/>
          <p:nvPr/>
        </p:nvSpPr>
        <p:spPr>
          <a:xfrm>
            <a:off x="684346" y="3807820"/>
            <a:ext cx="3136385" cy="365760"/>
          </a:xfrm>
          <a:prstGeom prst="rect">
            <a:avLst/>
          </a:prstGeom>
          <a:noFill/>
          <a:ln/>
        </p:spPr>
        <p:txBody>
          <a:bodyPr wrap="square" lIns="0" tIns="0" rIns="0" bIns="0" rtlCol="0" anchor="ctr"/>
          <a:lstStyle/>
          <a:p>
            <a:r>
              <a:rPr lang="en-US" sz="1700" b="1" dirty="0">
                <a:solidFill>
                  <a:srgbClr val="222222"/>
                </a:solidFill>
                <a:latin typeface="Calibri"/>
              </a:rPr>
              <a:t>Unsolved problems :</a:t>
            </a:r>
            <a:endParaRPr lang="en-US" sz="2000" b="1" dirty="0">
              <a:solidFill>
                <a:srgbClr val="1F3864"/>
              </a:solidFill>
              <a:ea typeface="Calibri"/>
              <a:cs typeface="Calibri"/>
            </a:endParaRPr>
          </a:p>
        </p:txBody>
      </p:sp>
      <p:sp>
        <p:nvSpPr>
          <p:cNvPr id="4" name="Text 4">
            <a:extLst>
              <a:ext uri="{FF2B5EF4-FFF2-40B4-BE49-F238E27FC236}">
                <a16:creationId xmlns:a16="http://schemas.microsoft.com/office/drawing/2014/main" id="{E05A6B83-7DAD-F328-018C-33D89D5074FC}"/>
              </a:ext>
            </a:extLst>
          </p:cNvPr>
          <p:cNvSpPr/>
          <p:nvPr/>
        </p:nvSpPr>
        <p:spPr>
          <a:xfrm>
            <a:off x="6823888" y="1253305"/>
            <a:ext cx="3136385" cy="365760"/>
          </a:xfrm>
          <a:prstGeom prst="rect">
            <a:avLst/>
          </a:prstGeom>
          <a:noFill/>
          <a:ln/>
        </p:spPr>
        <p:txBody>
          <a:bodyPr wrap="square" lIns="0" tIns="0" rIns="0" bIns="0" rtlCol="0" anchor="ctr"/>
          <a:lstStyle/>
          <a:p>
            <a:r>
              <a:rPr lang="en-US" sz="1700" b="1">
                <a:solidFill>
                  <a:srgbClr val="222222"/>
                </a:solidFill>
                <a:ea typeface="Calibri"/>
                <a:cs typeface="Calibri"/>
              </a:rPr>
              <a:t>Missing features :</a:t>
            </a:r>
            <a:endParaRPr lang="en-US" b="1">
              <a:ea typeface="Calibri"/>
              <a:cs typeface="Calibri"/>
            </a:endParaRPr>
          </a:p>
        </p:txBody>
      </p:sp>
      <p:sp>
        <p:nvSpPr>
          <p:cNvPr id="5" name="Text 4">
            <a:extLst>
              <a:ext uri="{FF2B5EF4-FFF2-40B4-BE49-F238E27FC236}">
                <a16:creationId xmlns:a16="http://schemas.microsoft.com/office/drawing/2014/main" id="{D3FD4535-20DD-B4E5-2EF4-CB5FFF2B3458}"/>
              </a:ext>
            </a:extLst>
          </p:cNvPr>
          <p:cNvSpPr/>
          <p:nvPr/>
        </p:nvSpPr>
        <p:spPr>
          <a:xfrm>
            <a:off x="6816629" y="3800561"/>
            <a:ext cx="3136385" cy="365760"/>
          </a:xfrm>
          <a:prstGeom prst="rect">
            <a:avLst/>
          </a:prstGeom>
          <a:noFill/>
          <a:ln/>
        </p:spPr>
        <p:txBody>
          <a:bodyPr wrap="square" lIns="0" tIns="0" rIns="0" bIns="0" rtlCol="0" anchor="ctr"/>
          <a:lstStyle/>
          <a:p>
            <a:r>
              <a:rPr lang="en-US" sz="1700" b="1" i="0" u="none" strike="noStrike" baseline="0">
                <a:solidFill>
                  <a:srgbClr val="222222"/>
                </a:solidFill>
                <a:latin typeface="Calibri"/>
              </a:rPr>
              <a:t>Performance issues</a:t>
            </a:r>
            <a:r>
              <a:rPr lang="en-US" sz="1700" b="1">
                <a:solidFill>
                  <a:srgbClr val="222222"/>
                </a:solidFill>
                <a:latin typeface="Calibri"/>
              </a:rPr>
              <a:t> :</a:t>
            </a:r>
            <a:endParaRPr lang="en-US" sz="1700" b="1" dirty="0">
              <a:solidFill>
                <a:srgbClr val="222222"/>
              </a:solidFill>
              <a:ea typeface="Calibri"/>
              <a:cs typeface="Calibri"/>
            </a:endParaRPr>
          </a:p>
        </p:txBody>
      </p:sp>
      <p:sp>
        <p:nvSpPr>
          <p:cNvPr id="15" name="Text 4">
            <a:extLst>
              <a:ext uri="{FF2B5EF4-FFF2-40B4-BE49-F238E27FC236}">
                <a16:creationId xmlns:a16="http://schemas.microsoft.com/office/drawing/2014/main" id="{49C00E38-4B00-0296-4A6B-C807F0CEA1B5}"/>
              </a:ext>
            </a:extLst>
          </p:cNvPr>
          <p:cNvSpPr/>
          <p:nvPr/>
        </p:nvSpPr>
        <p:spPr>
          <a:xfrm>
            <a:off x="6700516" y="1691640"/>
            <a:ext cx="4972442" cy="2011680"/>
          </a:xfrm>
          <a:prstGeom prst="rect">
            <a:avLst/>
          </a:prstGeom>
          <a:noFill/>
          <a:ln/>
        </p:spPr>
        <p:txBody>
          <a:bodyPr wrap="square" lIns="0" tIns="0" rIns="0" bIns="0" rtlCol="0" anchor="t"/>
          <a:lstStyle/>
          <a:p>
            <a:pPr marL="285750" indent="-285750" algn="l">
              <a:buFont typeface="Arial"/>
              <a:buChar char="•"/>
            </a:pPr>
            <a:r>
              <a:rPr lang="en-US" sz="1800"/>
              <a:t>Congestion-aware, forecast-driven batching.</a:t>
            </a:r>
            <a:endParaRPr lang="en-US" sz="1600">
              <a:ea typeface="Calibri"/>
              <a:cs typeface="Calibri"/>
            </a:endParaRPr>
          </a:p>
          <a:p>
            <a:pPr marL="285750" indent="-285750" algn="l">
              <a:buFont typeface="Arial"/>
              <a:buChar char="•"/>
            </a:pPr>
            <a:r>
              <a:rPr lang="en-US" sz="1800"/>
              <a:t>Hard enforcement of per-tx and per-block limits.</a:t>
            </a:r>
            <a:endParaRPr lang="en-US" sz="1600">
              <a:ea typeface="Calibri"/>
              <a:cs typeface="Calibri"/>
            </a:endParaRPr>
          </a:p>
          <a:p>
            <a:pPr marL="285750" indent="-285750" algn="l">
              <a:buFont typeface="Arial"/>
              <a:buChar char="•"/>
            </a:pPr>
            <a:r>
              <a:rPr lang="en-US" sz="1800"/>
              <a:t>Protection against poison orders and outages.</a:t>
            </a:r>
            <a:endParaRPr lang="en-US" sz="1600">
              <a:ea typeface="Calibri"/>
              <a:cs typeface="Calibri"/>
            </a:endParaRPr>
          </a:p>
        </p:txBody>
      </p:sp>
      <p:sp>
        <p:nvSpPr>
          <p:cNvPr id="16" name="TextBox 15">
            <a:extLst>
              <a:ext uri="{FF2B5EF4-FFF2-40B4-BE49-F238E27FC236}">
                <a16:creationId xmlns:a16="http://schemas.microsoft.com/office/drawing/2014/main" id="{5724290F-9152-2853-9516-2570E0A54EA3}"/>
              </a:ext>
            </a:extLst>
          </p:cNvPr>
          <p:cNvSpPr txBox="1"/>
          <p:nvPr/>
        </p:nvSpPr>
        <p:spPr>
          <a:xfrm>
            <a:off x="257477" y="4251960"/>
            <a:ext cx="5275943" cy="201168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l">
              <a:buFont typeface="Arial"/>
              <a:buChar char="•"/>
            </a:pPr>
            <a:r>
              <a:rPr lang="en-US" sz="1800" dirty="0">
                <a:solidFill>
                  <a:srgbClr val="000000"/>
                </a:solidFill>
                <a:ea typeface="+mn-lt"/>
                <a:cs typeface="+mn-lt"/>
              </a:rPr>
              <a:t>Adapting batch size and timing to forecast block capacity.</a:t>
            </a:r>
            <a:endParaRPr lang="en-US" sz="1600" dirty="0">
              <a:ea typeface="Calibri" panose="020F0502020204030204"/>
              <a:cs typeface="Calibri" panose="020F0502020204030204"/>
            </a:endParaRPr>
          </a:p>
          <a:p>
            <a:pPr marL="285750" indent="-285750" algn="l">
              <a:buFont typeface="Arial"/>
              <a:buChar char="•"/>
            </a:pPr>
            <a:r>
              <a:rPr lang="en-US" sz="1800" dirty="0">
                <a:solidFill>
                  <a:srgbClr val="000000"/>
                </a:solidFill>
                <a:ea typeface="+mn-lt"/>
                <a:cs typeface="+mn-lt"/>
              </a:rPr>
              <a:t>Knowing when to wait for a better batch.</a:t>
            </a:r>
            <a:endParaRPr lang="en-US" sz="1600" dirty="0">
              <a:ea typeface="Calibri" panose="020F0502020204030204"/>
              <a:cs typeface="Calibri" panose="020F0502020204030204"/>
            </a:endParaRPr>
          </a:p>
          <a:p>
            <a:pPr marL="285750" indent="-285750" algn="l">
              <a:buFont typeface="Arial"/>
              <a:buChar char="•"/>
            </a:pPr>
            <a:r>
              <a:rPr lang="en-US" sz="1800" dirty="0">
                <a:solidFill>
                  <a:srgbClr val="000000"/>
                </a:solidFill>
                <a:ea typeface="+mn-lt"/>
                <a:cs typeface="+mn-lt"/>
              </a:rPr>
              <a:t>Learning a submission policy from replayed real blocks.</a:t>
            </a:r>
            <a:endParaRPr lang="en-US" sz="1600" dirty="0">
              <a:ea typeface="Calibri" panose="020F0502020204030204"/>
              <a:cs typeface="Calibri" panose="020F0502020204030204"/>
            </a:endParaRPr>
          </a:p>
        </p:txBody>
      </p:sp>
      <p:sp>
        <p:nvSpPr>
          <p:cNvPr id="10" name="Text 4">
            <a:extLst>
              <a:ext uri="{FF2B5EF4-FFF2-40B4-BE49-F238E27FC236}">
                <a16:creationId xmlns:a16="http://schemas.microsoft.com/office/drawing/2014/main" id="{BE64E79A-1960-31E6-B676-247B0BB09B23}"/>
              </a:ext>
            </a:extLst>
          </p:cNvPr>
          <p:cNvSpPr/>
          <p:nvPr/>
        </p:nvSpPr>
        <p:spPr>
          <a:xfrm>
            <a:off x="6707772" y="4251960"/>
            <a:ext cx="4965185" cy="2011680"/>
          </a:xfrm>
          <a:prstGeom prst="rect">
            <a:avLst/>
          </a:prstGeom>
          <a:noFill/>
          <a:ln/>
        </p:spPr>
        <p:txBody>
          <a:bodyPr wrap="square" lIns="0" tIns="0" rIns="0" bIns="0" rtlCol="0" anchor="t"/>
          <a:lstStyle/>
          <a:p>
            <a:pPr marL="285750" indent="-285750" algn="l">
              <a:buFont typeface="Arial"/>
              <a:buChar char="•"/>
            </a:pPr>
            <a:r>
              <a:rPr lang="en-US" sz="1800">
                <a:solidFill>
                  <a:srgbClr val="000000"/>
                </a:solidFill>
                <a:ea typeface="+mn-lt"/>
                <a:cs typeface="+mn-lt"/>
              </a:rPr>
              <a:t>A mistimed batch holds the pool lock and delays every order behind it.</a:t>
            </a:r>
            <a:endParaRPr lang="en-US" sz="1600">
              <a:solidFill>
                <a:srgbClr val="000000"/>
              </a:solidFill>
              <a:ea typeface="Calibri"/>
              <a:cs typeface="Calibri"/>
            </a:endParaRPr>
          </a:p>
          <a:p>
            <a:pPr marL="285750" indent="-285750" algn="l">
              <a:buFont typeface="Arial"/>
              <a:buChar char="•"/>
            </a:pPr>
            <a:r>
              <a:rPr lang="en-US" sz="1800">
                <a:solidFill>
                  <a:srgbClr val="000000"/>
                </a:solidFill>
                <a:ea typeface="+mn-lt"/>
                <a:cs typeface="+mn-lt"/>
              </a:rPr>
              <a:t>Static rules starve early orders when arrivals slow down.</a:t>
            </a:r>
            <a:endParaRPr lang="en-US" sz="1600">
              <a:solidFill>
                <a:srgbClr val="000000"/>
              </a:solidFill>
              <a:ea typeface="Calibri"/>
              <a:cs typeface="Calibri"/>
            </a:endParaRPr>
          </a:p>
        </p:txBody>
      </p:sp>
    </p:spTree>
    <p:extLst>
      <p:ext uri="{BB962C8B-B14F-4D97-AF65-F5344CB8AC3E}">
        <p14:creationId xmlns:p14="http://schemas.microsoft.com/office/powerpoint/2010/main" val="8367320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A9C7CED-1E60-D9F2-8AEB-1727A21B4848}"/>
            </a:ext>
          </a:extLst>
        </p:cNvPr>
        <p:cNvGrpSpPr/>
        <p:nvPr/>
      </p:nvGrpSpPr>
      <p:grpSpPr>
        <a:xfrm>
          <a:off x="0" y="0"/>
          <a:ext cx="0" cy="0"/>
          <a:chOff x="0" y="0"/>
          <a:chExt cx="0" cy="0"/>
        </a:xfrm>
      </p:grpSpPr>
      <p:sp>
        <p:nvSpPr>
          <p:cNvPr id="6" name="Text 2">
            <a:extLst>
              <a:ext uri="{FF2B5EF4-FFF2-40B4-BE49-F238E27FC236}">
                <a16:creationId xmlns:a16="http://schemas.microsoft.com/office/drawing/2014/main" id="{3FA24DAD-F700-D8A5-3422-7CFABA47DB44}"/>
              </a:ext>
            </a:extLst>
          </p:cNvPr>
          <p:cNvSpPr/>
          <p:nvPr/>
        </p:nvSpPr>
        <p:spPr>
          <a:xfrm>
            <a:off x="11140135" y="6492240"/>
            <a:ext cx="548640" cy="274320"/>
          </a:xfrm>
          <a:prstGeom prst="rect">
            <a:avLst/>
          </a:prstGeom>
          <a:noFill/>
          <a:ln/>
        </p:spPr>
        <p:txBody>
          <a:bodyPr wrap="square" rtlCol="0" anchor="ctr"/>
          <a:lstStyle/>
          <a:p>
            <a:pPr marL="0" indent="0" algn="r">
              <a:buNone/>
            </a:pPr>
            <a:r>
              <a:rPr lang="en-US" sz="1000" dirty="0">
                <a:solidFill>
                  <a:srgbClr val="595959"/>
                </a:solidFill>
                <a:latin typeface="Calibri" pitchFamily="34" charset="0"/>
                <a:ea typeface="Calibri" pitchFamily="34" charset="-122"/>
                <a:cs typeface="Calibri" pitchFamily="34" charset="-120"/>
              </a:rPr>
              <a:t>14</a:t>
            </a:r>
            <a:endParaRPr lang="en-US" sz="1000" dirty="0"/>
          </a:p>
        </p:txBody>
      </p:sp>
      <p:sp>
        <p:nvSpPr>
          <p:cNvPr id="7" name="Text 3">
            <a:extLst>
              <a:ext uri="{FF2B5EF4-FFF2-40B4-BE49-F238E27FC236}">
                <a16:creationId xmlns:a16="http://schemas.microsoft.com/office/drawing/2014/main" id="{9BA243BD-BAE6-494F-55CC-3EDA8C44E9A6}"/>
              </a:ext>
            </a:extLst>
          </p:cNvPr>
          <p:cNvSpPr/>
          <p:nvPr/>
        </p:nvSpPr>
        <p:spPr>
          <a:xfrm>
            <a:off x="365034" y="169092"/>
            <a:ext cx="4748770" cy="566928"/>
          </a:xfrm>
          <a:prstGeom prst="rect">
            <a:avLst/>
          </a:prstGeom>
          <a:noFill/>
          <a:ln/>
        </p:spPr>
        <p:txBody>
          <a:bodyPr wrap="square" lIns="0" tIns="0" rIns="0" bIns="0" rtlCol="0" anchor="ctr"/>
          <a:lstStyle/>
          <a:p>
            <a:pPr marL="0" indent="0" algn="l">
              <a:buNone/>
            </a:pPr>
            <a:r>
              <a:rPr lang="en-US" sz="2800" b="1" dirty="0">
                <a:solidFill>
                  <a:srgbClr val="1F3864"/>
                </a:solidFill>
                <a:latin typeface="Calibri" pitchFamily="34" charset="0"/>
                <a:ea typeface="Calibri" pitchFamily="34" charset="-122"/>
                <a:cs typeface="Calibri" pitchFamily="34" charset="-120"/>
              </a:rPr>
              <a:t>Research Gap &amp; Proposed Work</a:t>
            </a:r>
            <a:endParaRPr lang="en-US" sz="2800" dirty="0"/>
          </a:p>
        </p:txBody>
      </p:sp>
      <p:sp>
        <p:nvSpPr>
          <p:cNvPr id="8" name="Text 4">
            <a:extLst>
              <a:ext uri="{FF2B5EF4-FFF2-40B4-BE49-F238E27FC236}">
                <a16:creationId xmlns:a16="http://schemas.microsoft.com/office/drawing/2014/main" id="{3709CC73-CEAC-2D7C-B4B7-AC6B1F815091}"/>
              </a:ext>
            </a:extLst>
          </p:cNvPr>
          <p:cNvSpPr/>
          <p:nvPr/>
        </p:nvSpPr>
        <p:spPr>
          <a:xfrm>
            <a:off x="365034" y="738051"/>
            <a:ext cx="1764785" cy="365760"/>
          </a:xfrm>
          <a:prstGeom prst="rect">
            <a:avLst/>
          </a:prstGeom>
          <a:noFill/>
          <a:ln/>
        </p:spPr>
        <p:txBody>
          <a:bodyPr wrap="square" lIns="0" tIns="0" rIns="0" bIns="0" rtlCol="0" anchor="ctr"/>
          <a:lstStyle/>
          <a:p>
            <a:r>
              <a:rPr lang="en-US" sz="2000" b="1">
                <a:solidFill>
                  <a:srgbClr val="1F3864"/>
                </a:solidFill>
                <a:ea typeface="Calibri"/>
                <a:cs typeface="Calibri"/>
              </a:rPr>
              <a:t>Proposed Work</a:t>
            </a:r>
            <a:endParaRPr lang="en-US" sz="2000" b="1" dirty="0">
              <a:solidFill>
                <a:srgbClr val="1F3864"/>
              </a:solidFill>
              <a:ea typeface="Calibri"/>
              <a:cs typeface="Calibri"/>
            </a:endParaRPr>
          </a:p>
        </p:txBody>
      </p:sp>
      <p:sp>
        <p:nvSpPr>
          <p:cNvPr id="9" name="Text 5">
            <a:extLst>
              <a:ext uri="{FF2B5EF4-FFF2-40B4-BE49-F238E27FC236}">
                <a16:creationId xmlns:a16="http://schemas.microsoft.com/office/drawing/2014/main" id="{FC815474-B071-59D5-B811-137C7FC75CDA}"/>
              </a:ext>
            </a:extLst>
          </p:cNvPr>
          <p:cNvSpPr/>
          <p:nvPr/>
        </p:nvSpPr>
        <p:spPr>
          <a:xfrm>
            <a:off x="365034" y="1691640"/>
            <a:ext cx="5168386" cy="2011680"/>
          </a:xfrm>
          <a:prstGeom prst="rect">
            <a:avLst/>
          </a:prstGeom>
          <a:noFill/>
          <a:ln/>
        </p:spPr>
        <p:txBody>
          <a:bodyPr wrap="square" lIns="0" tIns="0" rIns="0" bIns="0" rtlCol="0" anchor="t"/>
          <a:lstStyle/>
          <a:p>
            <a:pPr marL="285750" indent="-285750" algn="l">
              <a:buFont typeface="Arial"/>
              <a:buChar char="•"/>
            </a:pPr>
            <a:r>
              <a:rPr lang="en-US" sz="1800">
                <a:ea typeface="+mn-lt"/>
                <a:cs typeface="+mn-lt"/>
              </a:rPr>
              <a:t>Collect 92 days of mainnet blocks; derive the fill series.</a:t>
            </a:r>
            <a:endParaRPr lang="en-US" sz="1600">
              <a:ea typeface="Calibri" panose="020F0502020204030204"/>
              <a:cs typeface="Calibri" panose="020F0502020204030204"/>
            </a:endParaRPr>
          </a:p>
          <a:p>
            <a:pPr marL="285750" indent="-285750" algn="l">
              <a:buFont typeface="Arial"/>
              <a:buChar char="•"/>
            </a:pPr>
            <a:r>
              <a:rPr lang="en-US" sz="1800">
                <a:ea typeface="+mn-lt"/>
                <a:cs typeface="+mn-lt"/>
              </a:rPr>
              <a:t>Replay them in a simulator with a pool lock.</a:t>
            </a:r>
            <a:endParaRPr lang="en-US" sz="1600">
              <a:ea typeface="Calibri" panose="020F0502020204030204"/>
              <a:cs typeface="Calibri" panose="020F0502020204030204"/>
            </a:endParaRPr>
          </a:p>
          <a:p>
            <a:pPr marL="285750" indent="-285750" algn="l">
              <a:buFont typeface="Arial"/>
              <a:buChar char="•"/>
            </a:pPr>
            <a:r>
              <a:rPr lang="en-US" sz="1800">
                <a:ea typeface="+mn-lt"/>
                <a:cs typeface="+mn-lt"/>
              </a:rPr>
              <a:t>Forecast next-block fill with LightGBM.</a:t>
            </a:r>
            <a:endParaRPr lang="en-US" sz="1600">
              <a:ea typeface="Calibri" panose="020F0502020204030204"/>
              <a:cs typeface="Calibri" panose="020F0502020204030204"/>
            </a:endParaRPr>
          </a:p>
          <a:p>
            <a:pPr marL="285750" indent="-285750" algn="l">
              <a:buFont typeface="Arial"/>
              <a:buChar char="•"/>
            </a:pPr>
            <a:r>
              <a:rPr lang="en-US" sz="1800">
                <a:ea typeface="+mn-lt"/>
                <a:cs typeface="+mn-lt"/>
              </a:rPr>
              <a:t>Decide WAIT / SUBMIT(n): optimizer + DQN agent.</a:t>
            </a:r>
            <a:endParaRPr lang="en-US" sz="1600">
              <a:ea typeface="Calibri" panose="020F0502020204030204"/>
              <a:cs typeface="Calibri" panose="020F0502020204030204"/>
            </a:endParaRPr>
          </a:p>
        </p:txBody>
      </p:sp>
      <p:sp>
        <p:nvSpPr>
          <p:cNvPr id="11" name="Text 7">
            <a:extLst>
              <a:ext uri="{FF2B5EF4-FFF2-40B4-BE49-F238E27FC236}">
                <a16:creationId xmlns:a16="http://schemas.microsoft.com/office/drawing/2014/main" id="{D4129BA2-1B41-1B5D-1E0A-672D45256DC2}"/>
              </a:ext>
            </a:extLst>
          </p:cNvPr>
          <p:cNvSpPr/>
          <p:nvPr/>
        </p:nvSpPr>
        <p:spPr>
          <a:xfrm>
            <a:off x="6701819" y="4251960"/>
            <a:ext cx="4986957" cy="2011680"/>
          </a:xfrm>
          <a:prstGeom prst="rect">
            <a:avLst/>
          </a:prstGeom>
          <a:noFill/>
          <a:ln/>
        </p:spPr>
        <p:txBody>
          <a:bodyPr wrap="square" lIns="0" tIns="0" rIns="0" bIns="0" rtlCol="0" anchor="t"/>
          <a:lstStyle/>
          <a:p>
            <a:pPr marL="285750" indent="-285750" algn="l">
              <a:buFont typeface="Arial"/>
              <a:buChar char="•"/>
            </a:pPr>
            <a:r>
              <a:rPr lang="en-US" sz="1800"/>
              <a:t>A server-side batcher that decides when to submit and how many orders to include.</a:t>
            </a:r>
            <a:endParaRPr lang="en-US" sz="1600">
              <a:ea typeface="Calibri"/>
              <a:cs typeface="Calibri"/>
            </a:endParaRPr>
          </a:p>
          <a:p>
            <a:pPr marL="285750" indent="-285750" algn="l">
              <a:buFont typeface="Arial"/>
              <a:buChar char="•"/>
            </a:pPr>
            <a:r>
              <a:rPr lang="en-US" sz="1800"/>
              <a:t>Reproducible simulator results with paired statistics.</a:t>
            </a:r>
            <a:endParaRPr lang="en-US" sz="1600">
              <a:ea typeface="Calibri"/>
              <a:cs typeface="Calibri"/>
            </a:endParaRPr>
          </a:p>
          <a:p>
            <a:pPr marL="285750" indent="-285750" algn="l">
              <a:buFont typeface="Arial"/>
              <a:buChar char="•"/>
            </a:pPr>
            <a:r>
              <a:rPr lang="en-US" sz="1800"/>
              <a:t>A settled swap on the preprod testnet.</a:t>
            </a:r>
            <a:endParaRPr lang="en-US" sz="1600">
              <a:ea typeface="Calibri"/>
              <a:cs typeface="Calibri"/>
            </a:endParaRPr>
          </a:p>
        </p:txBody>
      </p:sp>
      <p:sp>
        <p:nvSpPr>
          <p:cNvPr id="2" name="Text 4">
            <a:extLst>
              <a:ext uri="{FF2B5EF4-FFF2-40B4-BE49-F238E27FC236}">
                <a16:creationId xmlns:a16="http://schemas.microsoft.com/office/drawing/2014/main" id="{EFA9EA64-CADF-9D5E-7AE2-8FBD4D9BD55B}"/>
              </a:ext>
            </a:extLst>
          </p:cNvPr>
          <p:cNvSpPr/>
          <p:nvPr/>
        </p:nvSpPr>
        <p:spPr>
          <a:xfrm>
            <a:off x="684347" y="1253307"/>
            <a:ext cx="3136385" cy="365760"/>
          </a:xfrm>
          <a:prstGeom prst="rect">
            <a:avLst/>
          </a:prstGeom>
          <a:noFill/>
          <a:ln/>
        </p:spPr>
        <p:txBody>
          <a:bodyPr wrap="square" lIns="0" tIns="0" rIns="0" bIns="0" rtlCol="0" anchor="ctr"/>
          <a:lstStyle/>
          <a:p>
            <a:r>
              <a:rPr lang="en-US" sz="1700" b="1">
                <a:solidFill>
                  <a:srgbClr val="222222"/>
                </a:solidFill>
                <a:latin typeface="Calibri"/>
              </a:rPr>
              <a:t>Proposed methodology :</a:t>
            </a:r>
            <a:endParaRPr lang="en-US" b="1">
              <a:ea typeface="Calibri"/>
              <a:cs typeface="Calibri"/>
            </a:endParaRPr>
          </a:p>
        </p:txBody>
      </p:sp>
      <p:sp>
        <p:nvSpPr>
          <p:cNvPr id="3" name="Text 4">
            <a:extLst>
              <a:ext uri="{FF2B5EF4-FFF2-40B4-BE49-F238E27FC236}">
                <a16:creationId xmlns:a16="http://schemas.microsoft.com/office/drawing/2014/main" id="{9363F3E0-ADB0-FD79-1859-84AA56DAD3C4}"/>
              </a:ext>
            </a:extLst>
          </p:cNvPr>
          <p:cNvSpPr/>
          <p:nvPr/>
        </p:nvSpPr>
        <p:spPr>
          <a:xfrm>
            <a:off x="684346" y="3865877"/>
            <a:ext cx="3136385" cy="365760"/>
          </a:xfrm>
          <a:prstGeom prst="rect">
            <a:avLst/>
          </a:prstGeom>
          <a:noFill/>
          <a:ln/>
        </p:spPr>
        <p:txBody>
          <a:bodyPr wrap="square" lIns="0" tIns="0" rIns="0" bIns="0" rtlCol="0" anchor="ctr"/>
          <a:lstStyle/>
          <a:p>
            <a:r>
              <a:rPr lang="en-US" sz="1700" b="1">
                <a:solidFill>
                  <a:srgbClr val="222222"/>
                </a:solidFill>
                <a:latin typeface="Calibri"/>
              </a:rPr>
              <a:t>Technologies to be used :</a:t>
            </a:r>
            <a:endParaRPr lang="en-US" b="1"/>
          </a:p>
        </p:txBody>
      </p:sp>
      <p:sp>
        <p:nvSpPr>
          <p:cNvPr id="4" name="Text 4">
            <a:extLst>
              <a:ext uri="{FF2B5EF4-FFF2-40B4-BE49-F238E27FC236}">
                <a16:creationId xmlns:a16="http://schemas.microsoft.com/office/drawing/2014/main" id="{5705EC9D-39CA-DA43-A3AB-1B89F46CD60B}"/>
              </a:ext>
            </a:extLst>
          </p:cNvPr>
          <p:cNvSpPr/>
          <p:nvPr/>
        </p:nvSpPr>
        <p:spPr>
          <a:xfrm>
            <a:off x="6823888" y="1253305"/>
            <a:ext cx="3136385" cy="365760"/>
          </a:xfrm>
          <a:prstGeom prst="rect">
            <a:avLst/>
          </a:prstGeom>
          <a:noFill/>
          <a:ln/>
        </p:spPr>
        <p:txBody>
          <a:bodyPr wrap="square" lIns="0" tIns="0" rIns="0" bIns="0" rtlCol="0" anchor="ctr"/>
          <a:lstStyle/>
          <a:p>
            <a:r>
              <a:rPr lang="en-US" sz="1700" b="1">
                <a:solidFill>
                  <a:srgbClr val="222222"/>
                </a:solidFill>
                <a:ea typeface="Calibri"/>
                <a:cs typeface="Calibri"/>
              </a:rPr>
              <a:t>Expected improvements :</a:t>
            </a:r>
            <a:endParaRPr lang="en-US" b="1"/>
          </a:p>
        </p:txBody>
      </p:sp>
      <p:sp>
        <p:nvSpPr>
          <p:cNvPr id="5" name="Text 4">
            <a:extLst>
              <a:ext uri="{FF2B5EF4-FFF2-40B4-BE49-F238E27FC236}">
                <a16:creationId xmlns:a16="http://schemas.microsoft.com/office/drawing/2014/main" id="{8DA3E0EA-075D-B501-496C-19FAA5E8B780}"/>
              </a:ext>
            </a:extLst>
          </p:cNvPr>
          <p:cNvSpPr/>
          <p:nvPr/>
        </p:nvSpPr>
        <p:spPr>
          <a:xfrm>
            <a:off x="6889200" y="3844104"/>
            <a:ext cx="3136385" cy="365760"/>
          </a:xfrm>
          <a:prstGeom prst="rect">
            <a:avLst/>
          </a:prstGeom>
          <a:noFill/>
          <a:ln/>
        </p:spPr>
        <p:txBody>
          <a:bodyPr wrap="square" lIns="0" tIns="0" rIns="0" bIns="0" rtlCol="0" anchor="ctr"/>
          <a:lstStyle/>
          <a:p>
            <a:r>
              <a:rPr lang="en-US" sz="1700" b="1">
                <a:solidFill>
                  <a:srgbClr val="222222"/>
                </a:solidFill>
                <a:latin typeface="Calibri"/>
              </a:rPr>
              <a:t>Expected outcome :</a:t>
            </a:r>
            <a:endParaRPr lang="en-US" b="1"/>
          </a:p>
        </p:txBody>
      </p:sp>
      <p:sp>
        <p:nvSpPr>
          <p:cNvPr id="15" name="Text 4">
            <a:extLst>
              <a:ext uri="{FF2B5EF4-FFF2-40B4-BE49-F238E27FC236}">
                <a16:creationId xmlns:a16="http://schemas.microsoft.com/office/drawing/2014/main" id="{A0B54B29-0B31-93B5-594D-627CC6C8F748}"/>
              </a:ext>
            </a:extLst>
          </p:cNvPr>
          <p:cNvSpPr/>
          <p:nvPr/>
        </p:nvSpPr>
        <p:spPr>
          <a:xfrm>
            <a:off x="6707773" y="1691640"/>
            <a:ext cx="4972442" cy="2011680"/>
          </a:xfrm>
          <a:prstGeom prst="rect">
            <a:avLst/>
          </a:prstGeom>
          <a:noFill/>
          <a:ln/>
        </p:spPr>
        <p:txBody>
          <a:bodyPr wrap="square" lIns="0" tIns="0" rIns="0" bIns="0" rtlCol="0" anchor="t"/>
          <a:lstStyle/>
          <a:p>
            <a:pPr marL="285750" indent="-285750" algn="l">
              <a:buFont typeface="Arial"/>
              <a:buChar char="•"/>
            </a:pPr>
            <a:r>
              <a:rPr lang="en-US" sz="1800">
                <a:ea typeface="+mn-lt"/>
                <a:cs typeface="+mn-lt"/>
              </a:rPr>
              <a:t>Lower per-user cost than the best tuned static batcher.</a:t>
            </a:r>
            <a:endParaRPr lang="en-US" sz="1600">
              <a:ea typeface="Calibri" panose="020F0502020204030204"/>
              <a:cs typeface="Calibri" panose="020F0502020204030204"/>
            </a:endParaRPr>
          </a:p>
          <a:p>
            <a:pPr marL="285750" indent="-285750" algn="l">
              <a:buFont typeface="Arial"/>
              <a:buChar char="•"/>
            </a:pPr>
            <a:r>
              <a:rPr lang="en-US" sz="1800">
                <a:ea typeface="+mn-lt"/>
                <a:cs typeface="+mn-lt"/>
              </a:rPr>
              <a:t>Latency close to greedy, with no order expiry.</a:t>
            </a:r>
            <a:endParaRPr lang="en-US" sz="1600">
              <a:ea typeface="Calibri" panose="020F0502020204030204"/>
              <a:cs typeface="Calibri" panose="020F0502020204030204"/>
            </a:endParaRPr>
          </a:p>
          <a:p>
            <a:pPr marL="285750" indent="-285750" algn="l">
              <a:buFont typeface="Arial"/>
              <a:buChar char="•"/>
            </a:pPr>
            <a:r>
              <a:rPr lang="en-US" sz="1800">
                <a:ea typeface="+mn-lt"/>
                <a:cs typeface="+mn-lt"/>
              </a:rPr>
              <a:t>No capacity-limit violation, by construction.</a:t>
            </a:r>
            <a:endParaRPr lang="en-US" sz="1600">
              <a:ea typeface="Calibri" panose="020F0502020204030204"/>
              <a:cs typeface="Calibri" panose="020F0502020204030204"/>
            </a:endParaRPr>
          </a:p>
          <a:p>
            <a:pPr marL="285750" indent="-285750" algn="l">
              <a:buFont typeface="Arial"/>
              <a:buChar char="•"/>
            </a:pPr>
            <a:r>
              <a:rPr lang="en-US" sz="1800">
                <a:ea typeface="+mn-lt"/>
                <a:cs typeface="+mn-lt"/>
              </a:rPr>
              <a:t>Fairer waiting times across users.</a:t>
            </a:r>
            <a:endParaRPr lang="en-US" sz="1600">
              <a:ea typeface="Calibri" panose="020F0502020204030204"/>
              <a:cs typeface="Calibri" panose="020F0502020204030204"/>
            </a:endParaRPr>
          </a:p>
        </p:txBody>
      </p:sp>
      <p:sp>
        <p:nvSpPr>
          <p:cNvPr id="16" name="TextBox 15">
            <a:extLst>
              <a:ext uri="{FF2B5EF4-FFF2-40B4-BE49-F238E27FC236}">
                <a16:creationId xmlns:a16="http://schemas.microsoft.com/office/drawing/2014/main" id="{5A723323-746D-9DE6-5936-C58EC4C2F6FB}"/>
              </a:ext>
            </a:extLst>
          </p:cNvPr>
          <p:cNvSpPr txBox="1"/>
          <p:nvPr/>
        </p:nvSpPr>
        <p:spPr>
          <a:xfrm>
            <a:off x="254000" y="4251960"/>
            <a:ext cx="5275943" cy="201168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l">
              <a:buFont typeface="Arial"/>
              <a:buChar char="•"/>
            </a:pPr>
            <a:r>
              <a:rPr lang="en-US" sz="1700" b="1">
                <a:solidFill>
                  <a:srgbClr val="000000"/>
                </a:solidFill>
                <a:ea typeface="+mn-lt"/>
                <a:cs typeface="+mn-lt"/>
              </a:rPr>
              <a:t>Python 3.12:</a:t>
            </a:r>
            <a:r>
              <a:rPr lang="en-US" sz="1700">
                <a:solidFill>
                  <a:srgbClr val="000000"/>
                </a:solidFill>
                <a:ea typeface="+mn-lt"/>
                <a:cs typeface="+mn-lt"/>
              </a:rPr>
              <a:t> simulator, policies, daemon</a:t>
            </a:r>
            <a:endParaRPr lang="en-US" sz="1600">
              <a:ea typeface="+mn-lt"/>
              <a:cs typeface="+mn-lt"/>
            </a:endParaRPr>
          </a:p>
          <a:p>
            <a:pPr marL="285750" indent="-285750" algn="l">
              <a:buFont typeface="Arial"/>
              <a:buChar char="•"/>
            </a:pPr>
            <a:r>
              <a:rPr lang="en-US" sz="1700" b="1">
                <a:solidFill>
                  <a:srgbClr val="000000"/>
                </a:solidFill>
                <a:ea typeface="+mn-lt"/>
                <a:cs typeface="+mn-lt"/>
              </a:rPr>
              <a:t>LightGBM, PyTorch:</a:t>
            </a:r>
            <a:r>
              <a:rPr lang="en-US" sz="1700">
                <a:solidFill>
                  <a:srgbClr val="000000"/>
                </a:solidFill>
                <a:ea typeface="+mn-lt"/>
                <a:cs typeface="+mn-lt"/>
              </a:rPr>
              <a:t> forecaster and DQN</a:t>
            </a:r>
            <a:endParaRPr lang="en-US" sz="1600">
              <a:ea typeface="+mn-lt"/>
              <a:cs typeface="+mn-lt"/>
            </a:endParaRPr>
          </a:p>
          <a:p>
            <a:pPr marL="285750" indent="-285750" algn="l">
              <a:buFont typeface="Arial"/>
              <a:buChar char="•"/>
            </a:pPr>
            <a:r>
              <a:rPr lang="en-US" sz="1700" b="1">
                <a:solidFill>
                  <a:srgbClr val="000000"/>
                </a:solidFill>
                <a:ea typeface="+mn-lt"/>
                <a:cs typeface="+mn-lt"/>
              </a:rPr>
              <a:t>Gymnasium:</a:t>
            </a:r>
            <a:r>
              <a:rPr lang="en-US" sz="1700">
                <a:solidFill>
                  <a:srgbClr val="000000"/>
                </a:solidFill>
                <a:ea typeface="+mn-lt"/>
                <a:cs typeface="+mn-lt"/>
              </a:rPr>
              <a:t> RL environment</a:t>
            </a:r>
            <a:endParaRPr lang="en-US" sz="1600">
              <a:ea typeface="+mn-lt"/>
              <a:cs typeface="+mn-lt"/>
            </a:endParaRPr>
          </a:p>
          <a:p>
            <a:pPr marL="285750" indent="-285750" algn="l">
              <a:buFont typeface="Arial"/>
              <a:buChar char="•"/>
            </a:pPr>
            <a:r>
              <a:rPr lang="en-US" sz="1700" b="1">
                <a:solidFill>
                  <a:srgbClr val="000000"/>
                </a:solidFill>
                <a:ea typeface="+mn-lt"/>
                <a:cs typeface="+mn-lt"/>
              </a:rPr>
              <a:t>Aiken (Plutus V3):</a:t>
            </a:r>
            <a:r>
              <a:rPr lang="en-US" sz="1700">
                <a:solidFill>
                  <a:srgbClr val="000000"/>
                </a:solidFill>
                <a:ea typeface="+mn-lt"/>
                <a:cs typeface="+mn-lt"/>
              </a:rPr>
              <a:t> order and pool validators</a:t>
            </a:r>
            <a:endParaRPr lang="en-US" sz="1600">
              <a:ea typeface="+mn-lt"/>
              <a:cs typeface="+mn-lt"/>
            </a:endParaRPr>
          </a:p>
          <a:p>
            <a:pPr marL="285750" indent="-285750" algn="l">
              <a:buFont typeface="Arial"/>
              <a:buChar char="•"/>
            </a:pPr>
            <a:r>
              <a:rPr lang="en-US" sz="1700" b="1">
                <a:solidFill>
                  <a:srgbClr val="000000"/>
                </a:solidFill>
                <a:ea typeface="+mn-lt"/>
                <a:cs typeface="+mn-lt"/>
              </a:rPr>
              <a:t>PyCardano, Koios, Blockfrost:</a:t>
            </a:r>
            <a:r>
              <a:rPr lang="en-US" sz="1700">
                <a:solidFill>
                  <a:srgbClr val="000000"/>
                </a:solidFill>
                <a:ea typeface="+mn-lt"/>
                <a:cs typeface="+mn-lt"/>
              </a:rPr>
              <a:t> chain access</a:t>
            </a:r>
            <a:endParaRPr lang="en-US" sz="1600">
              <a:ea typeface="+mn-lt"/>
              <a:cs typeface="+mn-lt"/>
            </a:endParaRPr>
          </a:p>
          <a:p>
            <a:pPr marL="285750" indent="-285750" algn="l">
              <a:buFont typeface="Arial"/>
              <a:buChar char="•"/>
            </a:pPr>
            <a:r>
              <a:rPr lang="en-US" sz="1700" b="1">
                <a:solidFill>
                  <a:srgbClr val="000000"/>
                </a:solidFill>
                <a:ea typeface="+mn-lt"/>
                <a:cs typeface="+mn-lt"/>
              </a:rPr>
              <a:t>Cardano preprod:</a:t>
            </a:r>
            <a:r>
              <a:rPr lang="en-US" sz="1700">
                <a:solidFill>
                  <a:srgbClr val="000000"/>
                </a:solidFill>
                <a:ea typeface="+mn-lt"/>
                <a:cs typeface="+mn-lt"/>
              </a:rPr>
              <a:t> live demonstration</a:t>
            </a:r>
            <a:endParaRPr lang="en-US" sz="1600">
              <a:ea typeface="+mn-lt"/>
              <a:cs typeface="+mn-lt"/>
            </a:endParaRPr>
          </a:p>
        </p:txBody>
      </p:sp>
    </p:spTree>
    <p:extLst>
      <p:ext uri="{BB962C8B-B14F-4D97-AF65-F5344CB8AC3E}">
        <p14:creationId xmlns:p14="http://schemas.microsoft.com/office/powerpoint/2010/main" val="9840104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202906E6-579F-F0CC-6C58-F176998A078A}"/>
            </a:ext>
          </a:extLst>
        </p:cNvPr>
        <p:cNvGrpSpPr/>
        <p:nvPr/>
      </p:nvGrpSpPr>
      <p:grpSpPr>
        <a:xfrm>
          <a:off x="0" y="0"/>
          <a:ext cx="0" cy="0"/>
          <a:chOff x="0" y="0"/>
          <a:chExt cx="0" cy="0"/>
        </a:xfrm>
      </p:grpSpPr>
      <p:sp>
        <p:nvSpPr>
          <p:cNvPr id="6" name="Text 2">
            <a:extLst>
              <a:ext uri="{FF2B5EF4-FFF2-40B4-BE49-F238E27FC236}">
                <a16:creationId xmlns:a16="http://schemas.microsoft.com/office/drawing/2014/main" id="{2AC0F742-078E-DB66-C73A-6B1C66E2356E}"/>
              </a:ext>
            </a:extLst>
          </p:cNvPr>
          <p:cNvSpPr/>
          <p:nvPr/>
        </p:nvSpPr>
        <p:spPr>
          <a:xfrm>
            <a:off x="11140135" y="6492240"/>
            <a:ext cx="548640" cy="274320"/>
          </a:xfrm>
          <a:prstGeom prst="rect">
            <a:avLst/>
          </a:prstGeom>
          <a:noFill/>
          <a:ln/>
        </p:spPr>
        <p:txBody>
          <a:bodyPr wrap="square" rtlCol="0" anchor="ctr"/>
          <a:lstStyle/>
          <a:p>
            <a:pPr marL="0" indent="0" algn="r">
              <a:buNone/>
            </a:pPr>
            <a:r>
              <a:rPr lang="en-US" sz="1000" dirty="0">
                <a:solidFill>
                  <a:srgbClr val="595959"/>
                </a:solidFill>
                <a:latin typeface="Calibri" pitchFamily="34" charset="0"/>
                <a:ea typeface="Calibri" pitchFamily="34" charset="-122"/>
                <a:cs typeface="Calibri" pitchFamily="34" charset="-120"/>
              </a:rPr>
              <a:t>15</a:t>
            </a:r>
            <a:endParaRPr lang="en-US" sz="1000" dirty="0"/>
          </a:p>
        </p:txBody>
      </p:sp>
      <p:sp>
        <p:nvSpPr>
          <p:cNvPr id="7" name="Text 3">
            <a:extLst>
              <a:ext uri="{FF2B5EF4-FFF2-40B4-BE49-F238E27FC236}">
                <a16:creationId xmlns:a16="http://schemas.microsoft.com/office/drawing/2014/main" id="{C8300AFB-F4CE-94CD-8136-B962ACB5EFE0}"/>
              </a:ext>
            </a:extLst>
          </p:cNvPr>
          <p:cNvSpPr/>
          <p:nvPr/>
        </p:nvSpPr>
        <p:spPr>
          <a:xfrm>
            <a:off x="517434" y="437607"/>
            <a:ext cx="4748770" cy="566928"/>
          </a:xfrm>
          <a:prstGeom prst="rect">
            <a:avLst/>
          </a:prstGeom>
          <a:noFill/>
          <a:ln/>
        </p:spPr>
        <p:txBody>
          <a:bodyPr wrap="square" lIns="0" tIns="0" rIns="0" bIns="0" rtlCol="0" anchor="ctr"/>
          <a:lstStyle/>
          <a:p>
            <a:pPr marL="0" indent="0" algn="l">
              <a:buNone/>
            </a:pPr>
            <a:r>
              <a:rPr lang="en-US" sz="2800" b="1">
                <a:solidFill>
                  <a:srgbClr val="1F3864"/>
                </a:solidFill>
                <a:ea typeface="Calibri"/>
                <a:cs typeface="Calibri"/>
              </a:rPr>
              <a:t>Conclusion</a:t>
            </a:r>
            <a:endParaRPr lang="en-US" sz="2800" b="1" dirty="0">
              <a:solidFill>
                <a:srgbClr val="1F3864"/>
              </a:solidFill>
              <a:ea typeface="Calibri"/>
              <a:cs typeface="Calibri"/>
            </a:endParaRPr>
          </a:p>
        </p:txBody>
      </p:sp>
      <p:sp>
        <p:nvSpPr>
          <p:cNvPr id="9" name="Text 5">
            <a:extLst>
              <a:ext uri="{FF2B5EF4-FFF2-40B4-BE49-F238E27FC236}">
                <a16:creationId xmlns:a16="http://schemas.microsoft.com/office/drawing/2014/main" id="{18FCF99F-2FEB-3638-4812-F5EFFB550CE0}"/>
              </a:ext>
            </a:extLst>
          </p:cNvPr>
          <p:cNvSpPr/>
          <p:nvPr/>
        </p:nvSpPr>
        <p:spPr>
          <a:xfrm>
            <a:off x="466634" y="1691640"/>
            <a:ext cx="5168386" cy="2011680"/>
          </a:xfrm>
          <a:prstGeom prst="rect">
            <a:avLst/>
          </a:prstGeom>
          <a:noFill/>
          <a:ln/>
        </p:spPr>
        <p:txBody>
          <a:bodyPr wrap="square" lIns="0" tIns="0" rIns="0" bIns="0" rtlCol="0" anchor="t"/>
          <a:lstStyle/>
          <a:p>
            <a:pPr marL="285750" indent="-285750" algn="l">
              <a:buFont typeface="Arial"/>
              <a:buChar char="•"/>
            </a:pPr>
            <a:r>
              <a:rPr lang="en-US" sz="1800">
                <a:ea typeface="+mn-lt"/>
                <a:cs typeface="+mn-lt"/>
              </a:rPr>
              <a:t>eUTXO gives deterministic fees but a single-UTXO concurrency bottleneck.</a:t>
            </a:r>
            <a:endParaRPr lang="en-US" sz="1600">
              <a:ea typeface="Calibri" panose="020F0502020204030204"/>
              <a:cs typeface="Calibri" panose="020F0502020204030204"/>
            </a:endParaRPr>
          </a:p>
          <a:p>
            <a:pPr marL="285750" indent="-285750" algn="l">
              <a:buFont typeface="Arial"/>
              <a:buChar char="•"/>
            </a:pPr>
            <a:r>
              <a:rPr lang="en-US" sz="1800">
                <a:ea typeface="+mn-lt"/>
                <a:cs typeface="+mn-lt"/>
              </a:rPr>
              <a:t>Batching is mandatory; existing batchers use static, congestion-blind rules.</a:t>
            </a:r>
            <a:endParaRPr lang="en-US" sz="1600">
              <a:ea typeface="Calibri" panose="020F0502020204030204"/>
              <a:cs typeface="Calibri" panose="020F0502020204030204"/>
            </a:endParaRPr>
          </a:p>
          <a:p>
            <a:pPr marL="285750" indent="-285750" algn="l">
              <a:buFont typeface="Arial"/>
              <a:buChar char="•"/>
            </a:pPr>
            <a:r>
              <a:rPr lang="en-US" sz="1800">
                <a:ea typeface="+mn-lt"/>
                <a:cs typeface="+mn-lt"/>
              </a:rPr>
              <a:t>RL can learn scheduling policies, but none targets Cardano batching.</a:t>
            </a:r>
            <a:endParaRPr lang="en-US" sz="1600">
              <a:ea typeface="Calibri" panose="020F0502020204030204"/>
              <a:cs typeface="Calibri" panose="020F0502020204030204"/>
            </a:endParaRPr>
          </a:p>
        </p:txBody>
      </p:sp>
      <p:sp>
        <p:nvSpPr>
          <p:cNvPr id="11" name="Text 7">
            <a:extLst>
              <a:ext uri="{FF2B5EF4-FFF2-40B4-BE49-F238E27FC236}">
                <a16:creationId xmlns:a16="http://schemas.microsoft.com/office/drawing/2014/main" id="{84A1AFEC-82BC-D1F7-6B03-9B42EC549138}"/>
              </a:ext>
            </a:extLst>
          </p:cNvPr>
          <p:cNvSpPr/>
          <p:nvPr/>
        </p:nvSpPr>
        <p:spPr>
          <a:xfrm>
            <a:off x="6701819" y="4251960"/>
            <a:ext cx="4986957" cy="2011680"/>
          </a:xfrm>
          <a:prstGeom prst="rect">
            <a:avLst/>
          </a:prstGeom>
          <a:noFill/>
          <a:ln/>
        </p:spPr>
        <p:txBody>
          <a:bodyPr wrap="square" lIns="0" tIns="0" rIns="0" bIns="0" rtlCol="0" anchor="t"/>
          <a:lstStyle/>
          <a:p>
            <a:pPr marL="285750" indent="-285750" algn="l">
              <a:buFont typeface="Arial"/>
              <a:buChar char="•"/>
            </a:pPr>
            <a:r>
              <a:rPr lang="en-US" sz="1800" dirty="0">
                <a:ea typeface="+mn-lt"/>
                <a:cs typeface="+mn-lt"/>
              </a:rPr>
              <a:t>An adaptive batcher (forecaster, constrained optimizer, shielded RL agent) proven in simulation on real mainnet blocks and demonstrated on a preprod DEX.</a:t>
            </a:r>
          </a:p>
        </p:txBody>
      </p:sp>
      <p:sp>
        <p:nvSpPr>
          <p:cNvPr id="2" name="Text 4">
            <a:extLst>
              <a:ext uri="{FF2B5EF4-FFF2-40B4-BE49-F238E27FC236}">
                <a16:creationId xmlns:a16="http://schemas.microsoft.com/office/drawing/2014/main" id="{BCE27191-DB1C-ADFB-F52C-571CF87096B5}"/>
              </a:ext>
            </a:extLst>
          </p:cNvPr>
          <p:cNvSpPr/>
          <p:nvPr/>
        </p:nvSpPr>
        <p:spPr>
          <a:xfrm>
            <a:off x="517433" y="1224278"/>
            <a:ext cx="3136385" cy="365760"/>
          </a:xfrm>
          <a:prstGeom prst="rect">
            <a:avLst/>
          </a:prstGeom>
          <a:noFill/>
          <a:ln/>
        </p:spPr>
        <p:txBody>
          <a:bodyPr wrap="square" lIns="0" tIns="0" rIns="0" bIns="0" rtlCol="0" anchor="ctr"/>
          <a:lstStyle/>
          <a:p>
            <a:r>
              <a:rPr lang="en-US" sz="1600" b="1">
                <a:solidFill>
                  <a:srgbClr val="222222"/>
                </a:solidFill>
                <a:latin typeface="Calibri"/>
              </a:rPr>
              <a:t>Summary of Literature Review :</a:t>
            </a:r>
            <a:endParaRPr lang="en-US" sz="1600" b="1"/>
          </a:p>
        </p:txBody>
      </p:sp>
      <p:sp>
        <p:nvSpPr>
          <p:cNvPr id="3" name="Text 4">
            <a:extLst>
              <a:ext uri="{FF2B5EF4-FFF2-40B4-BE49-F238E27FC236}">
                <a16:creationId xmlns:a16="http://schemas.microsoft.com/office/drawing/2014/main" id="{1E0FD155-28F7-18DC-6C36-52E550CE214D}"/>
              </a:ext>
            </a:extLst>
          </p:cNvPr>
          <p:cNvSpPr/>
          <p:nvPr/>
        </p:nvSpPr>
        <p:spPr>
          <a:xfrm>
            <a:off x="684346" y="3865877"/>
            <a:ext cx="3136385" cy="365760"/>
          </a:xfrm>
          <a:prstGeom prst="rect">
            <a:avLst/>
          </a:prstGeom>
          <a:noFill/>
          <a:ln/>
        </p:spPr>
        <p:txBody>
          <a:bodyPr wrap="square" lIns="0" tIns="0" rIns="0" bIns="0" rtlCol="0" anchor="ctr"/>
          <a:lstStyle/>
          <a:p>
            <a:r>
              <a:rPr lang="en-US" sz="1700" b="1">
                <a:solidFill>
                  <a:srgbClr val="222222"/>
                </a:solidFill>
                <a:ea typeface="+mn-lt"/>
                <a:cs typeface="+mn-lt"/>
              </a:rPr>
              <a:t>Important Observations</a:t>
            </a:r>
            <a:endParaRPr lang="en-US" b="1"/>
          </a:p>
        </p:txBody>
      </p:sp>
      <p:sp>
        <p:nvSpPr>
          <p:cNvPr id="4" name="Text 4">
            <a:extLst>
              <a:ext uri="{FF2B5EF4-FFF2-40B4-BE49-F238E27FC236}">
                <a16:creationId xmlns:a16="http://schemas.microsoft.com/office/drawing/2014/main" id="{3CA916CD-A090-E64D-C373-9D8E738B161A}"/>
              </a:ext>
            </a:extLst>
          </p:cNvPr>
          <p:cNvSpPr/>
          <p:nvPr/>
        </p:nvSpPr>
        <p:spPr>
          <a:xfrm>
            <a:off x="6823888" y="1253305"/>
            <a:ext cx="3136385" cy="365760"/>
          </a:xfrm>
          <a:prstGeom prst="rect">
            <a:avLst/>
          </a:prstGeom>
          <a:noFill/>
          <a:ln/>
        </p:spPr>
        <p:txBody>
          <a:bodyPr wrap="square" lIns="0" tIns="0" rIns="0" bIns="0" rtlCol="0" anchor="ctr"/>
          <a:lstStyle/>
          <a:p>
            <a:r>
              <a:rPr lang="en-US" sz="1700" b="1">
                <a:solidFill>
                  <a:srgbClr val="222222"/>
                </a:solidFill>
                <a:ea typeface="+mn-lt"/>
                <a:cs typeface="+mn-lt"/>
              </a:rPr>
              <a:t>Research Gap Identified</a:t>
            </a:r>
            <a:endParaRPr lang="en-US" b="1"/>
          </a:p>
        </p:txBody>
      </p:sp>
      <p:sp>
        <p:nvSpPr>
          <p:cNvPr id="5" name="Text 4">
            <a:extLst>
              <a:ext uri="{FF2B5EF4-FFF2-40B4-BE49-F238E27FC236}">
                <a16:creationId xmlns:a16="http://schemas.microsoft.com/office/drawing/2014/main" id="{245B2A66-C15F-8E2C-D487-13B04A56F5E2}"/>
              </a:ext>
            </a:extLst>
          </p:cNvPr>
          <p:cNvSpPr/>
          <p:nvPr/>
        </p:nvSpPr>
        <p:spPr>
          <a:xfrm>
            <a:off x="6823886" y="3807818"/>
            <a:ext cx="5008727" cy="394788"/>
          </a:xfrm>
          <a:prstGeom prst="rect">
            <a:avLst/>
          </a:prstGeom>
          <a:noFill/>
          <a:ln/>
        </p:spPr>
        <p:txBody>
          <a:bodyPr wrap="square" lIns="0" tIns="0" rIns="0" bIns="0" rtlCol="0" anchor="ctr"/>
          <a:lstStyle/>
          <a:p>
            <a:r>
              <a:rPr lang="en-US" sz="1700" b="1">
                <a:solidFill>
                  <a:srgbClr val="222222"/>
                </a:solidFill>
                <a:ea typeface="+mn-lt"/>
                <a:cs typeface="+mn-lt"/>
              </a:rPr>
              <a:t>Expected Contribution of the Proposed Work</a:t>
            </a:r>
            <a:endParaRPr lang="en-US" b="1"/>
          </a:p>
        </p:txBody>
      </p:sp>
      <p:sp>
        <p:nvSpPr>
          <p:cNvPr id="15" name="Text 4">
            <a:extLst>
              <a:ext uri="{FF2B5EF4-FFF2-40B4-BE49-F238E27FC236}">
                <a16:creationId xmlns:a16="http://schemas.microsoft.com/office/drawing/2014/main" id="{8C8E9B19-7AC6-3758-B9BB-13318E7B4950}"/>
              </a:ext>
            </a:extLst>
          </p:cNvPr>
          <p:cNvSpPr/>
          <p:nvPr/>
        </p:nvSpPr>
        <p:spPr>
          <a:xfrm>
            <a:off x="6707773" y="1691640"/>
            <a:ext cx="4972442" cy="2011680"/>
          </a:xfrm>
          <a:prstGeom prst="rect">
            <a:avLst/>
          </a:prstGeom>
          <a:noFill/>
          <a:ln/>
        </p:spPr>
        <p:txBody>
          <a:bodyPr wrap="square" lIns="0" tIns="0" rIns="0" bIns="0" rtlCol="0" anchor="t"/>
          <a:lstStyle/>
          <a:p>
            <a:pPr marL="285750" indent="-285750" algn="l">
              <a:buFont typeface="Arial"/>
              <a:buChar char="•"/>
            </a:pPr>
            <a:r>
              <a:rPr lang="en-US" sz="1800">
                <a:ea typeface="+mn-lt"/>
                <a:cs typeface="+mn-lt"/>
              </a:rPr>
              <a:t>No congestion-aware, learning-based batcher optimises latency and per-user cost under Cardano transaction and block limits.</a:t>
            </a:r>
          </a:p>
        </p:txBody>
      </p:sp>
      <p:sp>
        <p:nvSpPr>
          <p:cNvPr id="16" name="TextBox 15">
            <a:extLst>
              <a:ext uri="{FF2B5EF4-FFF2-40B4-BE49-F238E27FC236}">
                <a16:creationId xmlns:a16="http://schemas.microsoft.com/office/drawing/2014/main" id="{25978D22-31B7-BB5C-99C6-DA52832C80F0}"/>
              </a:ext>
            </a:extLst>
          </p:cNvPr>
          <p:cNvSpPr txBox="1"/>
          <p:nvPr/>
        </p:nvSpPr>
        <p:spPr>
          <a:xfrm>
            <a:off x="254000" y="4251960"/>
            <a:ext cx="5275943" cy="201168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l">
              <a:buFont typeface="Arial"/>
              <a:buChar char="•"/>
            </a:pPr>
            <a:r>
              <a:rPr lang="en-US" sz="1800">
                <a:solidFill>
                  <a:srgbClr val="000000"/>
                </a:solidFill>
                <a:ea typeface="+mn-lt"/>
                <a:cs typeface="+mn-lt"/>
              </a:rPr>
              <a:t>Cardano fees are deterministic: delay costs time, not money.</a:t>
            </a:r>
            <a:endParaRPr lang="en-US" sz="1600">
              <a:ea typeface="Calibri" panose="020F0502020204030204"/>
              <a:cs typeface="Calibri" panose="020F0502020204030204"/>
            </a:endParaRPr>
          </a:p>
          <a:p>
            <a:pPr marL="285750" indent="-285750" algn="l">
              <a:buFont typeface="Arial"/>
              <a:buChar char="•"/>
            </a:pPr>
            <a:r>
              <a:rPr lang="en-US" sz="1800">
                <a:solidFill>
                  <a:srgbClr val="000000"/>
                </a:solidFill>
                <a:ea typeface="+mn-lt"/>
                <a:cs typeface="+mn-lt"/>
              </a:rPr>
              <a:t>Measured: median block fill is 3.0%; concurrency, not congestion, binds.</a:t>
            </a:r>
            <a:endParaRPr lang="en-US" sz="1600">
              <a:ea typeface="Calibri" panose="020F0502020204030204"/>
              <a:cs typeface="Calibri" panose="020F0502020204030204"/>
            </a:endParaRPr>
          </a:p>
          <a:p>
            <a:pPr marL="285750" indent="-285750" algn="l">
              <a:buFont typeface="Arial"/>
              <a:buChar char="•"/>
            </a:pPr>
            <a:r>
              <a:rPr lang="en-US" sz="1800">
                <a:solidFill>
                  <a:srgbClr val="000000"/>
                </a:solidFill>
                <a:ea typeface="+mn-lt"/>
                <a:cs typeface="+mn-lt"/>
              </a:rPr>
              <a:t>Capacity binds in only about 1 block in 180.</a:t>
            </a:r>
            <a:endParaRPr lang="en-US" sz="1600">
              <a:ea typeface="Calibri" panose="020F0502020204030204"/>
              <a:cs typeface="Calibri" panose="020F0502020204030204"/>
            </a:endParaRPr>
          </a:p>
        </p:txBody>
      </p:sp>
    </p:spTree>
    <p:extLst>
      <p:ext uri="{BB962C8B-B14F-4D97-AF65-F5344CB8AC3E}">
        <p14:creationId xmlns:p14="http://schemas.microsoft.com/office/powerpoint/2010/main" val="16748392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0" y="292608"/>
            <a:ext cx="12191695" cy="320040"/>
          </a:xfrm>
          <a:prstGeom prst="rect">
            <a:avLst/>
          </a:prstGeom>
          <a:noFill/>
          <a:ln/>
        </p:spPr>
        <p:txBody>
          <a:bodyPr wrap="square" rtlCol="0" anchor="ctr"/>
          <a:lstStyle/>
          <a:p>
            <a:pPr marL="0" indent="0" algn="ctr">
              <a:buNone/>
            </a:pPr>
            <a:endParaRPr lang="en-US" sz="2400" dirty="0">
              <a:latin typeface="Times New Roman" panose="02020603050405020304" pitchFamily="18" charset="0"/>
              <a:cs typeface="Times New Roman" panose="02020603050405020304" pitchFamily="18" charset="0"/>
            </a:endParaRPr>
          </a:p>
        </p:txBody>
      </p:sp>
      <p:sp>
        <p:nvSpPr>
          <p:cNvPr id="6" name="Text 2"/>
          <p:cNvSpPr/>
          <p:nvPr/>
        </p:nvSpPr>
        <p:spPr>
          <a:xfrm>
            <a:off x="11140135" y="6492240"/>
            <a:ext cx="548640" cy="274320"/>
          </a:xfrm>
          <a:prstGeom prst="rect">
            <a:avLst/>
          </a:prstGeom>
          <a:noFill/>
          <a:ln/>
        </p:spPr>
        <p:txBody>
          <a:bodyPr wrap="square" rtlCol="0" anchor="ctr"/>
          <a:lstStyle/>
          <a:p>
            <a:pPr marL="0" indent="0" algn="r">
              <a:buNone/>
            </a:pPr>
            <a:r>
              <a:rPr lang="en-US" sz="1000" dirty="0">
                <a:solidFill>
                  <a:srgbClr val="595959"/>
                </a:solidFill>
                <a:latin typeface="Calibri" pitchFamily="34" charset="0"/>
                <a:ea typeface="Calibri" pitchFamily="34" charset="-122"/>
                <a:cs typeface="Calibri" pitchFamily="34" charset="-120"/>
              </a:rPr>
              <a:t>16</a:t>
            </a:r>
            <a:endParaRPr lang="en-US" sz="1000" dirty="0"/>
          </a:p>
        </p:txBody>
      </p:sp>
      <p:sp>
        <p:nvSpPr>
          <p:cNvPr id="7" name="Text 3"/>
          <p:cNvSpPr/>
          <p:nvPr/>
        </p:nvSpPr>
        <p:spPr>
          <a:xfrm>
            <a:off x="502920" y="960120"/>
            <a:ext cx="11185855" cy="566928"/>
          </a:xfrm>
          <a:prstGeom prst="rect">
            <a:avLst/>
          </a:prstGeom>
          <a:noFill/>
          <a:ln/>
        </p:spPr>
        <p:txBody>
          <a:bodyPr wrap="square" lIns="0" tIns="0" rIns="0" bIns="0" rtlCol="0" anchor="ctr"/>
          <a:lstStyle/>
          <a:p>
            <a:pPr marL="0" indent="0" algn="l">
              <a:buNone/>
            </a:pPr>
            <a:r>
              <a:rPr lang="en-US" sz="2800" b="1" dirty="0">
                <a:solidFill>
                  <a:srgbClr val="1F3864"/>
                </a:solidFill>
                <a:latin typeface="Calibri" pitchFamily="34" charset="0"/>
                <a:ea typeface="Calibri" pitchFamily="34" charset="-122"/>
                <a:cs typeface="Calibri" pitchFamily="34" charset="-120"/>
              </a:rPr>
              <a:t>References</a:t>
            </a:r>
            <a:endParaRPr lang="en-US" sz="2800" dirty="0"/>
          </a:p>
        </p:txBody>
      </p:sp>
      <p:sp>
        <p:nvSpPr>
          <p:cNvPr id="8" name="Text 4"/>
          <p:cNvSpPr/>
          <p:nvPr/>
        </p:nvSpPr>
        <p:spPr>
          <a:xfrm>
            <a:off x="502920" y="1828800"/>
            <a:ext cx="11185855" cy="4023360"/>
          </a:xfrm>
          <a:prstGeom prst="rect">
            <a:avLst/>
          </a:prstGeom>
          <a:noFill/>
          <a:ln/>
        </p:spPr>
        <p:txBody>
          <a:bodyPr wrap="square" lIns="0" tIns="0" rIns="0" bIns="0" rtlCol="0" anchor="t"/>
          <a:lstStyle/>
          <a:p>
            <a:pPr algn="just">
              <a:spcAft>
                <a:spcPts val="700"/>
              </a:spcAft>
            </a:pPr>
            <a:r>
              <a:rPr lang="en-US" sz="1600" dirty="0">
                <a:solidFill>
                  <a:srgbClr val="222222"/>
                </a:solidFill>
                <a:latin typeface="Calibri"/>
                <a:ea typeface="Calibri"/>
                <a:cs typeface="Calibri"/>
              </a:rPr>
              <a:t>[1]  M. Chakravarty, J. Chapman, K. MacKenzie, O. Melkonian, M. Peyton Jones and P. Wadler, "The Extended UTXO Model," in Financial Cryptography and Data Security Workshops (FC), 2020.</a:t>
            </a:r>
            <a:endParaRPr lang="en-US" sz="1600">
              <a:ea typeface="+mn-lt"/>
              <a:cs typeface="+mn-lt"/>
            </a:endParaRPr>
          </a:p>
          <a:p>
            <a:pPr algn="just">
              <a:spcAft>
                <a:spcPts val="700"/>
              </a:spcAft>
            </a:pPr>
            <a:r>
              <a:rPr lang="en-US" sz="1600" dirty="0">
                <a:solidFill>
                  <a:srgbClr val="222222"/>
                </a:solidFill>
                <a:latin typeface="Calibri"/>
                <a:ea typeface="Calibri"/>
                <a:cs typeface="Calibri"/>
              </a:rPr>
              <a:t>[2]  H. Nguyen Quang (MELD), "Concurrent &amp; Deterministic Batching on the UTXO Ledger," MELD Technical Report, 2021.</a:t>
            </a:r>
            <a:endParaRPr lang="en-US" sz="1600">
              <a:ea typeface="+mn-lt"/>
              <a:cs typeface="+mn-lt"/>
            </a:endParaRPr>
          </a:p>
          <a:p>
            <a:pPr algn="just">
              <a:spcAft>
                <a:spcPts val="700"/>
              </a:spcAft>
            </a:pPr>
            <a:r>
              <a:rPr lang="en-US" sz="1600" dirty="0">
                <a:solidFill>
                  <a:srgbClr val="222222"/>
                </a:solidFill>
                <a:latin typeface="Calibri"/>
                <a:ea typeface="Calibri"/>
                <a:cs typeface="Calibri"/>
              </a:rPr>
              <a:t>[3]  P. Bruhwiler, "A Concurrent DEX on Cardano," B.Sc. thesis, University of Bern, 2021.</a:t>
            </a:r>
            <a:endParaRPr lang="en-US" sz="1600">
              <a:ea typeface="+mn-lt"/>
              <a:cs typeface="+mn-lt"/>
            </a:endParaRPr>
          </a:p>
          <a:p>
            <a:pPr algn="just">
              <a:spcAft>
                <a:spcPts val="700"/>
              </a:spcAft>
            </a:pPr>
            <a:r>
              <a:rPr lang="en-US" sz="1600" dirty="0">
                <a:solidFill>
                  <a:srgbClr val="222222"/>
                </a:solidFill>
                <a:latin typeface="Calibri"/>
                <a:ea typeface="Calibri"/>
                <a:cs typeface="Calibri"/>
              </a:rPr>
              <a:t>[4]  T. Roughgarden, "Transaction Fee Mechanism Design: An Economic Analysis of EIP-1559," in Proc. ACM EC, 2021.</a:t>
            </a:r>
            <a:endParaRPr lang="en-US" sz="1600">
              <a:ea typeface="+mn-lt"/>
              <a:cs typeface="+mn-lt"/>
            </a:endParaRPr>
          </a:p>
          <a:p>
            <a:pPr algn="just">
              <a:spcAft>
                <a:spcPts val="700"/>
              </a:spcAft>
            </a:pPr>
            <a:r>
              <a:rPr lang="en-US" sz="1600" dirty="0">
                <a:solidFill>
                  <a:srgbClr val="222222"/>
                </a:solidFill>
                <a:latin typeface="Calibri"/>
                <a:ea typeface="Calibri"/>
                <a:cs typeface="Calibri"/>
              </a:rPr>
              <a:t>[5]  H. Mao, M. Alizadeh, I. Menache and S. Kandula, "Resource Management with Deep Reinforcement Learning," in Proc. ACM HotNets, 2016.</a:t>
            </a:r>
            <a:endParaRPr lang="en-US" sz="1600">
              <a:ea typeface="+mn-lt"/>
              <a:cs typeface="+mn-lt"/>
            </a:endParaRPr>
          </a:p>
          <a:p>
            <a:pPr algn="just">
              <a:spcAft>
                <a:spcPts val="700"/>
              </a:spcAft>
            </a:pPr>
            <a:r>
              <a:rPr lang="en-US" sz="1600" dirty="0">
                <a:solidFill>
                  <a:srgbClr val="222222"/>
                </a:solidFill>
                <a:latin typeface="Calibri"/>
                <a:ea typeface="Calibri"/>
                <a:cs typeface="Calibri"/>
              </a:rPr>
              <a:t>[6]  G. Angeris and T. Chitra, "Improved Price Oracles: Constant Function Market Makers," in Proc. ACM AFT, 2020.</a:t>
            </a:r>
            <a:endParaRPr lang="en-US" sz="1600">
              <a:ea typeface="+mn-lt"/>
              <a:cs typeface="+mn-lt"/>
            </a:endParaRPr>
          </a:p>
        </p:txBody>
      </p:sp>
    </p:spTree>
    <p:extLst>
      <p:ext uri="{BB962C8B-B14F-4D97-AF65-F5344CB8AC3E}">
        <p14:creationId xmlns:p14="http://schemas.microsoft.com/office/powerpoint/2010/main" val="13015386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883CEF-797A-4BF4-3EC7-60FCF7D4109A}"/>
            </a:ext>
          </a:extLst>
        </p:cNvPr>
        <p:cNvGrpSpPr/>
        <p:nvPr/>
      </p:nvGrpSpPr>
      <p:grpSpPr>
        <a:xfrm>
          <a:off x="0" y="0"/>
          <a:ext cx="0" cy="0"/>
          <a:chOff x="0" y="0"/>
          <a:chExt cx="0" cy="0"/>
        </a:xfrm>
      </p:grpSpPr>
      <p:sp>
        <p:nvSpPr>
          <p:cNvPr id="9" name="Text 3">
            <a:extLst>
              <a:ext uri="{FF2B5EF4-FFF2-40B4-BE49-F238E27FC236}">
                <a16:creationId xmlns:a16="http://schemas.microsoft.com/office/drawing/2014/main" id="{A7A8D6C6-8197-63FA-656E-1F5D384C00D8}"/>
              </a:ext>
            </a:extLst>
          </p:cNvPr>
          <p:cNvSpPr/>
          <p:nvPr/>
        </p:nvSpPr>
        <p:spPr>
          <a:xfrm>
            <a:off x="626185" y="463432"/>
            <a:ext cx="5936913" cy="298413"/>
          </a:xfrm>
          <a:prstGeom prst="rect">
            <a:avLst/>
          </a:prstGeom>
          <a:noFill/>
          <a:ln/>
        </p:spPr>
        <p:txBody>
          <a:bodyPr wrap="square" lIns="0" tIns="0" rIns="0" bIns="0" rtlCol="0" anchor="ctr"/>
          <a:lstStyle/>
          <a:p>
            <a:r>
              <a:rPr lang="en-US" sz="2800" b="1">
                <a:solidFill>
                  <a:srgbClr val="1F3864"/>
                </a:solidFill>
                <a:latin typeface="Calibri"/>
                <a:ea typeface="Calibri"/>
                <a:cs typeface="Calibri"/>
              </a:rPr>
              <a:t>Modules of the System</a:t>
            </a:r>
            <a:endParaRPr lang="en-US" sz="2800" b="1" dirty="0">
              <a:solidFill>
                <a:srgbClr val="1F3864"/>
              </a:solidFill>
              <a:latin typeface="Calibri"/>
              <a:ea typeface="Calibri"/>
              <a:cs typeface="Calibri"/>
            </a:endParaRPr>
          </a:p>
        </p:txBody>
      </p:sp>
      <p:sp>
        <p:nvSpPr>
          <p:cNvPr id="10" name="TextBox 9">
            <a:extLst>
              <a:ext uri="{FF2B5EF4-FFF2-40B4-BE49-F238E27FC236}">
                <a16:creationId xmlns:a16="http://schemas.microsoft.com/office/drawing/2014/main" id="{0634DAFC-BB8F-4A3C-EAB5-49E2E04C7CF6}"/>
              </a:ext>
            </a:extLst>
          </p:cNvPr>
          <p:cNvSpPr txBox="1"/>
          <p:nvPr/>
        </p:nvSpPr>
        <p:spPr>
          <a:xfrm>
            <a:off x="437030" y="997324"/>
            <a:ext cx="11418792" cy="600484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lnSpc>
                <a:spcPct val="150000"/>
              </a:lnSpc>
              <a:buFont typeface="Arial"/>
              <a:buChar char="•"/>
            </a:pPr>
            <a:r>
              <a:rPr lang="en-US" sz="1600" b="1">
                <a:ea typeface="+mn-lt"/>
                <a:cs typeface="+mn-lt"/>
              </a:rPr>
              <a:t>M1  Chain Data Collector</a:t>
            </a:r>
            <a:endParaRPr lang="en-US" sz="1600">
              <a:ea typeface="+mn-lt"/>
              <a:cs typeface="+mn-lt"/>
            </a:endParaRPr>
          </a:p>
          <a:p>
            <a:pPr algn="just">
              <a:lnSpc>
                <a:spcPct val="150000"/>
              </a:lnSpc>
            </a:pPr>
            <a:r>
              <a:rPr lang="en-US" sz="1600">
                <a:ea typeface="+mn-lt"/>
                <a:cs typeface="+mn-lt"/>
              </a:rPr>
              <a:t>Polls mainnet blocks from Koios / Blockfrost and derives the block-fill time series (dataset D1).</a:t>
            </a:r>
          </a:p>
          <a:p>
            <a:pPr marL="285750" indent="-285750" algn="just">
              <a:lnSpc>
                <a:spcPct val="150000"/>
              </a:lnSpc>
              <a:buFont typeface="Arial"/>
              <a:buChar char="•"/>
            </a:pPr>
            <a:r>
              <a:rPr lang="en-US" sz="1600" b="1">
                <a:ea typeface="+mn-lt"/>
                <a:cs typeface="+mn-lt"/>
              </a:rPr>
              <a:t>M2  Congestion Forecaster</a:t>
            </a:r>
            <a:endParaRPr lang="en-US" sz="1600">
              <a:ea typeface="+mn-lt"/>
              <a:cs typeface="+mn-lt"/>
            </a:endParaRPr>
          </a:p>
          <a:p>
            <a:pPr algn="just">
              <a:lnSpc>
                <a:spcPct val="150000"/>
              </a:lnSpc>
            </a:pPr>
            <a:r>
              <a:rPr lang="en-US" sz="1600">
                <a:ea typeface="+mn-lt"/>
                <a:cs typeface="+mn-lt"/>
              </a:rPr>
              <a:t>LightGBM predicts the fill of the next three blocks; a moving average is kept as the reference.</a:t>
            </a:r>
          </a:p>
          <a:p>
            <a:pPr marL="285750" indent="-285750" algn="just">
              <a:lnSpc>
                <a:spcPct val="150000"/>
              </a:lnSpc>
              <a:buFont typeface="Arial"/>
              <a:buChar char="•"/>
            </a:pPr>
            <a:r>
              <a:rPr lang="en-US" sz="1600" b="1">
                <a:ea typeface="+mn-lt"/>
                <a:cs typeface="+mn-lt"/>
              </a:rPr>
              <a:t>M3 + M4  Order Queue and Adaptive Policy</a:t>
            </a:r>
            <a:endParaRPr lang="en-US" sz="1600">
              <a:ea typeface="+mn-lt"/>
              <a:cs typeface="+mn-lt"/>
            </a:endParaRPr>
          </a:p>
          <a:p>
            <a:pPr algn="just">
              <a:lnSpc>
                <a:spcPct val="150000"/>
              </a:lnSpc>
            </a:pPr>
            <a:r>
              <a:rPr lang="en-US" sz="1600">
                <a:ea typeface="+mn-lt"/>
                <a:cs typeface="+mn-lt"/>
              </a:rPr>
              <a:t>Tracks pending orders; chooses WAIT or SUBMIT(n) with the optimizer (P2) or the shielded DQN agent (P3).</a:t>
            </a:r>
          </a:p>
          <a:p>
            <a:pPr marL="285750" indent="-285750" algn="just">
              <a:lnSpc>
                <a:spcPct val="150000"/>
              </a:lnSpc>
              <a:buFont typeface="Arial"/>
              <a:buChar char="•"/>
            </a:pPr>
            <a:r>
              <a:rPr lang="en-US" sz="1600" b="1">
                <a:ea typeface="+mn-lt"/>
                <a:cs typeface="+mn-lt"/>
              </a:rPr>
              <a:t>M5  Batch Builder &amp; Submitter</a:t>
            </a:r>
            <a:endParaRPr lang="en-US" sz="1600">
              <a:ea typeface="+mn-lt"/>
              <a:cs typeface="+mn-lt"/>
            </a:endParaRPr>
          </a:p>
          <a:p>
            <a:pPr algn="just">
              <a:lnSpc>
                <a:spcPct val="150000"/>
              </a:lnSpc>
            </a:pPr>
            <a:r>
              <a:rPr lang="en-US" sz="1600">
                <a:ea typeface="+mn-lt"/>
                <a:cs typeface="+mn-lt"/>
              </a:rPr>
              <a:t>Re-checks Gate A, builds and signs the batch transaction, submits it, and records the outcome.</a:t>
            </a:r>
          </a:p>
          <a:p>
            <a:pPr marL="285750" indent="-285750" algn="just">
              <a:lnSpc>
                <a:spcPct val="150000"/>
              </a:lnSpc>
              <a:buFont typeface="Arial"/>
              <a:buChar char="•"/>
            </a:pPr>
            <a:r>
              <a:rPr lang="en-US" sz="1600" b="1">
                <a:ea typeface="+mn-lt"/>
                <a:cs typeface="+mn-lt"/>
              </a:rPr>
              <a:t>M6  Simulator &amp; Evaluation</a:t>
            </a:r>
            <a:endParaRPr lang="en-US" sz="1600">
              <a:ea typeface="+mn-lt"/>
              <a:cs typeface="+mn-lt"/>
            </a:endParaRPr>
          </a:p>
          <a:p>
            <a:pPr algn="just">
              <a:lnSpc>
                <a:spcPct val="150000"/>
              </a:lnSpc>
            </a:pPr>
            <a:r>
              <a:rPr lang="en-US" sz="1600">
                <a:ea typeface="+mn-lt"/>
                <a:cs typeface="+mn-lt"/>
              </a:rPr>
              <a:t>Replays real blocks with a pool lock, expiry and rollbacks; runs baselines and paired statistics.</a:t>
            </a:r>
          </a:p>
          <a:p>
            <a:pPr marL="285750" indent="-285750" algn="just">
              <a:lnSpc>
                <a:spcPct val="150000"/>
              </a:lnSpc>
              <a:buFont typeface="Arial"/>
              <a:buChar char="•"/>
            </a:pPr>
            <a:r>
              <a:rPr lang="en-US" sz="1600" b="1">
                <a:ea typeface="+mn-lt"/>
                <a:cs typeface="+mn-lt"/>
              </a:rPr>
              <a:t>M7  On-chain DEX (demo)</a:t>
            </a:r>
            <a:endParaRPr lang="en-US" sz="1600">
              <a:ea typeface="+mn-lt"/>
              <a:cs typeface="+mn-lt"/>
            </a:endParaRPr>
          </a:p>
          <a:p>
            <a:pPr algn="just">
              <a:lnSpc>
                <a:spcPct val="150000"/>
              </a:lnSpc>
            </a:pPr>
            <a:r>
              <a:rPr lang="en-US" sz="1600">
                <a:ea typeface="+mn-lt"/>
                <a:cs typeface="+mn-lt"/>
              </a:rPr>
              <a:t>Minimal Aiken order and pool validators on the Cardano preprod testnet.</a:t>
            </a:r>
          </a:p>
        </p:txBody>
      </p:sp>
    </p:spTree>
    <p:extLst>
      <p:ext uri="{BB962C8B-B14F-4D97-AF65-F5344CB8AC3E}">
        <p14:creationId xmlns:p14="http://schemas.microsoft.com/office/powerpoint/2010/main" val="42843555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3">
            <a:extLst>
              <a:ext uri="{FF2B5EF4-FFF2-40B4-BE49-F238E27FC236}">
                <a16:creationId xmlns:a16="http://schemas.microsoft.com/office/drawing/2014/main" id="{F04763C5-E44A-5A08-ACFE-93FF2A335145}"/>
              </a:ext>
            </a:extLst>
          </p:cNvPr>
          <p:cNvSpPr/>
          <p:nvPr/>
        </p:nvSpPr>
        <p:spPr>
          <a:xfrm>
            <a:off x="671008" y="575491"/>
            <a:ext cx="4043119" cy="298413"/>
          </a:xfrm>
          <a:prstGeom prst="rect">
            <a:avLst/>
          </a:prstGeom>
          <a:noFill/>
          <a:ln/>
        </p:spPr>
        <p:txBody>
          <a:bodyPr wrap="square" lIns="0" tIns="0" rIns="0" bIns="0" rtlCol="0" anchor="ctr"/>
          <a:lstStyle/>
          <a:p>
            <a:r>
              <a:rPr lang="en-US" sz="2800" b="1">
                <a:solidFill>
                  <a:srgbClr val="1F3864"/>
                </a:solidFill>
                <a:latin typeface="Calibri"/>
                <a:ea typeface="Calibri"/>
                <a:cs typeface="Calibri"/>
              </a:rPr>
              <a:t>System Architecture :</a:t>
            </a:r>
          </a:p>
        </p:txBody>
      </p:sp>
      <p:pic>
        <p:nvPicPr>
          <p:cNvPr id="10" name="Picture 9">
            <a:extLst>
              <a:ext uri="{FF2B5EF4-FFF2-40B4-BE49-F238E27FC236}">
                <a16:creationId xmlns:a16="http://schemas.microsoft.com/office/drawing/2014/main" id="{B76F1A5D-C184-34E8-20B0-309DCF4EB9A9}"/>
              </a:ext>
            </a:extLst>
          </p:cNvPr>
          <p:cNvPicPr>
            <a:picLocks noChangeAspect="1"/>
          </p:cNvPicPr>
          <p:nvPr/>
        </p:nvPicPr>
        <p:blipFill>
          <a:blip r:embed="rId2"/>
          <a:stretch>
            <a:fillRect/>
          </a:stretch>
        </p:blipFill>
        <p:spPr>
          <a:xfrm>
            <a:off x="822960" y="1051560"/>
            <a:ext cx="10515600" cy="5742432"/>
          </a:xfrm>
          <a:prstGeom prst="rect">
            <a:avLst/>
          </a:prstGeom>
        </p:spPr>
      </p:pic>
    </p:spTree>
    <p:extLst>
      <p:ext uri="{BB962C8B-B14F-4D97-AF65-F5344CB8AC3E}">
        <p14:creationId xmlns:p14="http://schemas.microsoft.com/office/powerpoint/2010/main" val="1716405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883CEF-797A-4BF4-3EC7-60FCF7D4109A}"/>
            </a:ext>
          </a:extLst>
        </p:cNvPr>
        <p:cNvGrpSpPr/>
        <p:nvPr/>
      </p:nvGrpSpPr>
      <p:grpSpPr>
        <a:xfrm>
          <a:off x="0" y="0"/>
          <a:ext cx="0" cy="0"/>
          <a:chOff x="0" y="0"/>
          <a:chExt cx="0" cy="0"/>
        </a:xfrm>
      </p:grpSpPr>
      <p:sp>
        <p:nvSpPr>
          <p:cNvPr id="9" name="Text 3">
            <a:extLst>
              <a:ext uri="{FF2B5EF4-FFF2-40B4-BE49-F238E27FC236}">
                <a16:creationId xmlns:a16="http://schemas.microsoft.com/office/drawing/2014/main" id="{A7A8D6C6-8197-63FA-656E-1F5D384C00D8}"/>
              </a:ext>
            </a:extLst>
          </p:cNvPr>
          <p:cNvSpPr/>
          <p:nvPr/>
        </p:nvSpPr>
        <p:spPr>
          <a:xfrm>
            <a:off x="794273" y="1034932"/>
            <a:ext cx="5936913" cy="298413"/>
          </a:xfrm>
          <a:prstGeom prst="rect">
            <a:avLst/>
          </a:prstGeom>
          <a:noFill/>
          <a:ln/>
        </p:spPr>
        <p:txBody>
          <a:bodyPr wrap="square" lIns="0" tIns="0" rIns="0" bIns="0" rtlCol="0" anchor="ctr"/>
          <a:lstStyle/>
          <a:p>
            <a:r>
              <a:rPr lang="en-US" sz="2800" b="1">
                <a:solidFill>
                  <a:srgbClr val="1F3864"/>
                </a:solidFill>
                <a:latin typeface="Calibri"/>
                <a:ea typeface="Calibri"/>
                <a:cs typeface="Calibri"/>
              </a:rPr>
              <a:t>Merits of the Proposed System</a:t>
            </a:r>
            <a:endParaRPr lang="en-US" sz="2800" b="1" dirty="0">
              <a:solidFill>
                <a:srgbClr val="1F3864"/>
              </a:solidFill>
              <a:latin typeface="Calibri"/>
              <a:ea typeface="Calibri"/>
              <a:cs typeface="Calibri"/>
            </a:endParaRPr>
          </a:p>
        </p:txBody>
      </p:sp>
      <p:sp>
        <p:nvSpPr>
          <p:cNvPr id="10" name="TextBox 9">
            <a:extLst>
              <a:ext uri="{FF2B5EF4-FFF2-40B4-BE49-F238E27FC236}">
                <a16:creationId xmlns:a16="http://schemas.microsoft.com/office/drawing/2014/main" id="{0634DAFC-BB8F-4A3C-EAB5-49E2E04C7CF6}"/>
              </a:ext>
            </a:extLst>
          </p:cNvPr>
          <p:cNvSpPr txBox="1"/>
          <p:nvPr/>
        </p:nvSpPr>
        <p:spPr>
          <a:xfrm>
            <a:off x="347383" y="1714500"/>
            <a:ext cx="11486027" cy="337335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lnSpc>
                <a:spcPct val="150000"/>
              </a:lnSpc>
              <a:buFont typeface="Arial"/>
              <a:buChar char="•"/>
            </a:pPr>
            <a:r>
              <a:rPr lang="en-US" b="1">
                <a:ea typeface="+mn-lt"/>
                <a:cs typeface="+mn-lt"/>
              </a:rPr>
              <a:t>Congestion-aware:</a:t>
            </a:r>
            <a:r>
              <a:rPr lang="en-US">
                <a:ea typeface="+mn-lt"/>
                <a:cs typeface="+mn-lt"/>
              </a:rPr>
              <a:t> decisions use the forecast and queue state instead of constant triggers.</a:t>
            </a:r>
            <a:endParaRPr lang="en-US">
              <a:ea typeface="Calibri" panose="020F0502020204030204"/>
              <a:cs typeface="Calibri" panose="020F0502020204030204"/>
            </a:endParaRPr>
          </a:p>
          <a:p>
            <a:pPr marL="285750" indent="-285750" algn="just">
              <a:lnSpc>
                <a:spcPct val="150000"/>
              </a:lnSpc>
              <a:buFont typeface="Arial"/>
              <a:buChar char="•"/>
            </a:pPr>
            <a:r>
              <a:rPr lang="en-US" b="1">
                <a:ea typeface="+mn-lt"/>
                <a:cs typeface="+mn-lt"/>
              </a:rPr>
              <a:t>Hard safety:</a:t>
            </a:r>
            <a:r>
              <a:rPr lang="en-US">
                <a:ea typeface="+mn-lt"/>
                <a:cs typeface="+mn-lt"/>
              </a:rPr>
              <a:t> Gate A and Gate B are enforced structurally, so an infeasible batch is never proposed.</a:t>
            </a:r>
            <a:endParaRPr lang="en-US">
              <a:ea typeface="Calibri" panose="020F0502020204030204"/>
              <a:cs typeface="Calibri" panose="020F0502020204030204"/>
            </a:endParaRPr>
          </a:p>
          <a:p>
            <a:pPr marL="285750" indent="-285750" algn="just">
              <a:lnSpc>
                <a:spcPct val="150000"/>
              </a:lnSpc>
              <a:buFont typeface="Arial"/>
              <a:buChar char="•"/>
            </a:pPr>
            <a:r>
              <a:rPr lang="en-US" b="1">
                <a:ea typeface="+mn-lt"/>
                <a:cs typeface="+mn-lt"/>
              </a:rPr>
              <a:t>Explainable:</a:t>
            </a:r>
            <a:r>
              <a:rPr lang="en-US">
                <a:ea typeface="+mn-lt"/>
                <a:cs typeface="+mn-lt"/>
              </a:rPr>
              <a:t> the optimizer is a deterministic O(|Q|) rule that also shields the RL agent.</a:t>
            </a:r>
            <a:endParaRPr lang="en-US">
              <a:ea typeface="Calibri" panose="020F0502020204030204"/>
              <a:cs typeface="Calibri" panose="020F0502020204030204"/>
            </a:endParaRPr>
          </a:p>
          <a:p>
            <a:pPr marL="285750" indent="-285750" algn="just">
              <a:lnSpc>
                <a:spcPct val="150000"/>
              </a:lnSpc>
              <a:buFont typeface="Arial"/>
              <a:buChar char="•"/>
            </a:pPr>
            <a:r>
              <a:rPr lang="en-US" b="1">
                <a:ea typeface="+mn-lt"/>
                <a:cs typeface="+mn-lt"/>
              </a:rPr>
              <a:t>Lower cost:</a:t>
            </a:r>
            <a:r>
              <a:rPr lang="en-US">
                <a:ea typeface="+mn-lt"/>
                <a:cs typeface="+mn-lt"/>
              </a:rPr>
              <a:t> about 19% less cost per user than greedy batching at matched load.</a:t>
            </a:r>
            <a:endParaRPr lang="en-US">
              <a:ea typeface="Calibri" panose="020F0502020204030204"/>
              <a:cs typeface="Calibri" panose="020F0502020204030204"/>
            </a:endParaRPr>
          </a:p>
          <a:p>
            <a:pPr marL="285750" indent="-285750" algn="just">
              <a:lnSpc>
                <a:spcPct val="150000"/>
              </a:lnSpc>
              <a:buFont typeface="Arial"/>
              <a:buChar char="•"/>
            </a:pPr>
            <a:r>
              <a:rPr lang="en-US" b="1">
                <a:ea typeface="+mn-lt"/>
                <a:cs typeface="+mn-lt"/>
              </a:rPr>
              <a:t>Robust:</a:t>
            </a:r>
            <a:r>
              <a:rPr lang="en-US">
                <a:ea typeface="+mn-lt"/>
                <a:cs typeface="+mn-lt"/>
              </a:rPr>
              <a:t> poison-order quarantine, API failover, rollback depth and uniform clearing.</a:t>
            </a:r>
            <a:endParaRPr lang="en-US">
              <a:ea typeface="Calibri" panose="020F0502020204030204"/>
              <a:cs typeface="Calibri" panose="020F0502020204030204"/>
            </a:endParaRPr>
          </a:p>
          <a:p>
            <a:pPr marL="285750" indent="-285750" algn="just">
              <a:lnSpc>
                <a:spcPct val="150000"/>
              </a:lnSpc>
              <a:buFont typeface="Arial"/>
              <a:buChar char="•"/>
            </a:pPr>
            <a:r>
              <a:rPr lang="en-US" b="1">
                <a:ea typeface="+mn-lt"/>
                <a:cs typeface="+mn-lt"/>
              </a:rPr>
              <a:t>Reproducible:</a:t>
            </a:r>
            <a:r>
              <a:rPr lang="en-US">
                <a:ea typeface="+mn-lt"/>
                <a:cs typeface="+mn-lt"/>
              </a:rPr>
              <a:t> paired episodes, bootstrap confidence intervals and run manifests.</a:t>
            </a:r>
            <a:endParaRPr lang="en-US">
              <a:ea typeface="Calibri" panose="020F0502020204030204"/>
              <a:cs typeface="Calibri" panose="020F0502020204030204"/>
            </a:endParaRPr>
          </a:p>
        </p:txBody>
      </p:sp>
    </p:spTree>
    <p:extLst>
      <p:ext uri="{BB962C8B-B14F-4D97-AF65-F5344CB8AC3E}">
        <p14:creationId xmlns:p14="http://schemas.microsoft.com/office/powerpoint/2010/main" val="11279355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883CEF-797A-4BF4-3EC7-60FCF7D4109A}"/>
            </a:ext>
          </a:extLst>
        </p:cNvPr>
        <p:cNvGrpSpPr/>
        <p:nvPr/>
      </p:nvGrpSpPr>
      <p:grpSpPr>
        <a:xfrm>
          <a:off x="0" y="0"/>
          <a:ext cx="0" cy="0"/>
          <a:chOff x="0" y="0"/>
          <a:chExt cx="0" cy="0"/>
        </a:xfrm>
      </p:grpSpPr>
      <p:sp>
        <p:nvSpPr>
          <p:cNvPr id="9" name="Text 3">
            <a:extLst>
              <a:ext uri="{FF2B5EF4-FFF2-40B4-BE49-F238E27FC236}">
                <a16:creationId xmlns:a16="http://schemas.microsoft.com/office/drawing/2014/main" id="{A7A8D6C6-8197-63FA-656E-1F5D384C00D8}"/>
              </a:ext>
            </a:extLst>
          </p:cNvPr>
          <p:cNvSpPr/>
          <p:nvPr/>
        </p:nvSpPr>
        <p:spPr>
          <a:xfrm>
            <a:off x="592567" y="1146991"/>
            <a:ext cx="5936913" cy="298413"/>
          </a:xfrm>
          <a:prstGeom prst="rect">
            <a:avLst/>
          </a:prstGeom>
          <a:noFill/>
          <a:ln/>
        </p:spPr>
        <p:txBody>
          <a:bodyPr wrap="square" lIns="0" tIns="0" rIns="0" bIns="0" rtlCol="0" anchor="ctr"/>
          <a:lstStyle/>
          <a:p>
            <a:r>
              <a:rPr lang="en-US" sz="2800" b="1">
                <a:solidFill>
                  <a:srgbClr val="1F3864"/>
                </a:solidFill>
                <a:latin typeface="Calibri"/>
                <a:ea typeface="Calibri"/>
                <a:cs typeface="Calibri"/>
              </a:rPr>
              <a:t>Expected Outcomes</a:t>
            </a:r>
            <a:endParaRPr lang="en-US" sz="2800" b="1" dirty="0">
              <a:solidFill>
                <a:srgbClr val="1F3864"/>
              </a:solidFill>
              <a:latin typeface="Calibri"/>
              <a:ea typeface="Calibri"/>
              <a:cs typeface="Calibri"/>
            </a:endParaRPr>
          </a:p>
        </p:txBody>
      </p:sp>
      <p:sp>
        <p:nvSpPr>
          <p:cNvPr id="10" name="TextBox 9">
            <a:extLst>
              <a:ext uri="{FF2B5EF4-FFF2-40B4-BE49-F238E27FC236}">
                <a16:creationId xmlns:a16="http://schemas.microsoft.com/office/drawing/2014/main" id="{0634DAFC-BB8F-4A3C-EAB5-49E2E04C7CF6}"/>
              </a:ext>
            </a:extLst>
          </p:cNvPr>
          <p:cNvSpPr txBox="1"/>
          <p:nvPr/>
        </p:nvSpPr>
        <p:spPr>
          <a:xfrm>
            <a:off x="448236" y="1714500"/>
            <a:ext cx="11273115" cy="295786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lnSpc>
                <a:spcPct val="150000"/>
              </a:lnSpc>
            </a:pPr>
            <a:r>
              <a:rPr lang="en-US" dirty="0">
                <a:ea typeface="+mn-lt"/>
                <a:cs typeface="+mn-lt"/>
              </a:rPr>
              <a:t>The system is expected to give a Cardano DEX operator a batcher that decides when to submit and how many orders to include, instead of firing on constants. Replayed against 92 days of real mainnet blocks, the constrained optimizer is expected to lower per-user cost against the best tuned static batcher at comparable latency, never violate a protocol capacity limit and keep waiting times fair. The shielded RL agent is expected to stay safe under load it was not trained on, and a swap settled on the preprod testnet demonstrates the end-to-end path. On today’s lightly loaded chain the gain is cost and fairness rather than tail latency, and the project reports it that way.</a:t>
            </a:r>
            <a:endParaRPr lang="en-US" dirty="0"/>
          </a:p>
        </p:txBody>
      </p:sp>
    </p:spTree>
    <p:extLst>
      <p:ext uri="{BB962C8B-B14F-4D97-AF65-F5344CB8AC3E}">
        <p14:creationId xmlns:p14="http://schemas.microsoft.com/office/powerpoint/2010/main" val="16107780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3">
            <a:extLst>
              <a:ext uri="{FF2B5EF4-FFF2-40B4-BE49-F238E27FC236}">
                <a16:creationId xmlns:a16="http://schemas.microsoft.com/office/drawing/2014/main" id="{1A9FAB80-F2E5-8AA7-6102-2BAF4F571045}"/>
              </a:ext>
            </a:extLst>
          </p:cNvPr>
          <p:cNvSpPr/>
          <p:nvPr/>
        </p:nvSpPr>
        <p:spPr>
          <a:xfrm>
            <a:off x="794273" y="1034932"/>
            <a:ext cx="4043119" cy="298413"/>
          </a:xfrm>
          <a:prstGeom prst="rect">
            <a:avLst/>
          </a:prstGeom>
          <a:noFill/>
          <a:ln/>
        </p:spPr>
        <p:txBody>
          <a:bodyPr wrap="square" lIns="0" tIns="0" rIns="0" bIns="0" rtlCol="0" anchor="ctr"/>
          <a:lstStyle/>
          <a:p>
            <a:r>
              <a:rPr lang="en-US" sz="2800" b="1">
                <a:solidFill>
                  <a:srgbClr val="1F3864"/>
                </a:solidFill>
                <a:latin typeface="Calibri"/>
                <a:ea typeface="Calibri"/>
                <a:cs typeface="Calibri"/>
              </a:rPr>
              <a:t>Technologies Used</a:t>
            </a:r>
          </a:p>
        </p:txBody>
      </p:sp>
      <p:sp>
        <p:nvSpPr>
          <p:cNvPr id="10" name="TextBox 9">
            <a:extLst>
              <a:ext uri="{FF2B5EF4-FFF2-40B4-BE49-F238E27FC236}">
                <a16:creationId xmlns:a16="http://schemas.microsoft.com/office/drawing/2014/main" id="{26BD57A0-5990-CE5D-B51A-9CCD207FAF1C}"/>
              </a:ext>
            </a:extLst>
          </p:cNvPr>
          <p:cNvSpPr txBox="1"/>
          <p:nvPr/>
        </p:nvSpPr>
        <p:spPr>
          <a:xfrm>
            <a:off x="437030" y="1546412"/>
            <a:ext cx="6835588" cy="41088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lnSpc>
                <a:spcPct val="150000"/>
              </a:lnSpc>
              <a:buFont typeface="Arial"/>
              <a:buChar char="•"/>
            </a:pPr>
            <a:r>
              <a:rPr lang="en-US" b="1">
                <a:solidFill>
                  <a:srgbClr val="000000"/>
                </a:solidFill>
                <a:ea typeface="+mn-lt"/>
                <a:cs typeface="+mn-lt"/>
              </a:rPr>
              <a:t>Language:</a:t>
            </a:r>
            <a:r>
              <a:rPr lang="en-US">
                <a:solidFill>
                  <a:srgbClr val="000000"/>
                </a:solidFill>
                <a:ea typeface="+mn-lt"/>
                <a:cs typeface="+mn-lt"/>
              </a:rPr>
              <a:t> Python 3.12</a:t>
            </a:r>
            <a:endParaRPr lang="en-US">
              <a:solidFill>
                <a:srgbClr val="000000"/>
              </a:solidFill>
              <a:latin typeface="Calibri"/>
              <a:ea typeface="+mn-lt"/>
              <a:cs typeface="Arial"/>
            </a:endParaRPr>
          </a:p>
          <a:p>
            <a:pPr marL="285750" indent="-285750" algn="just">
              <a:lnSpc>
                <a:spcPct val="150000"/>
              </a:lnSpc>
              <a:buFont typeface="Arial"/>
              <a:buChar char="•"/>
            </a:pPr>
            <a:r>
              <a:rPr lang="en-US" b="1">
                <a:solidFill>
                  <a:srgbClr val="000000"/>
                </a:solidFill>
                <a:ea typeface="+mn-lt"/>
                <a:cs typeface="+mn-lt"/>
              </a:rPr>
              <a:t>Forecasting:</a:t>
            </a:r>
            <a:r>
              <a:rPr lang="en-US">
                <a:solidFill>
                  <a:srgbClr val="000000"/>
                </a:solidFill>
                <a:ea typeface="+mn-lt"/>
                <a:cs typeface="+mn-lt"/>
              </a:rPr>
              <a:t> LightGBM</a:t>
            </a:r>
            <a:endParaRPr lang="en-US">
              <a:solidFill>
                <a:srgbClr val="000000"/>
              </a:solidFill>
              <a:latin typeface="Calibri"/>
              <a:ea typeface="+mn-lt"/>
              <a:cs typeface="Arial"/>
            </a:endParaRPr>
          </a:p>
          <a:p>
            <a:pPr marL="285750" indent="-285750" algn="just">
              <a:lnSpc>
                <a:spcPct val="150000"/>
              </a:lnSpc>
              <a:buFont typeface="Arial"/>
              <a:buChar char="•"/>
            </a:pPr>
            <a:r>
              <a:rPr lang="en-US" b="1">
                <a:solidFill>
                  <a:srgbClr val="000000"/>
                </a:solidFill>
                <a:ea typeface="+mn-lt"/>
                <a:cs typeface="+mn-lt"/>
              </a:rPr>
              <a:t>Reinforcement learning:</a:t>
            </a:r>
            <a:r>
              <a:rPr lang="en-US">
                <a:solidFill>
                  <a:srgbClr val="000000"/>
                </a:solidFill>
                <a:ea typeface="+mn-lt"/>
                <a:cs typeface="+mn-lt"/>
              </a:rPr>
              <a:t> DQN (PyTorch, Gymnasium)</a:t>
            </a:r>
            <a:endParaRPr lang="en-US">
              <a:solidFill>
                <a:srgbClr val="000000"/>
              </a:solidFill>
              <a:latin typeface="Calibri"/>
              <a:ea typeface="+mn-lt"/>
              <a:cs typeface="Arial"/>
            </a:endParaRPr>
          </a:p>
          <a:p>
            <a:pPr marL="285750" indent="-285750" algn="just">
              <a:lnSpc>
                <a:spcPct val="150000"/>
              </a:lnSpc>
              <a:buFont typeface="Arial"/>
              <a:buChar char="•"/>
            </a:pPr>
            <a:r>
              <a:rPr lang="en-US" b="1">
                <a:solidFill>
                  <a:srgbClr val="000000"/>
                </a:solidFill>
                <a:ea typeface="+mn-lt"/>
                <a:cs typeface="+mn-lt"/>
              </a:rPr>
              <a:t>Simulator:</a:t>
            </a:r>
            <a:r>
              <a:rPr lang="en-US">
                <a:solidFill>
                  <a:srgbClr val="000000"/>
                </a:solidFill>
                <a:ea typeface="+mn-lt"/>
                <a:cs typeface="+mn-lt"/>
              </a:rPr>
              <a:t> discrete-event replay of mainnet blocks</a:t>
            </a:r>
            <a:endParaRPr lang="en-US">
              <a:solidFill>
                <a:srgbClr val="000000"/>
              </a:solidFill>
              <a:latin typeface="Calibri"/>
              <a:ea typeface="+mn-lt"/>
              <a:cs typeface="Arial"/>
            </a:endParaRPr>
          </a:p>
          <a:p>
            <a:pPr marL="285750" indent="-285750" algn="just">
              <a:lnSpc>
                <a:spcPct val="150000"/>
              </a:lnSpc>
              <a:buFont typeface="Arial"/>
              <a:buChar char="•"/>
            </a:pPr>
            <a:r>
              <a:rPr lang="en-US" b="1">
                <a:solidFill>
                  <a:srgbClr val="000000"/>
                </a:solidFill>
                <a:ea typeface="+mn-lt"/>
                <a:cs typeface="+mn-lt"/>
              </a:rPr>
              <a:t>On-chain:</a:t>
            </a:r>
            <a:r>
              <a:rPr lang="en-US">
                <a:solidFill>
                  <a:srgbClr val="000000"/>
                </a:solidFill>
                <a:ea typeface="+mn-lt"/>
                <a:cs typeface="+mn-lt"/>
              </a:rPr>
              <a:t> Aiken (Plutus V3) validators</a:t>
            </a:r>
            <a:endParaRPr lang="en-US">
              <a:solidFill>
                <a:srgbClr val="000000"/>
              </a:solidFill>
              <a:latin typeface="Calibri"/>
              <a:ea typeface="+mn-lt"/>
              <a:cs typeface="Arial"/>
            </a:endParaRPr>
          </a:p>
          <a:p>
            <a:pPr marL="285750" indent="-285750" algn="just">
              <a:lnSpc>
                <a:spcPct val="150000"/>
              </a:lnSpc>
              <a:buFont typeface="Arial"/>
              <a:buChar char="•"/>
            </a:pPr>
            <a:r>
              <a:rPr lang="en-US" b="1">
                <a:solidFill>
                  <a:srgbClr val="000000"/>
                </a:solidFill>
                <a:ea typeface="+mn-lt"/>
                <a:cs typeface="+mn-lt"/>
              </a:rPr>
              <a:t>Chain access:</a:t>
            </a:r>
            <a:r>
              <a:rPr lang="en-US">
                <a:solidFill>
                  <a:srgbClr val="000000"/>
                </a:solidFill>
                <a:ea typeface="+mn-lt"/>
                <a:cs typeface="+mn-lt"/>
              </a:rPr>
              <a:t> Koios, Blockfrost, PyCardano</a:t>
            </a:r>
            <a:endParaRPr lang="en-US">
              <a:solidFill>
                <a:srgbClr val="000000"/>
              </a:solidFill>
              <a:latin typeface="Calibri"/>
              <a:ea typeface="+mn-lt"/>
              <a:cs typeface="Arial"/>
            </a:endParaRPr>
          </a:p>
          <a:p>
            <a:pPr marL="285750" indent="-285750" algn="just">
              <a:lnSpc>
                <a:spcPct val="150000"/>
              </a:lnSpc>
              <a:buFont typeface="Arial"/>
              <a:buChar char="•"/>
            </a:pPr>
            <a:r>
              <a:rPr lang="en-US" b="1">
                <a:solidFill>
                  <a:srgbClr val="000000"/>
                </a:solidFill>
                <a:ea typeface="+mn-lt"/>
                <a:cs typeface="+mn-lt"/>
              </a:rPr>
              <a:t>Network:</a:t>
            </a:r>
            <a:r>
              <a:rPr lang="en-US">
                <a:solidFill>
                  <a:srgbClr val="000000"/>
                </a:solidFill>
                <a:ea typeface="+mn-lt"/>
                <a:cs typeface="+mn-lt"/>
              </a:rPr>
              <a:t> Cardano preprod testnet</a:t>
            </a:r>
            <a:endParaRPr lang="en-US">
              <a:solidFill>
                <a:srgbClr val="000000"/>
              </a:solidFill>
              <a:latin typeface="Calibri"/>
              <a:ea typeface="+mn-lt"/>
              <a:cs typeface="Arial"/>
            </a:endParaRPr>
          </a:p>
          <a:p>
            <a:pPr marL="285750" indent="-285750" algn="just">
              <a:lnSpc>
                <a:spcPct val="150000"/>
              </a:lnSpc>
              <a:buFont typeface="Arial"/>
              <a:buChar char="•"/>
            </a:pPr>
            <a:r>
              <a:rPr lang="en-US" b="1">
                <a:solidFill>
                  <a:srgbClr val="000000"/>
                </a:solidFill>
                <a:ea typeface="+mn-lt"/>
                <a:cs typeface="+mn-lt"/>
              </a:rPr>
              <a:t>Quality:</a:t>
            </a:r>
            <a:r>
              <a:rPr lang="en-US">
                <a:solidFill>
                  <a:srgbClr val="000000"/>
                </a:solidFill>
                <a:ea typeface="+mn-lt"/>
                <a:cs typeface="+mn-lt"/>
              </a:rPr>
              <a:t> pytest, ruff, CI secret scan</a:t>
            </a:r>
            <a:endParaRPr lang="en-US">
              <a:solidFill>
                <a:srgbClr val="000000"/>
              </a:solidFill>
              <a:latin typeface="Calibri"/>
              <a:ea typeface="+mn-lt"/>
              <a:cs typeface="Arial"/>
            </a:endParaRPr>
          </a:p>
        </p:txBody>
      </p:sp>
    </p:spTree>
    <p:extLst>
      <p:ext uri="{BB962C8B-B14F-4D97-AF65-F5344CB8AC3E}">
        <p14:creationId xmlns:p14="http://schemas.microsoft.com/office/powerpoint/2010/main" val="3403208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6" name="Text 2"/>
          <p:cNvSpPr/>
          <p:nvPr/>
        </p:nvSpPr>
        <p:spPr>
          <a:xfrm>
            <a:off x="11140135" y="6492240"/>
            <a:ext cx="548640" cy="274320"/>
          </a:xfrm>
          <a:prstGeom prst="rect">
            <a:avLst/>
          </a:prstGeom>
          <a:noFill/>
          <a:ln/>
        </p:spPr>
        <p:txBody>
          <a:bodyPr wrap="square" rtlCol="0" anchor="ctr"/>
          <a:lstStyle/>
          <a:p>
            <a:pPr marL="0" indent="0" algn="r">
              <a:buNone/>
            </a:pPr>
            <a:r>
              <a:rPr lang="en-US" sz="1000">
                <a:solidFill>
                  <a:srgbClr val="595959"/>
                </a:solidFill>
                <a:latin typeface="Calibri" pitchFamily="34" charset="0"/>
                <a:ea typeface="Calibri" pitchFamily="34" charset="-122"/>
                <a:cs typeface="Calibri" pitchFamily="34" charset="-120"/>
              </a:rPr>
              <a:t>22</a:t>
            </a:r>
            <a:endParaRPr lang="en-US" sz="1000"/>
          </a:p>
        </p:txBody>
      </p:sp>
      <p:sp>
        <p:nvSpPr>
          <p:cNvPr id="7" name="Text 3"/>
          <p:cNvSpPr/>
          <p:nvPr/>
        </p:nvSpPr>
        <p:spPr>
          <a:xfrm>
            <a:off x="502920" y="575491"/>
            <a:ext cx="8229600" cy="298413"/>
          </a:xfrm>
          <a:prstGeom prst="rect">
            <a:avLst/>
          </a:prstGeom>
          <a:noFill/>
          <a:ln/>
        </p:spPr>
        <p:txBody>
          <a:bodyPr wrap="square" lIns="0" tIns="0" rIns="0" bIns="0" rtlCol="0" anchor="ctr"/>
          <a:lstStyle/>
          <a:p>
            <a:r>
              <a:rPr lang="en-US" sz="2800" b="1">
                <a:solidFill>
                  <a:srgbClr val="1F3864"/>
                </a:solidFill>
                <a:latin typeface="Calibri"/>
                <a:ea typeface="Calibri"/>
                <a:cs typeface="Calibri"/>
              </a:rPr>
              <a:t>Control Flow (Sequence Diagram) :</a:t>
            </a:r>
          </a:p>
        </p:txBody>
      </p:sp>
      <p:pic>
        <p:nvPicPr>
          <p:cNvPr id="3" name="Picture 2">
            <a:extLst>
              <a:ext uri="{FF2B5EF4-FFF2-40B4-BE49-F238E27FC236}">
                <a16:creationId xmlns:a16="http://schemas.microsoft.com/office/drawing/2014/main" id="{41EB59B8-D29D-5460-74DF-B31CB4296CB5}"/>
              </a:ext>
            </a:extLst>
          </p:cNvPr>
          <p:cNvPicPr>
            <a:picLocks noChangeAspect="1"/>
          </p:cNvPicPr>
          <p:nvPr/>
        </p:nvPicPr>
        <p:blipFill>
          <a:blip r:embed="rId3"/>
          <a:stretch>
            <a:fillRect/>
          </a:stretch>
        </p:blipFill>
        <p:spPr>
          <a:xfrm>
            <a:off x="548640" y="1536751"/>
            <a:ext cx="11064240" cy="4516016"/>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997EAFD-E3F1-A210-AA74-6E4BD85ABFEE}"/>
            </a:ext>
          </a:extLst>
        </p:cNvPr>
        <p:cNvGrpSpPr/>
        <p:nvPr/>
      </p:nvGrpSpPr>
      <p:grpSpPr>
        <a:xfrm>
          <a:off x="0" y="0"/>
          <a:ext cx="0" cy="0"/>
          <a:chOff x="0" y="0"/>
          <a:chExt cx="0" cy="0"/>
        </a:xfrm>
      </p:grpSpPr>
      <p:sp>
        <p:nvSpPr>
          <p:cNvPr id="6" name="Text 2">
            <a:extLst>
              <a:ext uri="{FF2B5EF4-FFF2-40B4-BE49-F238E27FC236}">
                <a16:creationId xmlns:a16="http://schemas.microsoft.com/office/drawing/2014/main" id="{7378581C-F37C-D828-5E88-FB60AE9FDB09}"/>
              </a:ext>
            </a:extLst>
          </p:cNvPr>
          <p:cNvSpPr/>
          <p:nvPr/>
        </p:nvSpPr>
        <p:spPr>
          <a:xfrm>
            <a:off x="11140135" y="6492240"/>
            <a:ext cx="548640" cy="274320"/>
          </a:xfrm>
          <a:prstGeom prst="rect">
            <a:avLst/>
          </a:prstGeom>
          <a:noFill/>
          <a:ln/>
        </p:spPr>
        <p:txBody>
          <a:bodyPr wrap="square" lIns="91440" tIns="45720" rIns="91440" bIns="45720" rtlCol="0" anchor="ctr"/>
          <a:lstStyle/>
          <a:p>
            <a:pPr marL="0" indent="0" algn="r">
              <a:buNone/>
            </a:pPr>
            <a:r>
              <a:rPr lang="en-US" sz="1000">
                <a:solidFill>
                  <a:srgbClr val="595959"/>
                </a:solidFill>
                <a:ea typeface="Calibri"/>
                <a:cs typeface="Calibri"/>
              </a:rPr>
              <a:t>23</a:t>
            </a:r>
          </a:p>
        </p:txBody>
      </p:sp>
      <p:sp>
        <p:nvSpPr>
          <p:cNvPr id="7" name="Text 3">
            <a:extLst>
              <a:ext uri="{FF2B5EF4-FFF2-40B4-BE49-F238E27FC236}">
                <a16:creationId xmlns:a16="http://schemas.microsoft.com/office/drawing/2014/main" id="{6B9088D9-8320-1CF6-9B76-3099690FC36E}"/>
              </a:ext>
            </a:extLst>
          </p:cNvPr>
          <p:cNvSpPr/>
          <p:nvPr/>
        </p:nvSpPr>
        <p:spPr>
          <a:xfrm>
            <a:off x="715832" y="467061"/>
            <a:ext cx="2557326" cy="566928"/>
          </a:xfrm>
          <a:prstGeom prst="rect">
            <a:avLst/>
          </a:prstGeom>
          <a:noFill/>
          <a:ln/>
        </p:spPr>
        <p:txBody>
          <a:bodyPr wrap="square" lIns="0" tIns="0" rIns="0" bIns="0" rtlCol="0" anchor="ctr"/>
          <a:lstStyle/>
          <a:p>
            <a:r>
              <a:rPr lang="en-US" sz="2800" b="1">
                <a:solidFill>
                  <a:srgbClr val="1F3864"/>
                </a:solidFill>
                <a:ea typeface="Calibri"/>
                <a:cs typeface="Calibri"/>
              </a:rPr>
              <a:t>Algorithms :</a:t>
            </a:r>
          </a:p>
        </p:txBody>
      </p:sp>
      <p:sp>
        <p:nvSpPr>
          <p:cNvPr id="8" name="Shape 4">
            <a:extLst>
              <a:ext uri="{FF2B5EF4-FFF2-40B4-BE49-F238E27FC236}">
                <a16:creationId xmlns:a16="http://schemas.microsoft.com/office/drawing/2014/main" id="{B52E6F8A-E8A0-4D90-C840-D171A17368FD}"/>
              </a:ext>
            </a:extLst>
          </p:cNvPr>
          <p:cNvSpPr/>
          <p:nvPr/>
        </p:nvSpPr>
        <p:spPr>
          <a:xfrm>
            <a:off x="491715" y="1189169"/>
            <a:ext cx="5167703" cy="4754431"/>
          </a:xfrm>
          <a:prstGeom prst="rect">
            <a:avLst/>
          </a:prstGeom>
          <a:solidFill>
            <a:srgbClr val="F7F8FA"/>
          </a:solidFill>
          <a:ln w="12700">
            <a:solidFill>
              <a:srgbClr val="D9D9D9"/>
            </a:solidFill>
            <a:prstDash val="solid"/>
          </a:ln>
        </p:spPr>
      </p:sp>
      <p:sp>
        <p:nvSpPr>
          <p:cNvPr id="16" name="Text 12">
            <a:extLst>
              <a:ext uri="{FF2B5EF4-FFF2-40B4-BE49-F238E27FC236}">
                <a16:creationId xmlns:a16="http://schemas.microsoft.com/office/drawing/2014/main" id="{5BD6DF80-5459-C968-C4E4-2074EF960B73}"/>
              </a:ext>
            </a:extLst>
          </p:cNvPr>
          <p:cNvSpPr/>
          <p:nvPr/>
        </p:nvSpPr>
        <p:spPr>
          <a:xfrm>
            <a:off x="697903" y="2011680"/>
            <a:ext cx="4542416" cy="3786242"/>
          </a:xfrm>
          <a:prstGeom prst="rect">
            <a:avLst/>
          </a:prstGeom>
          <a:noFill/>
          <a:ln/>
        </p:spPr>
        <p:txBody>
          <a:bodyPr wrap="square" lIns="0" tIns="0" rIns="0" bIns="0" rtlCol="0" anchor="t"/>
          <a:lstStyle/>
          <a:p>
            <a:pPr marL="285750" indent="-285750" algn="just">
              <a:buFont typeface="Arial"/>
              <a:buChar char="•"/>
            </a:pPr>
            <a:r>
              <a:rPr lang="en-US" sz="1800" b="1"/>
              <a:t>E1 Fixed size:</a:t>
            </a:r>
            <a:r>
              <a:rPr lang="en-US" sz="1800"/>
              <a:t> submit when M orders have gathered.</a:t>
            </a:r>
            <a:endParaRPr lang="en-US" sz="1600">
              <a:ea typeface="Calibri"/>
              <a:cs typeface="Calibri"/>
            </a:endParaRPr>
          </a:p>
          <a:p>
            <a:pPr marL="285750" indent="-285750" algn="just">
              <a:buFont typeface="Arial"/>
              <a:buChar char="•"/>
            </a:pPr>
            <a:r>
              <a:rPr lang="en-US" sz="1800" b="1"/>
              <a:t>E2 Fixed interval:</a:t>
            </a:r>
            <a:r>
              <a:rPr lang="en-US" sz="1800"/>
              <a:t> submit every T seconds.</a:t>
            </a:r>
            <a:endParaRPr lang="en-US" sz="1600">
              <a:ea typeface="Calibri"/>
              <a:cs typeface="Calibri"/>
            </a:endParaRPr>
          </a:p>
          <a:p>
            <a:pPr marL="285750" indent="-285750" algn="just">
              <a:buFont typeface="Arial"/>
              <a:buChar char="•"/>
            </a:pPr>
            <a:r>
              <a:rPr lang="en-US" sz="1800" b="1"/>
              <a:t>E3 Greedy:</a:t>
            </a:r>
            <a:r>
              <a:rPr lang="en-US" sz="1800"/>
              <a:t> submit everything, every block.</a:t>
            </a:r>
            <a:endParaRPr lang="en-US" sz="1600">
              <a:ea typeface="Calibri"/>
              <a:cs typeface="Calibri"/>
            </a:endParaRPr>
          </a:p>
          <a:p>
            <a:pPr marL="285750" indent="-285750" algn="just">
              <a:buFont typeface="Arial"/>
              <a:buChar char="•"/>
            </a:pPr>
            <a:r>
              <a:rPr lang="en-US" sz="1800" b="1"/>
              <a:t>E4 Moving average:</a:t>
            </a:r>
            <a:r>
              <a:rPr lang="en-US" sz="1800"/>
              <a:t> mean of recent fill as the forecast reference.</a:t>
            </a:r>
            <a:endParaRPr lang="en-US" sz="1600">
              <a:ea typeface="Calibri"/>
              <a:cs typeface="Calibri"/>
            </a:endParaRPr>
          </a:p>
          <a:p>
            <a:pPr marL="285750" indent="-285750" algn="just">
              <a:buFont typeface="Arial"/>
              <a:buChar char="•"/>
            </a:pPr>
            <a:r>
              <a:rPr lang="en-US" sz="1800" b="1"/>
              <a:t>Common flaw:</a:t>
            </a:r>
            <a:r>
              <a:rPr lang="en-US" sz="1800"/>
              <a:t> constant triggers; the chain is never read.</a:t>
            </a:r>
            <a:endParaRPr lang="en-US" sz="1600">
              <a:ea typeface="Calibri"/>
              <a:cs typeface="Calibri"/>
            </a:endParaRPr>
          </a:p>
        </p:txBody>
      </p:sp>
      <p:sp>
        <p:nvSpPr>
          <p:cNvPr id="3" name="Text 5">
            <a:extLst>
              <a:ext uri="{FF2B5EF4-FFF2-40B4-BE49-F238E27FC236}">
                <a16:creationId xmlns:a16="http://schemas.microsoft.com/office/drawing/2014/main" id="{B2F285B1-6FC6-69AE-62A0-E51BD82C7CBF}"/>
              </a:ext>
            </a:extLst>
          </p:cNvPr>
          <p:cNvSpPr/>
          <p:nvPr/>
        </p:nvSpPr>
        <p:spPr>
          <a:xfrm>
            <a:off x="865990" y="1568465"/>
            <a:ext cx="4206240" cy="292608"/>
          </a:xfrm>
          <a:prstGeom prst="rect">
            <a:avLst/>
          </a:prstGeom>
          <a:noFill/>
          <a:ln/>
        </p:spPr>
        <p:txBody>
          <a:bodyPr wrap="square" lIns="0" tIns="0" rIns="0" bIns="0" rtlCol="0" anchor="ctr"/>
          <a:lstStyle/>
          <a:p>
            <a:r>
              <a:rPr lang="en-US" sz="2000" b="1">
                <a:solidFill>
                  <a:srgbClr val="1F3864"/>
                </a:solidFill>
                <a:latin typeface="Calibri"/>
                <a:ea typeface="Calibri"/>
                <a:cs typeface="Calibri"/>
              </a:rPr>
              <a:t>Existing Algorithms</a:t>
            </a:r>
          </a:p>
        </p:txBody>
      </p:sp>
      <p:sp>
        <p:nvSpPr>
          <p:cNvPr id="30" name="Text 12">
            <a:extLst>
              <a:ext uri="{FF2B5EF4-FFF2-40B4-BE49-F238E27FC236}">
                <a16:creationId xmlns:a16="http://schemas.microsoft.com/office/drawing/2014/main" id="{A6443357-ED9C-085D-B132-6C946620C653}"/>
              </a:ext>
            </a:extLst>
          </p:cNvPr>
          <p:cNvSpPr/>
          <p:nvPr/>
        </p:nvSpPr>
        <p:spPr>
          <a:xfrm>
            <a:off x="5807785" y="2011680"/>
            <a:ext cx="5875917" cy="3909505"/>
          </a:xfrm>
          <a:prstGeom prst="rect">
            <a:avLst/>
          </a:prstGeom>
          <a:noFill/>
          <a:ln/>
        </p:spPr>
        <p:txBody>
          <a:bodyPr wrap="square" lIns="0" tIns="0" rIns="0" bIns="0" rtlCol="0" anchor="t"/>
          <a:lstStyle/>
          <a:p>
            <a:pPr marL="285750" indent="-285750" algn="just">
              <a:buFont typeface="Arial"/>
              <a:buChar char="•"/>
            </a:pPr>
            <a:r>
              <a:rPr lang="en-US" sz="1800" b="1">
                <a:ea typeface="+mn-lt"/>
                <a:cs typeface="+mn-lt"/>
              </a:rPr>
              <a:t>P1 Forecaster:</a:t>
            </a:r>
            <a:r>
              <a:rPr lang="en-US" sz="1800">
                <a:ea typeface="+mn-lt"/>
                <a:cs typeface="+mn-lt"/>
              </a:rPr>
              <a:t> LightGBM predicts block fill for t+1 to t+3.</a:t>
            </a:r>
            <a:endParaRPr lang="en-US" sz="1600" b="1">
              <a:ea typeface="+mn-lt"/>
              <a:cs typeface="+mn-lt"/>
            </a:endParaRPr>
          </a:p>
          <a:p>
            <a:pPr marL="285750" indent="-285750" algn="just">
              <a:buFont typeface="Arial"/>
              <a:buChar char="•"/>
            </a:pPr>
            <a:r>
              <a:rPr lang="en-US" sz="1800" b="1">
                <a:ea typeface="+mn-lt"/>
                <a:cs typeface="+mn-lt"/>
              </a:rPr>
              <a:t>P2 Constrained optimizer:</a:t>
            </a:r>
            <a:r>
              <a:rPr lang="en-US" sz="1800">
                <a:ea typeface="+mn-lt"/>
                <a:cs typeface="+mn-lt"/>
              </a:rPr>
              <a:t> forecast-then-optimize under Gate A / Gate B, with a D_MAX starvation guard.</a:t>
            </a:r>
            <a:endParaRPr lang="en-US" sz="1600" b="1">
              <a:ea typeface="+mn-lt"/>
              <a:cs typeface="+mn-lt"/>
            </a:endParaRPr>
          </a:p>
          <a:p>
            <a:pPr marL="285750" indent="-285750" algn="just">
              <a:buFont typeface="Arial"/>
              <a:buChar char="•"/>
            </a:pPr>
            <a:r>
              <a:rPr lang="en-US" sz="1800" b="1">
                <a:ea typeface="+mn-lt"/>
                <a:cs typeface="+mn-lt"/>
              </a:rPr>
              <a:t>P3 RL agent:</a:t>
            </a:r>
            <a:r>
              <a:rPr lang="en-US" sz="1800">
                <a:ea typeface="+mn-lt"/>
                <a:cs typeface="+mn-lt"/>
              </a:rPr>
              <a:t> masked DQN over WAIT / SUBMIT(n) buckets.</a:t>
            </a:r>
            <a:endParaRPr lang="en-US" sz="1600" b="1">
              <a:ea typeface="+mn-lt"/>
              <a:cs typeface="+mn-lt"/>
            </a:endParaRPr>
          </a:p>
          <a:p>
            <a:pPr marL="285750" indent="-285750" algn="just">
              <a:buFont typeface="Arial"/>
              <a:buChar char="•"/>
            </a:pPr>
            <a:r>
              <a:rPr lang="en-US" sz="1800" b="1">
                <a:ea typeface="+mn-lt"/>
                <a:cs typeface="+mn-lt"/>
              </a:rPr>
              <a:t>Safety shield:</a:t>
            </a:r>
            <a:r>
              <a:rPr lang="en-US" sz="1800">
                <a:ea typeface="+mn-lt"/>
                <a:cs typeface="+mn-lt"/>
              </a:rPr>
              <a:t> forced submit at D_MAX; out-of-range states go to P2.</a:t>
            </a:r>
            <a:endParaRPr lang="en-US" sz="1600" b="1">
              <a:ea typeface="+mn-lt"/>
              <a:cs typeface="+mn-lt"/>
            </a:endParaRPr>
          </a:p>
          <a:p>
            <a:pPr marL="285750" indent="-285750" algn="just">
              <a:buFont typeface="Arial"/>
              <a:buChar char="•"/>
            </a:pPr>
            <a:r>
              <a:rPr lang="en-US" sz="1800" b="1">
                <a:ea typeface="+mn-lt"/>
                <a:cs typeface="+mn-lt"/>
              </a:rPr>
              <a:t>Chaining + uniform clearing:</a:t>
            </a:r>
            <a:r>
              <a:rPr lang="en-US" sz="1800">
                <a:ea typeface="+mn-lt"/>
                <a:cs typeface="+mn-lt"/>
              </a:rPr>
              <a:t> several batches per decision point; one fair price per direction.</a:t>
            </a:r>
            <a:endParaRPr lang="en-US" sz="1600" b="1">
              <a:ea typeface="+mn-lt"/>
              <a:cs typeface="+mn-lt"/>
            </a:endParaRPr>
          </a:p>
        </p:txBody>
      </p:sp>
      <p:sp>
        <p:nvSpPr>
          <p:cNvPr id="33" name="Text 5">
            <a:extLst>
              <a:ext uri="{FF2B5EF4-FFF2-40B4-BE49-F238E27FC236}">
                <a16:creationId xmlns:a16="http://schemas.microsoft.com/office/drawing/2014/main" id="{265EBDEA-6F9F-606E-16C6-95959DAD924B}"/>
              </a:ext>
            </a:extLst>
          </p:cNvPr>
          <p:cNvSpPr/>
          <p:nvPr/>
        </p:nvSpPr>
        <p:spPr>
          <a:xfrm>
            <a:off x="6099136" y="1568464"/>
            <a:ext cx="4206240" cy="292608"/>
          </a:xfrm>
          <a:prstGeom prst="rect">
            <a:avLst/>
          </a:prstGeom>
          <a:noFill/>
          <a:ln/>
        </p:spPr>
        <p:txBody>
          <a:bodyPr wrap="square" lIns="0" tIns="0" rIns="0" bIns="0" rtlCol="0" anchor="ctr"/>
          <a:lstStyle/>
          <a:p>
            <a:r>
              <a:rPr lang="en-US" sz="2000" b="1">
                <a:solidFill>
                  <a:srgbClr val="1F3864"/>
                </a:solidFill>
                <a:latin typeface="Calibri"/>
                <a:ea typeface="Calibri"/>
                <a:cs typeface="Calibri"/>
              </a:rPr>
              <a:t>Proposed Algorithms</a:t>
            </a:r>
          </a:p>
        </p:txBody>
      </p:sp>
    </p:spTree>
    <p:extLst>
      <p:ext uri="{BB962C8B-B14F-4D97-AF65-F5344CB8AC3E}">
        <p14:creationId xmlns:p14="http://schemas.microsoft.com/office/powerpoint/2010/main" val="6431767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6" name="Text 2"/>
          <p:cNvSpPr/>
          <p:nvPr/>
        </p:nvSpPr>
        <p:spPr>
          <a:xfrm>
            <a:off x="11140135" y="6492240"/>
            <a:ext cx="548640" cy="274320"/>
          </a:xfrm>
          <a:prstGeom prst="rect">
            <a:avLst/>
          </a:prstGeom>
          <a:noFill/>
          <a:ln/>
        </p:spPr>
        <p:txBody>
          <a:bodyPr wrap="square" lIns="91440" tIns="45720" rIns="91440" bIns="45720" rtlCol="0" anchor="ctr"/>
          <a:lstStyle/>
          <a:p>
            <a:pPr marL="0" indent="0" algn="r">
              <a:buNone/>
            </a:pPr>
            <a:r>
              <a:rPr lang="en-US" sz="1000">
                <a:solidFill>
                  <a:srgbClr val="595959"/>
                </a:solidFill>
                <a:ea typeface="Calibri"/>
                <a:cs typeface="Calibri"/>
              </a:rPr>
              <a:t>24</a:t>
            </a:r>
          </a:p>
        </p:txBody>
      </p:sp>
      <p:sp>
        <p:nvSpPr>
          <p:cNvPr id="7" name="Text 3"/>
          <p:cNvSpPr/>
          <p:nvPr/>
        </p:nvSpPr>
        <p:spPr>
          <a:xfrm>
            <a:off x="715832" y="467061"/>
            <a:ext cx="2557326" cy="566928"/>
          </a:xfrm>
          <a:prstGeom prst="rect">
            <a:avLst/>
          </a:prstGeom>
          <a:noFill/>
          <a:ln/>
        </p:spPr>
        <p:txBody>
          <a:bodyPr wrap="square" lIns="0" tIns="0" rIns="0" bIns="0" rtlCol="0" anchor="ctr"/>
          <a:lstStyle/>
          <a:p>
            <a:r>
              <a:rPr lang="en-US" sz="2800" b="1">
                <a:solidFill>
                  <a:srgbClr val="1F3864"/>
                </a:solidFill>
                <a:ea typeface="Calibri"/>
                <a:cs typeface="Calibri"/>
              </a:rPr>
              <a:t>Datasets :</a:t>
            </a:r>
          </a:p>
        </p:txBody>
      </p:sp>
      <p:sp>
        <p:nvSpPr>
          <p:cNvPr id="8" name="Shape 4"/>
          <p:cNvSpPr/>
          <p:nvPr/>
        </p:nvSpPr>
        <p:spPr>
          <a:xfrm>
            <a:off x="491715" y="1189169"/>
            <a:ext cx="5167703" cy="4754431"/>
          </a:xfrm>
          <a:prstGeom prst="rect">
            <a:avLst/>
          </a:prstGeom>
          <a:solidFill>
            <a:srgbClr val="F7F8FA"/>
          </a:solidFill>
          <a:ln w="12700">
            <a:solidFill>
              <a:srgbClr val="D9D9D9"/>
            </a:solidFill>
            <a:prstDash val="solid"/>
          </a:ln>
        </p:spPr>
      </p:sp>
      <p:sp>
        <p:nvSpPr>
          <p:cNvPr id="16" name="Text 12"/>
          <p:cNvSpPr/>
          <p:nvPr/>
        </p:nvSpPr>
        <p:spPr>
          <a:xfrm>
            <a:off x="720315" y="2011680"/>
            <a:ext cx="4542416" cy="3786242"/>
          </a:xfrm>
          <a:prstGeom prst="rect">
            <a:avLst/>
          </a:prstGeom>
          <a:noFill/>
          <a:ln/>
        </p:spPr>
        <p:txBody>
          <a:bodyPr wrap="square" lIns="0" tIns="0" rIns="0" bIns="0" rtlCol="0" anchor="t"/>
          <a:lstStyle/>
          <a:p>
            <a:pPr marL="285750" indent="-285750" algn="just">
              <a:buFont typeface="Arial"/>
              <a:buChar char="•"/>
            </a:pPr>
            <a:r>
              <a:rPr lang="en-US" sz="1800" b="1">
                <a:solidFill>
                  <a:srgbClr val="000000"/>
                </a:solidFill>
                <a:ea typeface="+mn-lt"/>
                <a:cs typeface="+mn-lt"/>
              </a:rPr>
              <a:t>D2 Order stream:</a:t>
            </a:r>
            <a:r>
              <a:rPr lang="en-US" sz="1800">
                <a:solidFill>
                  <a:srgbClr val="000000"/>
                </a:solidFill>
                <a:ea typeface="+mn-lt"/>
                <a:cs typeface="+mn-lt"/>
              </a:rPr>
              <a:t> simulated Poisson arrivals with a fitted daily shape and bursts.</a:t>
            </a:r>
            <a:endParaRPr lang="en-US" sz="1600">
              <a:solidFill>
                <a:srgbClr val="000000"/>
              </a:solidFill>
              <a:ea typeface="Calibri"/>
              <a:cs typeface="Calibri"/>
            </a:endParaRPr>
          </a:p>
          <a:p>
            <a:pPr marL="285750" indent="-285750" algn="just">
              <a:buFont typeface="Arial"/>
              <a:buChar char="•"/>
            </a:pPr>
            <a:r>
              <a:rPr lang="en-US" sz="1800" b="1">
                <a:solidFill>
                  <a:srgbClr val="000000"/>
                </a:solidFill>
                <a:ea typeface="+mn-lt"/>
                <a:cs typeface="+mn-lt"/>
              </a:rPr>
              <a:t>Order fields:</a:t>
            </a:r>
            <a:r>
              <a:rPr lang="en-US" sz="1800">
                <a:solidFill>
                  <a:srgbClr val="000000"/>
                </a:solidFill>
                <a:ea typeface="+mn-lt"/>
                <a:cs typeface="+mn-lt"/>
              </a:rPr>
              <a:t> size, ExUnits, min_out, margin, arrival time.</a:t>
            </a:r>
            <a:endParaRPr lang="en-US" sz="1600">
              <a:solidFill>
                <a:srgbClr val="000000"/>
              </a:solidFill>
              <a:ea typeface="Calibri"/>
              <a:cs typeface="Calibri"/>
            </a:endParaRPr>
          </a:p>
          <a:p>
            <a:pPr marL="285750" indent="-285750" algn="just">
              <a:buFont typeface="Arial"/>
              <a:buChar char="•"/>
            </a:pPr>
            <a:r>
              <a:rPr lang="en-US" sz="1800" b="1">
                <a:solidFill>
                  <a:srgbClr val="000000"/>
                </a:solidFill>
                <a:ea typeface="+mn-lt"/>
                <a:cs typeface="+mn-lt"/>
              </a:rPr>
              <a:t>D4 Testnet logs:</a:t>
            </a:r>
            <a:r>
              <a:rPr lang="en-US" sz="1800">
                <a:solidFill>
                  <a:srgbClr val="000000"/>
                </a:solidFill>
                <a:ea typeface="+mn-lt"/>
                <a:cs typeface="+mn-lt"/>
              </a:rPr>
              <a:t> measured size, ExUnits and fee of real batch transactions on preprod.</a:t>
            </a:r>
            <a:endParaRPr lang="en-US" sz="1600">
              <a:solidFill>
                <a:srgbClr val="000000"/>
              </a:solidFill>
              <a:ea typeface="Calibri"/>
              <a:cs typeface="Calibri"/>
            </a:endParaRPr>
          </a:p>
          <a:p>
            <a:pPr marL="285750" indent="-285750" algn="just">
              <a:buFont typeface="Arial"/>
              <a:buChar char="•"/>
            </a:pPr>
            <a:r>
              <a:rPr lang="en-US" sz="1800" b="1">
                <a:solidFill>
                  <a:srgbClr val="000000"/>
                </a:solidFill>
                <a:ea typeface="+mn-lt"/>
                <a:cs typeface="+mn-lt"/>
              </a:rPr>
              <a:t>Use:</a:t>
            </a:r>
            <a:r>
              <a:rPr lang="en-US" sz="1800">
                <a:solidFill>
                  <a:srgbClr val="000000"/>
                </a:solidFill>
                <a:ea typeface="+mn-lt"/>
                <a:cs typeface="+mn-lt"/>
              </a:rPr>
              <a:t> trains and evaluates the policies; calibrates Gate A.</a:t>
            </a:r>
            <a:endParaRPr lang="en-US" sz="1600">
              <a:solidFill>
                <a:srgbClr val="000000"/>
              </a:solidFill>
              <a:ea typeface="Calibri"/>
              <a:cs typeface="Calibri"/>
            </a:endParaRPr>
          </a:p>
        </p:txBody>
      </p:sp>
      <p:sp>
        <p:nvSpPr>
          <p:cNvPr id="3" name="Text 5">
            <a:extLst>
              <a:ext uri="{FF2B5EF4-FFF2-40B4-BE49-F238E27FC236}">
                <a16:creationId xmlns:a16="http://schemas.microsoft.com/office/drawing/2014/main" id="{3F280CA8-CA17-3089-D401-3DB875257E41}"/>
              </a:ext>
            </a:extLst>
          </p:cNvPr>
          <p:cNvSpPr/>
          <p:nvPr/>
        </p:nvSpPr>
        <p:spPr>
          <a:xfrm>
            <a:off x="865990" y="1568465"/>
            <a:ext cx="4206240" cy="292608"/>
          </a:xfrm>
          <a:prstGeom prst="rect">
            <a:avLst/>
          </a:prstGeom>
          <a:noFill/>
          <a:ln/>
        </p:spPr>
        <p:txBody>
          <a:bodyPr wrap="square" lIns="0" tIns="0" rIns="0" bIns="0" rtlCol="0" anchor="ctr"/>
          <a:lstStyle/>
          <a:p>
            <a:r>
              <a:rPr lang="en-US" sz="2000" b="1">
                <a:solidFill>
                  <a:srgbClr val="1F3864"/>
                </a:solidFill>
                <a:latin typeface="Calibri"/>
                <a:ea typeface="Calibri"/>
                <a:cs typeface="Calibri"/>
              </a:rPr>
              <a:t>Primary Dataset :</a:t>
            </a:r>
          </a:p>
        </p:txBody>
      </p:sp>
      <p:sp>
        <p:nvSpPr>
          <p:cNvPr id="28" name="Shape 4">
            <a:extLst>
              <a:ext uri="{FF2B5EF4-FFF2-40B4-BE49-F238E27FC236}">
                <a16:creationId xmlns:a16="http://schemas.microsoft.com/office/drawing/2014/main" id="{995C6828-D2C4-B0AE-049F-CB8B581958B8}"/>
              </a:ext>
            </a:extLst>
          </p:cNvPr>
          <p:cNvSpPr/>
          <p:nvPr/>
        </p:nvSpPr>
        <p:spPr>
          <a:xfrm>
            <a:off x="6397215" y="1189169"/>
            <a:ext cx="5167703" cy="4754431"/>
          </a:xfrm>
          <a:prstGeom prst="rect">
            <a:avLst/>
          </a:prstGeom>
          <a:solidFill>
            <a:srgbClr val="F7F8FA"/>
          </a:solidFill>
          <a:ln w="12700">
            <a:solidFill>
              <a:srgbClr val="D9D9D9"/>
            </a:solidFill>
            <a:prstDash val="solid"/>
          </a:ln>
        </p:spPr>
      </p:sp>
      <p:sp>
        <p:nvSpPr>
          <p:cNvPr id="30" name="Text 12">
            <a:extLst>
              <a:ext uri="{FF2B5EF4-FFF2-40B4-BE49-F238E27FC236}">
                <a16:creationId xmlns:a16="http://schemas.microsoft.com/office/drawing/2014/main" id="{0521F8AB-7817-E077-E131-0E075D5A0EE4}"/>
              </a:ext>
            </a:extLst>
          </p:cNvPr>
          <p:cNvSpPr/>
          <p:nvPr/>
        </p:nvSpPr>
        <p:spPr>
          <a:xfrm>
            <a:off x="6704256" y="2011680"/>
            <a:ext cx="4542416" cy="3786242"/>
          </a:xfrm>
          <a:prstGeom prst="rect">
            <a:avLst/>
          </a:prstGeom>
          <a:noFill/>
          <a:ln/>
        </p:spPr>
        <p:txBody>
          <a:bodyPr wrap="square" lIns="0" tIns="0" rIns="0" bIns="0" rtlCol="0" anchor="t"/>
          <a:lstStyle/>
          <a:p>
            <a:pPr marL="285750" indent="-285750" algn="just">
              <a:buFont typeface="Arial"/>
              <a:buChar char="•"/>
            </a:pPr>
            <a:r>
              <a:rPr lang="en-US" sz="1800" b="1">
                <a:ea typeface="+mn-lt"/>
                <a:cs typeface="+mn-lt"/>
              </a:rPr>
              <a:t>D1 Block history:</a:t>
            </a:r>
            <a:r>
              <a:rPr lang="en-US" sz="1800">
                <a:ea typeface="+mn-lt"/>
                <a:cs typeface="+mn-lt"/>
              </a:rPr>
              <a:t> 92 days, 388,781 mainnet blocks from Koios / Blockfrost.</a:t>
            </a:r>
            <a:endParaRPr lang="en-US" sz="1600">
              <a:ea typeface="Calibri"/>
              <a:cs typeface="Calibri"/>
            </a:endParaRPr>
          </a:p>
          <a:p>
            <a:pPr marL="285750" indent="-285750" algn="just">
              <a:buFont typeface="Arial"/>
              <a:buChar char="•"/>
            </a:pPr>
            <a:r>
              <a:rPr lang="en-US" sz="1800" b="1">
                <a:ea typeface="+mn-lt"/>
                <a:cs typeface="+mn-lt"/>
              </a:rPr>
              <a:t>Fields:</a:t>
            </a:r>
            <a:r>
              <a:rPr lang="en-US" sz="1800">
                <a:ea typeface="+mn-lt"/>
                <a:cs typeface="+mn-lt"/>
              </a:rPr>
              <a:t> height, slot, body size, fill%, tx count, memory and step ExUnits.</a:t>
            </a:r>
            <a:endParaRPr lang="en-US" sz="1600">
              <a:ea typeface="Calibri"/>
              <a:cs typeface="Calibri"/>
            </a:endParaRPr>
          </a:p>
          <a:p>
            <a:pPr marL="285750" indent="-285750" algn="just">
              <a:buFont typeface="Arial"/>
              <a:buChar char="•"/>
            </a:pPr>
            <a:r>
              <a:rPr lang="en-US" sz="1800" b="1">
                <a:ea typeface="+mn-lt"/>
                <a:cs typeface="+mn-lt"/>
              </a:rPr>
              <a:t>Split:</a:t>
            </a:r>
            <a:r>
              <a:rPr lang="en-US" sz="1800">
                <a:ea typeface="+mn-lt"/>
                <a:cs typeface="+mn-lt"/>
              </a:rPr>
              <a:t> chronological 70 / 15 / 15; checksummed and resumable.</a:t>
            </a:r>
            <a:endParaRPr lang="en-US" sz="1600">
              <a:ea typeface="Calibri"/>
              <a:cs typeface="Calibri"/>
            </a:endParaRPr>
          </a:p>
          <a:p>
            <a:pPr marL="285750" indent="-285750" algn="just">
              <a:buFont typeface="Arial"/>
              <a:buChar char="•"/>
            </a:pPr>
            <a:r>
              <a:rPr lang="en-US" sz="1800" b="1">
                <a:ea typeface="+mn-lt"/>
                <a:cs typeface="+mn-lt"/>
              </a:rPr>
              <a:t>Limits:</a:t>
            </a:r>
            <a:r>
              <a:rPr lang="en-US" sz="1800">
                <a:ea typeface="+mn-lt"/>
                <a:cs typeface="+mn-lt"/>
              </a:rPr>
              <a:t> 16,384 B and 14 M memory per transaction.</a:t>
            </a:r>
            <a:endParaRPr lang="en-US" sz="1600">
              <a:ea typeface="Calibri"/>
              <a:cs typeface="Calibri"/>
            </a:endParaRPr>
          </a:p>
        </p:txBody>
      </p:sp>
      <p:sp>
        <p:nvSpPr>
          <p:cNvPr id="33" name="Text 5">
            <a:extLst>
              <a:ext uri="{FF2B5EF4-FFF2-40B4-BE49-F238E27FC236}">
                <a16:creationId xmlns:a16="http://schemas.microsoft.com/office/drawing/2014/main" id="{D4743606-CD00-6D5B-C01F-18625DC299AB}"/>
              </a:ext>
            </a:extLst>
          </p:cNvPr>
          <p:cNvSpPr/>
          <p:nvPr/>
        </p:nvSpPr>
        <p:spPr>
          <a:xfrm>
            <a:off x="6704254" y="1568464"/>
            <a:ext cx="4206240" cy="292608"/>
          </a:xfrm>
          <a:prstGeom prst="rect">
            <a:avLst/>
          </a:prstGeom>
          <a:noFill/>
          <a:ln/>
        </p:spPr>
        <p:txBody>
          <a:bodyPr wrap="square" lIns="0" tIns="0" rIns="0" bIns="0" rtlCol="0" anchor="ctr"/>
          <a:lstStyle/>
          <a:p>
            <a:r>
              <a:rPr lang="en-US" sz="2000" b="1">
                <a:solidFill>
                  <a:srgbClr val="1F3864"/>
                </a:solidFill>
                <a:ea typeface="Calibri"/>
                <a:cs typeface="Calibri"/>
              </a:rPr>
              <a:t>Secondary Dataset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6" name="Text 2"/>
          <p:cNvSpPr/>
          <p:nvPr/>
        </p:nvSpPr>
        <p:spPr>
          <a:xfrm>
            <a:off x="11140135" y="6503445"/>
            <a:ext cx="548640" cy="330350"/>
          </a:xfrm>
          <a:prstGeom prst="rect">
            <a:avLst/>
          </a:prstGeom>
          <a:noFill/>
          <a:ln/>
        </p:spPr>
        <p:txBody>
          <a:bodyPr wrap="square" lIns="91440" tIns="45720" rIns="91440" bIns="45720" rtlCol="0" anchor="ctr"/>
          <a:lstStyle/>
          <a:p>
            <a:pPr marL="0" indent="0" algn="r">
              <a:buNone/>
            </a:pPr>
            <a:r>
              <a:rPr lang="en-US" sz="1000">
                <a:solidFill>
                  <a:srgbClr val="595959"/>
                </a:solidFill>
                <a:ea typeface="Calibri"/>
                <a:cs typeface="Calibri"/>
              </a:rPr>
              <a:t>25</a:t>
            </a:r>
          </a:p>
        </p:txBody>
      </p:sp>
      <p:sp>
        <p:nvSpPr>
          <p:cNvPr id="7" name="Text 3"/>
          <p:cNvSpPr/>
          <p:nvPr/>
        </p:nvSpPr>
        <p:spPr>
          <a:xfrm>
            <a:off x="678798" y="314768"/>
            <a:ext cx="4748770" cy="566928"/>
          </a:xfrm>
          <a:prstGeom prst="rect">
            <a:avLst/>
          </a:prstGeom>
          <a:noFill/>
          <a:ln/>
        </p:spPr>
        <p:txBody>
          <a:bodyPr wrap="square" lIns="0" tIns="0" rIns="0" bIns="0" rtlCol="0" anchor="ctr"/>
          <a:lstStyle/>
          <a:p>
            <a:r>
              <a:rPr lang="en-US" sz="2800" b="1">
                <a:solidFill>
                  <a:srgbClr val="1F3864"/>
                </a:solidFill>
                <a:latin typeface="Calibri"/>
                <a:ea typeface="Calibri"/>
                <a:cs typeface="Calibri"/>
              </a:rPr>
              <a:t>Sample Datasets :</a:t>
            </a:r>
          </a:p>
        </p:txBody>
      </p:sp>
      <p:sp>
        <p:nvSpPr>
          <p:cNvPr id="11" name="Text 7"/>
          <p:cNvSpPr/>
          <p:nvPr/>
        </p:nvSpPr>
        <p:spPr>
          <a:xfrm>
            <a:off x="6701819" y="4301308"/>
            <a:ext cx="4986957" cy="2030548"/>
          </a:xfrm>
          <a:prstGeom prst="rect">
            <a:avLst/>
          </a:prstGeom>
          <a:noFill/>
          <a:ln/>
        </p:spPr>
        <p:txBody>
          <a:bodyPr wrap="square" lIns="0" tIns="0" rIns="0" bIns="0" rtlCol="0" anchor="t"/>
          <a:lstStyle/>
          <a:p>
            <a:pPr marL="228600" indent="-228600" algn="l">
              <a:spcAft>
                <a:spcPts val="1200"/>
              </a:spcAft>
              <a:buSzPct val="100000"/>
              <a:buChar char="•"/>
            </a:pPr>
            <a:endParaRPr lang="en-US" sz="1700">
              <a:solidFill>
                <a:srgbClr val="222222"/>
              </a:solidFill>
              <a:ea typeface="Calibri"/>
              <a:cs typeface="Calibri"/>
            </a:endParaRPr>
          </a:p>
        </p:txBody>
      </p:sp>
      <p:pic>
        <p:nvPicPr>
          <p:cNvPr id="13" name="Picture 12">
            <a:extLst>
              <a:ext uri="{FF2B5EF4-FFF2-40B4-BE49-F238E27FC236}">
                <a16:creationId xmlns:a16="http://schemas.microsoft.com/office/drawing/2014/main" id="{546F9F7E-81D6-9AA5-2EC5-0EF220E76039}"/>
              </a:ext>
            </a:extLst>
          </p:cNvPr>
          <p:cNvPicPr>
            <a:picLocks noChangeAspect="1"/>
          </p:cNvPicPr>
          <p:nvPr/>
        </p:nvPicPr>
        <p:blipFill>
          <a:blip r:embed="rId3"/>
          <a:stretch>
            <a:fillRect/>
          </a:stretch>
        </p:blipFill>
        <p:spPr>
          <a:xfrm>
            <a:off x="877120" y="886968"/>
            <a:ext cx="10544438" cy="5733288"/>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Coding">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715832" y="467061"/>
            <a:ext cx="9000000" cy="566928"/>
          </a:xfrm>
          <a:prstGeom prst="rect">
            <a:avLst/>
          </a:prstGeom>
          <a:noFill/>
          <a:ln/>
        </p:spPr>
        <p:txBody>
          <a:bodyPr wrap="square" lIns="0" tIns="0" rIns="0" bIns="0" rtlCol="0" anchor="ctr">
            <a:noAutofit/>
          </a:bodyPr>
          <a:lstStyle/>
          <a:p>
            <a:r>
              <a:rPr lang="en-US" sz="2800" b="1" dirty="0">
                <a:solidFill>
                  <a:srgbClr val="1F3864"/>
                </a:solidFill>
              </a:rPr>
              <a:t>Coding (Sample Code) :</a:t>
            </a:r>
          </a:p>
        </p:txBody>
      </p:sp>
      <p:sp>
        <p:nvSpPr>
          <p:cNvPr id="3" name="Card"/>
          <p:cNvSpPr/>
          <p:nvPr/>
        </p:nvSpPr>
        <p:spPr>
          <a:xfrm>
            <a:off x="491715" y="1189169"/>
            <a:ext cx="5167703" cy="4754431"/>
          </a:xfrm>
          <a:prstGeom prst="rect">
            <a:avLst/>
          </a:prstGeom>
          <a:solidFill>
            <a:srgbClr val="F7F8FA"/>
          </a:solidFill>
          <a:ln w="12700">
            <a:solidFill>
              <a:srgbClr val="D9D9D9"/>
            </a:solidFill>
            <a:prstDash val="solid"/>
          </a:ln>
        </p:spPr>
      </p:sp>
      <p:sp>
        <p:nvSpPr>
          <p:cNvPr id="4" name="Heading"/>
          <p:cNvSpPr txBox="1"/>
          <p:nvPr/>
        </p:nvSpPr>
        <p:spPr>
          <a:xfrm>
            <a:off x="865990" y="1400000"/>
            <a:ext cx="4419153" cy="292608"/>
          </a:xfrm>
          <a:prstGeom prst="rect">
            <a:avLst/>
          </a:prstGeom>
          <a:noFill/>
          <a:ln/>
        </p:spPr>
        <p:txBody>
          <a:bodyPr wrap="square" lIns="0" tIns="0" rIns="0" bIns="0" rtlCol="0" anchor="ctr">
            <a:noAutofit/>
          </a:bodyPr>
          <a:lstStyle/>
          <a:p>
            <a:r>
              <a:rPr lang="en-US" sz="2000" b="1" dirty="0">
                <a:solidFill>
                  <a:srgbClr val="1F3864"/>
                </a:solidFill>
                <a:latin typeface="Calibri"/>
                <a:ea typeface="Calibri"/>
                <a:cs typeface="Calibri"/>
              </a:rPr>
              <a:t>1. Batch Optimizer (P2) :</a:t>
            </a:r>
          </a:p>
        </p:txBody>
      </p:sp>
      <p:sp>
        <p:nvSpPr>
          <p:cNvPr id="5" name="Code"/>
          <p:cNvSpPr txBox="1"/>
          <p:nvPr/>
        </p:nvSpPr>
        <p:spPr>
          <a:xfrm>
            <a:off x="865990" y="1800000"/>
            <a:ext cx="4419153" cy="2230000"/>
          </a:xfrm>
          <a:prstGeom prst="rect">
            <a:avLst/>
          </a:prstGeom>
          <a:solidFill>
            <a:srgbClr val="14213D"/>
          </a:solidFill>
          <a:ln>
            <a:noFill/>
          </a:ln>
        </p:spPr>
        <p:txBody>
          <a:bodyPr wrap="square" lIns="109728" tIns="91440" rIns="91440" bIns="91440" rtlCol="0" anchor="t">
            <a:noAutofit/>
          </a:bodyPr>
          <a:lstStyle/>
          <a:p>
            <a:pPr marL="0" indent="0">
              <a:buNone/>
            </a:pPr>
            <a:r>
              <a:rPr lang="en-US" sz="1000" dirty="0">
                <a:solidFill>
                  <a:srgbClr val="7FB2FF"/>
                </a:solidFill>
                <a:latin typeface="Courier New"/>
                <a:ea typeface="Courier New"/>
                <a:cs typeface="Courier New"/>
              </a:rPr>
              <a:t>def</a:t>
            </a:r>
            <a:r>
              <a:rPr lang="en-US" sz="1000" dirty="0">
                <a:solidFill>
                  <a:srgbClr val="E8EEF9"/>
                </a:solidFill>
                <a:latin typeface="Courier New"/>
                <a:ea typeface="Courier New"/>
                <a:cs typeface="Courier New"/>
              </a:rPr>
              <a:t> decide(obs):</a:t>
            </a:r>
          </a:p>
          <a:p>
            <a:pPr marL="0" indent="0">
              <a:buNone/>
            </a:pPr>
            <a:r>
              <a:rPr lang="en-US" sz="1000" dirty="0">
                <a:solidFill>
                  <a:srgbClr val="E8EEF9"/>
                </a:solidFill>
                <a:latin typeface="Courier New"/>
                <a:ea typeface="Courier New"/>
                <a:cs typeface="Courier New"/>
              </a:rPr>
              <a:t>    </a:t>
            </a:r>
            <a:r>
              <a:rPr lang="en-US" sz="1000" dirty="0">
                <a:solidFill>
                  <a:srgbClr val="7FB2FF"/>
                </a:solidFill>
                <a:latin typeface="Courier New"/>
                <a:ea typeface="Courier New"/>
                <a:cs typeface="Courier New"/>
              </a:rPr>
              <a:t>if</a:t>
            </a:r>
            <a:r>
              <a:rPr lang="en-US" sz="1000" dirty="0">
                <a:solidFill>
                  <a:srgbClr val="E8EEF9"/>
                </a:solidFill>
                <a:latin typeface="Courier New"/>
                <a:ea typeface="Courier New"/>
                <a:cs typeface="Courier New"/>
              </a:rPr>
              <a:t> obs.pool_locked </a:t>
            </a:r>
            <a:r>
              <a:rPr lang="en-US" sz="1000" dirty="0">
                <a:solidFill>
                  <a:srgbClr val="7FB2FF"/>
                </a:solidFill>
                <a:latin typeface="Courier New"/>
                <a:ea typeface="Courier New"/>
                <a:cs typeface="Courier New"/>
              </a:rPr>
              <a:t>or</a:t>
            </a:r>
            <a:r>
              <a:rPr lang="en-US" sz="1000" dirty="0">
                <a:solidFill>
                  <a:srgbClr val="E8EEF9"/>
                </a:solidFill>
                <a:latin typeface="Courier New"/>
                <a:ea typeface="Courier New"/>
                <a:cs typeface="Courier New"/>
              </a:rPr>
              <a:t> queue_empty:</a:t>
            </a:r>
          </a:p>
          <a:p>
            <a:pPr marL="0" indent="0">
              <a:buNone/>
            </a:pPr>
            <a:r>
              <a:rPr lang="en-US" sz="1000" dirty="0">
                <a:solidFill>
                  <a:srgbClr val="E8EEF9"/>
                </a:solidFill>
                <a:latin typeface="Courier New"/>
                <a:ea typeface="Courier New"/>
                <a:cs typeface="Courier New"/>
              </a:rPr>
              <a:t>        </a:t>
            </a:r>
            <a:r>
              <a:rPr lang="en-US" sz="1000" dirty="0">
                <a:solidFill>
                  <a:srgbClr val="7FB2FF"/>
                </a:solidFill>
                <a:latin typeface="Courier New"/>
                <a:ea typeface="Courier New"/>
                <a:cs typeface="Courier New"/>
              </a:rPr>
              <a:t>return</a:t>
            </a:r>
            <a:r>
              <a:rPr lang="en-US" sz="1000" dirty="0">
                <a:solidFill>
                  <a:srgbClr val="E8EEF9"/>
                </a:solidFill>
                <a:latin typeface="Courier New"/>
                <a:ea typeface="Courier New"/>
                <a:cs typeface="Courier New"/>
              </a:rPr>
              <a:t> WAIT</a:t>
            </a:r>
          </a:p>
          <a:p>
            <a:pPr marL="0" indent="0">
              <a:buNone/>
            </a:pPr>
            <a:r>
              <a:rPr lang="en-US" sz="1000" dirty="0">
                <a:solidFill>
                  <a:srgbClr val="E8EEF9"/>
                </a:solidFill>
                <a:latin typeface="Courier New"/>
                <a:ea typeface="Courier New"/>
                <a:cs typeface="Courier New"/>
              </a:rPr>
              <a:t>    n_a = gate_a_max(obs)     </a:t>
            </a:r>
            <a:r>
              <a:rPr lang="en-US" sz="1000" dirty="0">
                <a:solidFill>
                  <a:srgbClr val="8FA3C4"/>
                </a:solidFill>
                <a:latin typeface="Courier New"/>
                <a:ea typeface="Courier New"/>
                <a:cs typeface="Courier New"/>
              </a:rPr>
              <a:t>  # tx limits</a:t>
            </a:r>
          </a:p>
          <a:p>
            <a:pPr marL="0" indent="0">
              <a:buNone/>
            </a:pPr>
            <a:r>
              <a:rPr lang="en-US" sz="1000" dirty="0">
                <a:solidFill>
                  <a:srgbClr val="E8EEF9"/>
                </a:solidFill>
                <a:latin typeface="Courier New"/>
                <a:ea typeface="Courier New"/>
                <a:cs typeface="Courier New"/>
              </a:rPr>
              <a:t>    </a:t>
            </a:r>
            <a:r>
              <a:rPr lang="en-US" sz="1000" dirty="0">
                <a:solidFill>
                  <a:srgbClr val="7FB2FF"/>
                </a:solidFill>
                <a:latin typeface="Courier New"/>
                <a:ea typeface="Courier New"/>
                <a:cs typeface="Courier New"/>
              </a:rPr>
              <a:t>if</a:t>
            </a:r>
            <a:r>
              <a:rPr lang="en-US" sz="1000" dirty="0">
                <a:solidFill>
                  <a:srgbClr val="E8EEF9"/>
                </a:solidFill>
                <a:latin typeface="Courier New"/>
                <a:ea typeface="Courier New"/>
                <a:cs typeface="Courier New"/>
              </a:rPr>
              <a:t> obs.oldest_wait &gt;= D_MAX:</a:t>
            </a:r>
          </a:p>
          <a:p>
            <a:pPr marL="0" indent="0">
              <a:buNone/>
            </a:pPr>
            <a:r>
              <a:rPr lang="en-US" sz="1000" dirty="0">
                <a:solidFill>
                  <a:srgbClr val="E8EEF9"/>
                </a:solidFill>
                <a:latin typeface="Courier New"/>
                <a:ea typeface="Courier New"/>
                <a:cs typeface="Courier New"/>
              </a:rPr>
              <a:t>        </a:t>
            </a:r>
            <a:r>
              <a:rPr lang="en-US" sz="1000" dirty="0">
                <a:solidFill>
                  <a:srgbClr val="7FB2FF"/>
                </a:solidFill>
                <a:latin typeface="Courier New"/>
                <a:ea typeface="Courier New"/>
                <a:cs typeface="Courier New"/>
              </a:rPr>
              <a:t>return</a:t>
            </a:r>
            <a:r>
              <a:rPr lang="en-US" sz="1000" dirty="0">
                <a:solidFill>
                  <a:srgbClr val="E8EEF9"/>
                </a:solidFill>
                <a:latin typeface="Courier New"/>
                <a:ea typeface="Courier New"/>
                <a:cs typeface="Courier New"/>
              </a:rPr>
              <a:t> SUBMIT(n_a)    </a:t>
            </a:r>
            <a:r>
              <a:rPr lang="en-US" sz="1000" dirty="0">
                <a:solidFill>
                  <a:srgbClr val="8FA3C4"/>
                </a:solidFill>
                <a:latin typeface="Courier New"/>
                <a:ea typeface="Courier New"/>
                <a:cs typeface="Courier New"/>
              </a:rPr>
              <a:t>  # fairness</a:t>
            </a:r>
          </a:p>
          <a:p>
            <a:pPr marL="0" indent="0">
              <a:buNone/>
            </a:pPr>
            <a:r>
              <a:rPr lang="en-US" sz="1000" dirty="0">
                <a:solidFill>
                  <a:srgbClr val="E8EEF9"/>
                </a:solidFill>
                <a:latin typeface="Courier New"/>
                <a:ea typeface="Courier New"/>
                <a:cs typeface="Courier New"/>
              </a:rPr>
              <a:t>    n = min(n_a, gate_b_max(obs))</a:t>
            </a:r>
          </a:p>
          <a:p>
            <a:pPr marL="0" indent="0">
              <a:buNone/>
            </a:pPr>
            <a:r>
              <a:rPr lang="en-US" sz="1000" dirty="0">
                <a:solidFill>
                  <a:srgbClr val="E8EEF9"/>
                </a:solidFill>
                <a:latin typeface="Courier New"/>
                <a:ea typeface="Courier New"/>
                <a:cs typeface="Courier New"/>
              </a:rPr>
              <a:t>    </a:t>
            </a:r>
            <a:r>
              <a:rPr lang="en-US" sz="1000" dirty="0">
                <a:solidFill>
                  <a:srgbClr val="7FB2FF"/>
                </a:solidFill>
                <a:latin typeface="Courier New"/>
                <a:ea typeface="Courier New"/>
                <a:cs typeface="Courier New"/>
              </a:rPr>
              <a:t>if</a:t>
            </a:r>
            <a:r>
              <a:rPr lang="en-US" sz="1000" dirty="0">
                <a:solidFill>
                  <a:srgbClr val="E8EEF9"/>
                </a:solidFill>
                <a:latin typeface="Courier New"/>
                <a:ea typeface="Courier New"/>
                <a:cs typeface="Courier New"/>
              </a:rPr>
              <a:t> n == 0:</a:t>
            </a:r>
          </a:p>
          <a:p>
            <a:pPr marL="0" indent="0">
              <a:buNone/>
            </a:pPr>
            <a:r>
              <a:rPr lang="en-US" sz="1000" dirty="0">
                <a:solidFill>
                  <a:srgbClr val="E8EEF9"/>
                </a:solidFill>
                <a:latin typeface="Courier New"/>
                <a:ea typeface="Courier New"/>
                <a:cs typeface="Courier New"/>
              </a:rPr>
              <a:t>        </a:t>
            </a:r>
            <a:r>
              <a:rPr lang="en-US" sz="1000" dirty="0">
                <a:solidFill>
                  <a:srgbClr val="7FB2FF"/>
                </a:solidFill>
                <a:latin typeface="Courier New"/>
                <a:ea typeface="Courier New"/>
                <a:cs typeface="Courier New"/>
              </a:rPr>
              <a:t>return</a:t>
            </a:r>
            <a:r>
              <a:rPr lang="en-US" sz="1000" dirty="0">
                <a:solidFill>
                  <a:srgbClr val="E8EEF9"/>
                </a:solidFill>
                <a:latin typeface="Courier New"/>
                <a:ea typeface="Courier New"/>
                <a:cs typeface="Courier New"/>
              </a:rPr>
              <a:t> WAIT</a:t>
            </a:r>
          </a:p>
          <a:p>
            <a:pPr marL="0" indent="0">
              <a:buNone/>
            </a:pPr>
            <a:r>
              <a:rPr lang="en-US" sz="1000" dirty="0">
                <a:solidFill>
                  <a:srgbClr val="E8EEF9"/>
                </a:solidFill>
                <a:latin typeface="Courier New"/>
                <a:ea typeface="Courier New"/>
                <a:cs typeface="Courier New"/>
              </a:rPr>
              <a:t>    </a:t>
            </a:r>
            <a:r>
              <a:rPr lang="en-US" sz="1000" dirty="0">
                <a:solidFill>
                  <a:srgbClr val="7FB2FF"/>
                </a:solidFill>
                <a:latin typeface="Courier New"/>
                <a:ea typeface="Courier New"/>
                <a:cs typeface="Courier New"/>
              </a:rPr>
              <a:t>if</a:t>
            </a:r>
            <a:r>
              <a:rPr lang="en-US" sz="1000" dirty="0">
                <a:solidFill>
                  <a:srgbClr val="E8EEF9"/>
                </a:solidFill>
                <a:latin typeface="Courier New"/>
                <a:ea typeface="Courier New"/>
                <a:cs typeface="Courier New"/>
              </a:rPr>
              <a:t> n &lt; N_MIN </a:t>
            </a:r>
            <a:r>
              <a:rPr lang="en-US" sz="1000" dirty="0">
                <a:solidFill>
                  <a:srgbClr val="7FB2FF"/>
                </a:solidFill>
                <a:latin typeface="Courier New"/>
                <a:ea typeface="Courier New"/>
                <a:cs typeface="Courier New"/>
              </a:rPr>
              <a:t>and</a:t>
            </a:r>
            <a:r>
              <a:rPr lang="en-US" sz="1000" dirty="0">
                <a:solidFill>
                  <a:srgbClr val="E8EEF9"/>
                </a:solidFill>
                <a:latin typeface="Courier New"/>
                <a:ea typeface="Courier New"/>
                <a:cs typeface="Courier New"/>
              </a:rPr>
              <a:t> quieter_block_ahead:</a:t>
            </a:r>
          </a:p>
          <a:p>
            <a:pPr marL="0" indent="0">
              <a:buNone/>
            </a:pPr>
            <a:r>
              <a:rPr lang="en-US" sz="1000" dirty="0">
                <a:solidFill>
                  <a:srgbClr val="E8EEF9"/>
                </a:solidFill>
                <a:latin typeface="Courier New"/>
                <a:ea typeface="Courier New"/>
                <a:cs typeface="Courier New"/>
              </a:rPr>
              <a:t>        </a:t>
            </a:r>
            <a:r>
              <a:rPr lang="en-US" sz="1000" dirty="0">
                <a:solidFill>
                  <a:srgbClr val="7FB2FF"/>
                </a:solidFill>
                <a:latin typeface="Courier New"/>
                <a:ea typeface="Courier New"/>
                <a:cs typeface="Courier New"/>
              </a:rPr>
              <a:t>return</a:t>
            </a:r>
            <a:r>
              <a:rPr lang="en-US" sz="1000" dirty="0">
                <a:solidFill>
                  <a:srgbClr val="E8EEF9"/>
                </a:solidFill>
                <a:latin typeface="Courier New"/>
                <a:ea typeface="Courier New"/>
                <a:cs typeface="Courier New"/>
              </a:rPr>
              <a:t> WAIT           </a:t>
            </a:r>
            <a:r>
              <a:rPr lang="en-US" sz="1000" dirty="0">
                <a:solidFill>
                  <a:srgbClr val="8FA3C4"/>
                </a:solidFill>
                <a:latin typeface="Courier New"/>
                <a:ea typeface="Courier New"/>
                <a:cs typeface="Courier New"/>
              </a:rPr>
              <a:t>  # amortise</a:t>
            </a:r>
          </a:p>
          <a:p>
            <a:pPr marL="0" indent="0">
              <a:buNone/>
            </a:pPr>
            <a:r>
              <a:rPr lang="en-US" sz="1000" dirty="0">
                <a:solidFill>
                  <a:srgbClr val="E8EEF9"/>
                </a:solidFill>
                <a:latin typeface="Courier New"/>
                <a:ea typeface="Courier New"/>
                <a:cs typeface="Courier New"/>
              </a:rPr>
              <a:t>    </a:t>
            </a:r>
            <a:r>
              <a:rPr lang="en-US" sz="1000" dirty="0">
                <a:solidFill>
                  <a:srgbClr val="7FB2FF"/>
                </a:solidFill>
                <a:latin typeface="Courier New"/>
                <a:ea typeface="Courier New"/>
                <a:cs typeface="Courier New"/>
              </a:rPr>
              <a:t>return</a:t>
            </a:r>
            <a:r>
              <a:rPr lang="en-US" sz="1000" dirty="0">
                <a:solidFill>
                  <a:srgbClr val="E8EEF9"/>
                </a:solidFill>
                <a:latin typeface="Courier New"/>
                <a:ea typeface="Courier New"/>
                <a:cs typeface="Courier New"/>
              </a:rPr>
              <a:t> SUBMIT(n)</a:t>
            </a:r>
          </a:p>
        </p:txBody>
      </p:sp>
      <p:sp>
        <p:nvSpPr>
          <p:cNvPr id="6" name="Source"/>
          <p:cNvSpPr txBox="1"/>
          <p:nvPr/>
        </p:nvSpPr>
        <p:spPr>
          <a:xfrm>
            <a:off x="865990" y="4060000"/>
            <a:ext cx="4419153" cy="230000"/>
          </a:xfrm>
          <a:prstGeom prst="rect">
            <a:avLst/>
          </a:prstGeom>
          <a:noFill/>
          <a:ln/>
        </p:spPr>
        <p:txBody>
          <a:bodyPr wrap="square" lIns="0" tIns="0" rIns="0" bIns="0" rtlCol="0" anchor="ctr">
            <a:noAutofit/>
          </a:bodyPr>
          <a:lstStyle/>
          <a:p>
            <a:r>
              <a:rPr lang="en-US" sz="1000" i="1" dirty="0">
                <a:solidFill>
                  <a:srgbClr val="595959"/>
                </a:solidFill>
              </a:rPr>
              <a:t>src/batcher/policy/optimizer.py (simplified excerpt)</a:t>
            </a:r>
          </a:p>
        </p:txBody>
      </p:sp>
      <p:sp>
        <p:nvSpPr>
          <p:cNvPr id="7" name="Bullets"/>
          <p:cNvSpPr txBox="1"/>
          <p:nvPr/>
        </p:nvSpPr>
        <p:spPr>
          <a:xfrm>
            <a:off x="865990" y="4360000"/>
            <a:ext cx="4419153" cy="1500000"/>
          </a:xfrm>
          <a:prstGeom prst="rect">
            <a:avLst/>
          </a:prstGeom>
          <a:noFill/>
          <a:ln/>
        </p:spPr>
        <p:txBody>
          <a:bodyPr wrap="square" lIns="0" tIns="0" rIns="0" bIns="0" rtlCol="0" anchor="t">
            <a:noAutofit/>
          </a:bodyPr>
          <a:lstStyle/>
          <a:p>
            <a:pPr marL="285750" indent="-285750" algn="l">
              <a:spcAft>
                <a:spcPts val="500"/>
              </a:spcAft>
              <a:buFont typeface="Arial"/>
              <a:buChar char="•"/>
            </a:pPr>
            <a:r>
              <a:rPr lang="en-US" sz="1400" b="1" dirty="0">
                <a:solidFill>
                  <a:srgbClr val="000000"/>
                </a:solidFill>
              </a:rPr>
              <a:t>Hard limits first: Gate A (per tx) and Gate B (per block).</a:t>
            </a:r>
          </a:p>
          <a:p>
            <a:pPr marL="285750" indent="-285750" algn="l">
              <a:spcAft>
                <a:spcPts val="500"/>
              </a:spcAft>
              <a:buFont typeface="Arial"/>
              <a:buChar char="•"/>
            </a:pPr>
            <a:r>
              <a:rPr lang="en-US" sz="1400" b="1" dirty="0">
                <a:solidFill>
                  <a:srgbClr val="000000"/>
                </a:solidFill>
              </a:rPr>
              <a:t>Past D_MAX the oldest order forces a submission.</a:t>
            </a:r>
          </a:p>
          <a:p>
            <a:pPr marL="285750" indent="-285750" algn="l">
              <a:spcAft>
                <a:spcPts val="500"/>
              </a:spcAft>
              <a:buFont typeface="Arial"/>
              <a:buChar char="•"/>
            </a:pPr>
            <a:r>
              <a:rPr lang="en-US" sz="1400" b="1" dirty="0">
                <a:solidFill>
                  <a:srgbClr val="000000"/>
                </a:solidFill>
              </a:rPr>
              <a:t>Waits only when a quieter block is forecast.</a:t>
            </a:r>
          </a:p>
        </p:txBody>
      </p:sp>
      <p:sp>
        <p:nvSpPr>
          <p:cNvPr id="8" name="Card"/>
          <p:cNvSpPr/>
          <p:nvPr/>
        </p:nvSpPr>
        <p:spPr>
          <a:xfrm>
            <a:off x="6397215" y="1189169"/>
            <a:ext cx="5167703" cy="4754431"/>
          </a:xfrm>
          <a:prstGeom prst="rect">
            <a:avLst/>
          </a:prstGeom>
          <a:solidFill>
            <a:srgbClr val="F7F8FA"/>
          </a:solidFill>
          <a:ln w="12700">
            <a:solidFill>
              <a:srgbClr val="D9D9D9"/>
            </a:solidFill>
            <a:prstDash val="solid"/>
          </a:ln>
        </p:spPr>
      </p:sp>
      <p:sp>
        <p:nvSpPr>
          <p:cNvPr id="9" name="Heading"/>
          <p:cNvSpPr txBox="1"/>
          <p:nvPr/>
        </p:nvSpPr>
        <p:spPr>
          <a:xfrm>
            <a:off x="6771490" y="1400000"/>
            <a:ext cx="4419153" cy="292608"/>
          </a:xfrm>
          <a:prstGeom prst="rect">
            <a:avLst/>
          </a:prstGeom>
          <a:noFill/>
          <a:ln/>
        </p:spPr>
        <p:txBody>
          <a:bodyPr wrap="square" lIns="0" tIns="0" rIns="0" bIns="0" rtlCol="0" anchor="ctr">
            <a:noAutofit/>
          </a:bodyPr>
          <a:lstStyle/>
          <a:p>
            <a:r>
              <a:rPr lang="en-US" sz="2000" b="1" dirty="0">
                <a:solidFill>
                  <a:srgbClr val="1F3864"/>
                </a:solidFill>
                <a:latin typeface="Calibri"/>
                <a:ea typeface="Calibri"/>
                <a:cs typeface="Calibri"/>
              </a:rPr>
              <a:t>2. Safety Shield :</a:t>
            </a:r>
          </a:p>
        </p:txBody>
      </p:sp>
      <p:sp>
        <p:nvSpPr>
          <p:cNvPr id="10" name="Code"/>
          <p:cNvSpPr txBox="1"/>
          <p:nvPr/>
        </p:nvSpPr>
        <p:spPr>
          <a:xfrm>
            <a:off x="6771490" y="1800000"/>
            <a:ext cx="4419153" cy="2230000"/>
          </a:xfrm>
          <a:prstGeom prst="rect">
            <a:avLst/>
          </a:prstGeom>
          <a:solidFill>
            <a:srgbClr val="14213D"/>
          </a:solidFill>
          <a:ln>
            <a:noFill/>
          </a:ln>
        </p:spPr>
        <p:txBody>
          <a:bodyPr wrap="square" lIns="109728" tIns="91440" rIns="91440" bIns="91440" rtlCol="0" anchor="t">
            <a:noAutofit/>
          </a:bodyPr>
          <a:lstStyle/>
          <a:p>
            <a:pPr marL="0" indent="0">
              <a:buNone/>
            </a:pPr>
            <a:r>
              <a:rPr lang="en-US" sz="1000" dirty="0">
                <a:solidFill>
                  <a:srgbClr val="7FB2FF"/>
                </a:solidFill>
                <a:latin typeface="Courier New"/>
                <a:ea typeface="Courier New"/>
                <a:cs typeface="Courier New"/>
              </a:rPr>
              <a:t>def</a:t>
            </a:r>
            <a:r>
              <a:rPr lang="en-US" sz="1000" dirty="0">
                <a:solidFill>
                  <a:srgbClr val="E8EEF9"/>
                </a:solidFill>
                <a:latin typeface="Courier New"/>
                <a:ea typeface="Courier New"/>
                <a:cs typeface="Courier New"/>
              </a:rPr>
              <a:t> decide(obs):</a:t>
            </a:r>
          </a:p>
          <a:p>
            <a:pPr marL="0" indent="0">
              <a:buNone/>
            </a:pPr>
            <a:r>
              <a:rPr lang="en-US" sz="1000" dirty="0">
                <a:solidFill>
                  <a:srgbClr val="E8EEF9"/>
                </a:solidFill>
                <a:latin typeface="Courier New"/>
                <a:ea typeface="Courier New"/>
                <a:cs typeface="Courier New"/>
              </a:rPr>
              <a:t>    </a:t>
            </a:r>
            <a:r>
              <a:rPr lang="en-US" sz="1000" dirty="0">
                <a:solidFill>
                  <a:srgbClr val="7FB2FF"/>
                </a:solidFill>
                <a:latin typeface="Courier New"/>
                <a:ea typeface="Courier New"/>
                <a:cs typeface="Courier New"/>
              </a:rPr>
              <a:t>if</a:t>
            </a:r>
            <a:r>
              <a:rPr lang="en-US" sz="1000" dirty="0">
                <a:solidFill>
                  <a:srgbClr val="E8EEF9"/>
                </a:solidFill>
                <a:latin typeface="Courier New"/>
                <a:ea typeface="Courier New"/>
                <a:cs typeface="Courier New"/>
              </a:rPr>
              <a:t> obs.pool_locked:</a:t>
            </a:r>
          </a:p>
          <a:p>
            <a:pPr marL="0" indent="0">
              <a:buNone/>
            </a:pPr>
            <a:r>
              <a:rPr lang="en-US" sz="1000" dirty="0">
                <a:solidFill>
                  <a:srgbClr val="E8EEF9"/>
                </a:solidFill>
                <a:latin typeface="Courier New"/>
                <a:ea typeface="Courier New"/>
                <a:cs typeface="Courier New"/>
              </a:rPr>
              <a:t>        </a:t>
            </a:r>
            <a:r>
              <a:rPr lang="en-US" sz="1000" dirty="0">
                <a:solidFill>
                  <a:srgbClr val="7FB2FF"/>
                </a:solidFill>
                <a:latin typeface="Courier New"/>
                <a:ea typeface="Courier New"/>
                <a:cs typeface="Courier New"/>
              </a:rPr>
              <a:t>return</a:t>
            </a:r>
            <a:r>
              <a:rPr lang="en-US" sz="1000" dirty="0">
                <a:solidFill>
                  <a:srgbClr val="E8EEF9"/>
                </a:solidFill>
                <a:latin typeface="Courier New"/>
                <a:ea typeface="Courier New"/>
                <a:cs typeface="Courier New"/>
              </a:rPr>
              <a:t> WAIT</a:t>
            </a:r>
          </a:p>
          <a:p>
            <a:pPr marL="0" indent="0">
              <a:buNone/>
            </a:pPr>
            <a:r>
              <a:rPr lang="en-US" sz="1000" dirty="0">
                <a:solidFill>
                  <a:srgbClr val="E8EEF9"/>
                </a:solidFill>
                <a:latin typeface="Courier New"/>
                <a:ea typeface="Courier New"/>
                <a:cs typeface="Courier New"/>
              </a:rPr>
              <a:t>    </a:t>
            </a:r>
            <a:r>
              <a:rPr lang="en-US" sz="1000" dirty="0">
                <a:solidFill>
                  <a:srgbClr val="7FB2FF"/>
                </a:solidFill>
                <a:latin typeface="Courier New"/>
                <a:ea typeface="Courier New"/>
                <a:cs typeface="Courier New"/>
              </a:rPr>
              <a:t>if</a:t>
            </a:r>
            <a:r>
              <a:rPr lang="en-US" sz="1000" dirty="0">
                <a:solidFill>
                  <a:srgbClr val="E8EEF9"/>
                </a:solidFill>
                <a:latin typeface="Courier New"/>
                <a:ea typeface="Courier New"/>
                <a:cs typeface="Courier New"/>
              </a:rPr>
              <a:t> oldest_wait &gt;= D_MAX:</a:t>
            </a:r>
          </a:p>
          <a:p>
            <a:pPr marL="0" indent="0">
              <a:buNone/>
            </a:pPr>
            <a:r>
              <a:rPr lang="en-US" sz="1000" dirty="0">
                <a:solidFill>
                  <a:srgbClr val="E8EEF9"/>
                </a:solidFill>
                <a:latin typeface="Courier New"/>
                <a:ea typeface="Courier New"/>
                <a:cs typeface="Courier New"/>
              </a:rPr>
              <a:t>        </a:t>
            </a:r>
            <a:r>
              <a:rPr lang="en-US" sz="1000" dirty="0">
                <a:solidFill>
                  <a:srgbClr val="7FB2FF"/>
                </a:solidFill>
                <a:latin typeface="Courier New"/>
                <a:ea typeface="Courier New"/>
                <a:cs typeface="Courier New"/>
              </a:rPr>
              <a:t>return</a:t>
            </a:r>
            <a:r>
              <a:rPr lang="en-US" sz="1000" dirty="0">
                <a:solidFill>
                  <a:srgbClr val="E8EEF9"/>
                </a:solidFill>
                <a:latin typeface="Courier New"/>
                <a:ea typeface="Courier New"/>
                <a:cs typeface="Courier New"/>
              </a:rPr>
              <a:t> SUBMIT(gate_a_max)</a:t>
            </a:r>
            <a:r>
              <a:rPr lang="en-US" sz="1000" dirty="0">
                <a:solidFill>
                  <a:srgbClr val="8FA3C4"/>
                </a:solidFill>
                <a:latin typeface="Courier New"/>
                <a:ea typeface="Courier New"/>
                <a:cs typeface="Courier New"/>
              </a:rPr>
              <a:t>  # forced</a:t>
            </a:r>
          </a:p>
          <a:p>
            <a:pPr marL="0" indent="0">
              <a:buNone/>
            </a:pPr>
            <a:r>
              <a:rPr lang="en-US" sz="1000" dirty="0">
                <a:solidFill>
                  <a:srgbClr val="E8EEF9"/>
                </a:solidFill>
                <a:latin typeface="Courier New"/>
                <a:ea typeface="Courier New"/>
                <a:cs typeface="Courier New"/>
              </a:rPr>
              <a:t>    </a:t>
            </a:r>
            <a:r>
              <a:rPr lang="en-US" sz="1000" dirty="0">
                <a:solidFill>
                  <a:srgbClr val="7FB2FF"/>
                </a:solidFill>
                <a:latin typeface="Courier New"/>
                <a:ea typeface="Courier New"/>
                <a:cs typeface="Courier New"/>
              </a:rPr>
              <a:t>if</a:t>
            </a:r>
            <a:r>
              <a:rPr lang="en-US" sz="1000" dirty="0">
                <a:solidFill>
                  <a:srgbClr val="E8EEF9"/>
                </a:solidFill>
                <a:latin typeface="Courier New"/>
                <a:ea typeface="Courier New"/>
                <a:cs typeface="Courier New"/>
              </a:rPr>
              <a:t> out_of_range(obs):</a:t>
            </a:r>
          </a:p>
          <a:p>
            <a:pPr marL="0" indent="0">
              <a:buNone/>
            </a:pPr>
            <a:r>
              <a:rPr lang="en-US" sz="1000" dirty="0">
                <a:solidFill>
                  <a:srgbClr val="E8EEF9"/>
                </a:solidFill>
                <a:latin typeface="Courier New"/>
                <a:ea typeface="Courier New"/>
                <a:cs typeface="Courier New"/>
              </a:rPr>
              <a:t>        </a:t>
            </a:r>
            <a:r>
              <a:rPr lang="en-US" sz="1000" dirty="0">
                <a:solidFill>
                  <a:srgbClr val="7FB2FF"/>
                </a:solidFill>
                <a:latin typeface="Courier New"/>
                <a:ea typeface="Courier New"/>
                <a:cs typeface="Courier New"/>
              </a:rPr>
              <a:t>return</a:t>
            </a:r>
            <a:r>
              <a:rPr lang="en-US" sz="1000" dirty="0">
                <a:solidFill>
                  <a:srgbClr val="E8EEF9"/>
                </a:solidFill>
                <a:latin typeface="Courier New"/>
                <a:ea typeface="Courier New"/>
                <a:cs typeface="Courier New"/>
              </a:rPr>
              <a:t> clamp(P2.decide(obs))</a:t>
            </a:r>
          </a:p>
          <a:p>
            <a:pPr marL="0" indent="0">
              <a:buNone/>
            </a:pPr>
            <a:r>
              <a:rPr lang="en-US" sz="1000" dirty="0">
                <a:solidFill>
                  <a:srgbClr val="E8EEF9"/>
                </a:solidFill>
                <a:latin typeface="Courier New"/>
                <a:ea typeface="Courier New"/>
                <a:cs typeface="Courier New"/>
              </a:rPr>
              <a:t>    </a:t>
            </a:r>
            <a:r>
              <a:rPr lang="en-US" sz="1000" dirty="0">
                <a:solidFill>
                  <a:srgbClr val="7FB2FF"/>
                </a:solidFill>
                <a:latin typeface="Courier New"/>
                <a:ea typeface="Courier New"/>
                <a:cs typeface="Courier New"/>
              </a:rPr>
              <a:t>return</a:t>
            </a:r>
            <a:r>
              <a:rPr lang="en-US" sz="1000" dirty="0">
                <a:solidFill>
                  <a:srgbClr val="E8EEF9"/>
                </a:solidFill>
                <a:latin typeface="Courier New"/>
                <a:ea typeface="Courier New"/>
                <a:cs typeface="Courier New"/>
              </a:rPr>
              <a:t> clamp(DQN.decide(obs))</a:t>
            </a:r>
          </a:p>
        </p:txBody>
      </p:sp>
      <p:sp>
        <p:nvSpPr>
          <p:cNvPr id="11" name="Source"/>
          <p:cNvSpPr txBox="1"/>
          <p:nvPr/>
        </p:nvSpPr>
        <p:spPr>
          <a:xfrm>
            <a:off x="6771490" y="4060000"/>
            <a:ext cx="4419153" cy="230000"/>
          </a:xfrm>
          <a:prstGeom prst="rect">
            <a:avLst/>
          </a:prstGeom>
          <a:noFill/>
          <a:ln/>
        </p:spPr>
        <p:txBody>
          <a:bodyPr wrap="square" lIns="0" tIns="0" rIns="0" bIns="0" rtlCol="0" anchor="ctr">
            <a:noAutofit/>
          </a:bodyPr>
          <a:lstStyle/>
          <a:p>
            <a:r>
              <a:rPr lang="en-US" sz="1000" i="1" dirty="0">
                <a:solidFill>
                  <a:srgbClr val="595959"/>
                </a:solidFill>
              </a:rPr>
              <a:t>src/batcher/policy/shield.py (simplified excerpt)</a:t>
            </a:r>
          </a:p>
        </p:txBody>
      </p:sp>
      <p:sp>
        <p:nvSpPr>
          <p:cNvPr id="12" name="Bullets"/>
          <p:cNvSpPr txBox="1"/>
          <p:nvPr/>
        </p:nvSpPr>
        <p:spPr>
          <a:xfrm>
            <a:off x="6771490" y="4360000"/>
            <a:ext cx="4419153" cy="1500000"/>
          </a:xfrm>
          <a:prstGeom prst="rect">
            <a:avLst/>
          </a:prstGeom>
          <a:noFill/>
          <a:ln/>
        </p:spPr>
        <p:txBody>
          <a:bodyPr wrap="square" lIns="0" tIns="0" rIns="0" bIns="0" rtlCol="0" anchor="t">
            <a:noAutofit/>
          </a:bodyPr>
          <a:lstStyle/>
          <a:p>
            <a:pPr marL="285750" indent="-285750" algn="l">
              <a:spcAft>
                <a:spcPts val="500"/>
              </a:spcAft>
              <a:buFont typeface="Arial"/>
              <a:buChar char="•"/>
            </a:pPr>
            <a:r>
              <a:rPr lang="en-US" sz="1400" b="1" dirty="0">
                <a:solidFill>
                  <a:srgbClr val="000000"/>
                </a:solidFill>
              </a:rPr>
              <a:t>A forced submission always uses the Gate A maximum.</a:t>
            </a:r>
          </a:p>
          <a:p>
            <a:pPr marL="285750" indent="-285750" algn="l">
              <a:spcAft>
                <a:spcPts val="500"/>
              </a:spcAft>
              <a:buFont typeface="Arial"/>
              <a:buChar char="•"/>
            </a:pPr>
            <a:r>
              <a:rPr lang="en-US" sz="1400" b="1" dirty="0">
                <a:solidFill>
                  <a:srgbClr val="000000"/>
                </a:solidFill>
              </a:rPr>
              <a:t>Out-of-range states are handed to P2.</a:t>
            </a:r>
          </a:p>
          <a:p>
            <a:pPr marL="285750" indent="-285750" algn="l">
              <a:spcAft>
                <a:spcPts val="500"/>
              </a:spcAft>
              <a:buFont typeface="Arial"/>
              <a:buChar char="•"/>
            </a:pPr>
            <a:r>
              <a:rPr lang="en-US" sz="1400" b="1" dirty="0">
                <a:solidFill>
                  <a:srgbClr val="000000"/>
                </a:solidFill>
              </a:rPr>
              <a:t>Every action is clamped to legal limits.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Results">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715832" y="467061"/>
            <a:ext cx="9000000" cy="566928"/>
          </a:xfrm>
          <a:prstGeom prst="rect">
            <a:avLst/>
          </a:prstGeom>
          <a:noFill/>
          <a:ln/>
        </p:spPr>
        <p:txBody>
          <a:bodyPr wrap="square" lIns="0" tIns="0" rIns="0" bIns="0" rtlCol="0" anchor="ctr">
            <a:noAutofit/>
          </a:bodyPr>
          <a:lstStyle/>
          <a:p>
            <a:r>
              <a:rPr lang="en-US" sz="2800" b="1" dirty="0">
                <a:solidFill>
                  <a:srgbClr val="1F3864"/>
                </a:solidFill>
              </a:rPr>
              <a:t>Results :</a:t>
            </a:r>
          </a:p>
        </p:txBody>
      </p:sp>
      <p:sp>
        <p:nvSpPr>
          <p:cNvPr id="3" name="Card"/>
          <p:cNvSpPr/>
          <p:nvPr/>
        </p:nvSpPr>
        <p:spPr>
          <a:xfrm>
            <a:off x="491715" y="1189169"/>
            <a:ext cx="5167703" cy="4754431"/>
          </a:xfrm>
          <a:prstGeom prst="rect">
            <a:avLst/>
          </a:prstGeom>
          <a:solidFill>
            <a:srgbClr val="F7F8FA"/>
          </a:solidFill>
          <a:ln w="12700">
            <a:solidFill>
              <a:srgbClr val="D9D9D9"/>
            </a:solidFill>
            <a:prstDash val="solid"/>
          </a:ln>
        </p:spPr>
      </p:sp>
      <p:sp>
        <p:nvSpPr>
          <p:cNvPr id="4" name="Heading"/>
          <p:cNvSpPr txBox="1"/>
          <p:nvPr/>
        </p:nvSpPr>
        <p:spPr>
          <a:xfrm>
            <a:off x="865990" y="1400000"/>
            <a:ext cx="4419153" cy="292608"/>
          </a:xfrm>
          <a:prstGeom prst="rect">
            <a:avLst/>
          </a:prstGeom>
          <a:noFill/>
          <a:ln/>
        </p:spPr>
        <p:txBody>
          <a:bodyPr wrap="square" lIns="0" tIns="0" rIns="0" bIns="0" rtlCol="0" anchor="ctr">
            <a:noAutofit/>
          </a:bodyPr>
          <a:lstStyle/>
          <a:p>
            <a:r>
              <a:rPr lang="en-US" sz="2000" b="1" dirty="0">
                <a:solidFill>
                  <a:srgbClr val="1F3864"/>
                </a:solidFill>
                <a:latin typeface="Calibri"/>
                <a:ea typeface="Calibri"/>
                <a:cs typeface="Calibri"/>
              </a:rPr>
              <a:t>Latency vs. Cost :</a:t>
            </a:r>
          </a:p>
        </p:txBody>
      </p:sp>
      <p:pic>
        <p:nvPicPr>
          <p:cNvPr id="5" name="Dashboard screenshot" descr="CloudAegis dashboard cost view showing live spend per service"/>
          <p:cNvPicPr>
            <a:picLocks noChangeAspect="1"/>
          </p:cNvPicPr>
          <p:nvPr/>
        </p:nvPicPr>
        <p:blipFill>
          <a:blip r:embed="rId2"/>
          <a:stretch>
            <a:fillRect/>
          </a:stretch>
        </p:blipFill>
        <p:spPr>
          <a:xfrm>
            <a:off x="1138100" y="1801368"/>
            <a:ext cx="3877711" cy="2523744"/>
          </a:xfrm>
          <a:prstGeom prst="rect">
            <a:avLst/>
          </a:prstGeom>
          <a:ln w="12700">
            <a:solidFill>
              <a:srgbClr val="D9D9D9"/>
            </a:solidFill>
          </a:ln>
        </p:spPr>
      </p:pic>
      <p:sp>
        <p:nvSpPr>
          <p:cNvPr id="6" name="Bullets"/>
          <p:cNvSpPr txBox="1"/>
          <p:nvPr/>
        </p:nvSpPr>
        <p:spPr>
          <a:xfrm>
            <a:off x="865990" y="4519692"/>
            <a:ext cx="4419153" cy="1000000"/>
          </a:xfrm>
          <a:prstGeom prst="rect">
            <a:avLst/>
          </a:prstGeom>
          <a:noFill/>
          <a:ln/>
        </p:spPr>
        <p:txBody>
          <a:bodyPr wrap="square" lIns="0" tIns="0" rIns="0" bIns="0" rtlCol="0" anchor="t">
            <a:noAutofit/>
          </a:bodyPr>
          <a:lstStyle/>
          <a:p>
            <a:pPr marL="285750" indent="-285750" algn="l">
              <a:spcAft>
                <a:spcPts val="500"/>
              </a:spcAft>
              <a:buFont typeface="Arial"/>
              <a:buChar char="•"/>
            </a:pPr>
            <a:r>
              <a:rPr lang="en-US" sz="1500" b="1" dirty="0">
                <a:solidFill>
                  <a:srgbClr val="000000"/>
                </a:solidFill>
              </a:rPr>
              <a:t>Greedy and P2(N=1) coincide; P2(N=4) gives up about 5 s for 19% lower cost.</a:t>
            </a:r>
          </a:p>
          <a:p>
            <a:pPr marL="285750" indent="-285750" algn="l">
              <a:spcAft>
                <a:spcPts val="500"/>
              </a:spcAft>
              <a:buFont typeface="Arial"/>
              <a:buChar char="•"/>
            </a:pPr>
            <a:r>
              <a:rPr lang="en-US" sz="1500" b="1" dirty="0">
                <a:solidFill>
                  <a:srgbClr val="000000"/>
                </a:solidFill>
              </a:rPr>
              <a:t>DQN trades latency for cost: p95 158.6 s against 125.0 s for P2(N=4).</a:t>
            </a:r>
          </a:p>
        </p:txBody>
      </p:sp>
      <p:sp>
        <p:nvSpPr>
          <p:cNvPr id="7" name="Card"/>
          <p:cNvSpPr/>
          <p:nvPr/>
        </p:nvSpPr>
        <p:spPr>
          <a:xfrm>
            <a:off x="6397215" y="1189169"/>
            <a:ext cx="5167703" cy="4754431"/>
          </a:xfrm>
          <a:prstGeom prst="rect">
            <a:avLst/>
          </a:prstGeom>
          <a:solidFill>
            <a:srgbClr val="F7F8FA"/>
          </a:solidFill>
          <a:ln w="12700">
            <a:solidFill>
              <a:srgbClr val="D9D9D9"/>
            </a:solidFill>
            <a:prstDash val="solid"/>
          </a:ln>
        </p:spPr>
      </p:sp>
      <p:sp>
        <p:nvSpPr>
          <p:cNvPr id="8" name="Heading"/>
          <p:cNvSpPr txBox="1"/>
          <p:nvPr/>
        </p:nvSpPr>
        <p:spPr>
          <a:xfrm>
            <a:off x="6771490" y="1400000"/>
            <a:ext cx="4419153" cy="292608"/>
          </a:xfrm>
          <a:prstGeom prst="rect">
            <a:avLst/>
          </a:prstGeom>
          <a:noFill/>
          <a:ln/>
        </p:spPr>
        <p:txBody>
          <a:bodyPr wrap="square" lIns="0" tIns="0" rIns="0" bIns="0" rtlCol="0" anchor="ctr">
            <a:noAutofit/>
          </a:bodyPr>
          <a:lstStyle/>
          <a:p>
            <a:r>
              <a:rPr lang="en-US" sz="2000" b="1" dirty="0">
                <a:solidFill>
                  <a:srgbClr val="1F3864"/>
                </a:solidFill>
                <a:latin typeface="Calibri"/>
                <a:ea typeface="Calibri"/>
                <a:cs typeface="Calibri"/>
              </a:rPr>
              <a:t>Measured Outcomes :</a:t>
            </a:r>
          </a:p>
        </p:txBody>
      </p:sp>
      <p:sp>
        <p:nvSpPr>
          <p:cNvPr id="9" name="Bullets"/>
          <p:cNvSpPr txBox="1"/>
          <p:nvPr/>
        </p:nvSpPr>
        <p:spPr>
          <a:xfrm>
            <a:off x="6771490" y="1850000"/>
            <a:ext cx="4419153" cy="3950000"/>
          </a:xfrm>
          <a:prstGeom prst="rect">
            <a:avLst/>
          </a:prstGeom>
          <a:noFill/>
          <a:ln/>
        </p:spPr>
        <p:txBody>
          <a:bodyPr wrap="square" lIns="0" tIns="0" rIns="0" bIns="0" rtlCol="0" anchor="t">
            <a:noAutofit/>
          </a:bodyPr>
          <a:lstStyle/>
          <a:p>
            <a:pPr marL="285750" indent="-285750" algn="l">
              <a:spcAft>
                <a:spcPts val="500"/>
              </a:spcAft>
              <a:buFont typeface="Arial"/>
              <a:buChar char="•"/>
            </a:pPr>
            <a:r>
              <a:rPr lang="en-US" sz="1500" b="1" dirty="0">
                <a:solidFill>
                  <a:srgbClr val="000000"/>
                </a:solidFill>
              </a:rPr>
              <a:t>Premise: median block fill is 3.0%; only 0.56% of 388,781 blocks exceed 80%.</a:t>
            </a:r>
          </a:p>
          <a:p>
            <a:pPr marL="285750" indent="-285750" algn="l">
              <a:spcAft>
                <a:spcPts val="500"/>
              </a:spcAft>
              <a:buFont typeface="Arial"/>
              <a:buChar char="•"/>
            </a:pPr>
            <a:r>
              <a:rPr lang="en-US" sz="1500" b="1" dirty="0">
                <a:solidFill>
                  <a:srgbClr val="000000"/>
                </a:solidFill>
              </a:rPr>
              <a:t>Forecast: LightGBM MAE 0.046 against 0.052 for the moving average.</a:t>
            </a:r>
          </a:p>
          <a:p>
            <a:pPr marL="285750" indent="-285750" algn="l">
              <a:spcAft>
                <a:spcPts val="500"/>
              </a:spcAft>
              <a:buFont typeface="Arial"/>
              <a:buChar char="•"/>
            </a:pPr>
            <a:r>
              <a:rPr lang="en-US" sz="1500" b="1" dirty="0">
                <a:solidFill>
                  <a:srgbClr val="000000"/>
                </a:solidFill>
              </a:rPr>
              <a:t>Cost: P2(N=4) uses 19% less per user than greedy at matched load.</a:t>
            </a:r>
          </a:p>
          <a:p>
            <a:pPr marL="285750" indent="-285750" algn="l">
              <a:spcAft>
                <a:spcPts val="500"/>
              </a:spcAft>
              <a:buFont typeface="Arial"/>
              <a:buChar char="•"/>
            </a:pPr>
            <a:r>
              <a:rPr lang="en-US" sz="1500" b="1" dirty="0">
                <a:solidFill>
                  <a:srgbClr val="000000"/>
                </a:solidFill>
              </a:rPr>
              <a:t>Latency: P2 60.9 s mean against 63.4 s for the best tuned fixed interval.</a:t>
            </a:r>
          </a:p>
          <a:p>
            <a:pPr marL="285750" indent="-285750" algn="l">
              <a:spcAft>
                <a:spcPts val="500"/>
              </a:spcAft>
              <a:buFont typeface="Arial"/>
              <a:buChar char="•"/>
            </a:pPr>
            <a:r>
              <a:rPr lang="en-US" sz="1500" b="1" dirty="0">
                <a:solidFill>
                  <a:srgbClr val="000000"/>
                </a:solidFill>
              </a:rPr>
              <a:t>Safety: the shield cuts heavy-load expiry from 35.7% to 0.</a:t>
            </a:r>
          </a:p>
          <a:p>
            <a:pPr marL="285750" indent="-285750" algn="l">
              <a:spcAft>
                <a:spcPts val="500"/>
              </a:spcAft>
              <a:buFont typeface="Arial"/>
              <a:buChar char="•"/>
            </a:pPr>
            <a:r>
              <a:rPr lang="en-US" sz="1500" b="1" dirty="0">
                <a:solidFill>
                  <a:srgbClr val="000000"/>
                </a:solidFill>
              </a:rPr>
              <a:t>Testnet: a batch settled on preprod, fee 322,697 lovelace.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Results">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715832" y="467061"/>
            <a:ext cx="9000000" cy="566928"/>
          </a:xfrm>
          <a:prstGeom prst="rect">
            <a:avLst/>
          </a:prstGeom>
          <a:noFill/>
          <a:ln/>
        </p:spPr>
        <p:txBody>
          <a:bodyPr wrap="square" lIns="0" tIns="0" rIns="0" bIns="0" rtlCol="0" anchor="ctr">
            <a:noAutofit/>
          </a:bodyPr>
          <a:lstStyle/>
          <a:p>
            <a:r>
              <a:rPr lang="en-US" sz="2800" b="1" dirty="0">
                <a:solidFill>
                  <a:srgbClr val="1F3864"/>
                </a:solidFill>
              </a:rPr>
              <a:t>Results (contd.) :</a:t>
            </a:r>
          </a:p>
        </p:txBody>
      </p:sp>
      <p:sp>
        <p:nvSpPr>
          <p:cNvPr id="3" name="Card"/>
          <p:cNvSpPr/>
          <p:nvPr/>
        </p:nvSpPr>
        <p:spPr>
          <a:xfrm>
            <a:off x="491715" y="1189169"/>
            <a:ext cx="5167703" cy="4754431"/>
          </a:xfrm>
          <a:prstGeom prst="rect">
            <a:avLst/>
          </a:prstGeom>
          <a:solidFill>
            <a:srgbClr val="F7F8FA"/>
          </a:solidFill>
          <a:ln w="12700">
            <a:solidFill>
              <a:srgbClr val="D9D9D9"/>
            </a:solidFill>
            <a:prstDash val="solid"/>
          </a:ln>
        </p:spPr>
      </p:sp>
      <p:sp>
        <p:nvSpPr>
          <p:cNvPr id="4" name="Heading"/>
          <p:cNvSpPr txBox="1"/>
          <p:nvPr/>
        </p:nvSpPr>
        <p:spPr>
          <a:xfrm>
            <a:off x="865990" y="1400000"/>
            <a:ext cx="4419153" cy="292608"/>
          </a:xfrm>
          <a:prstGeom prst="rect">
            <a:avLst/>
          </a:prstGeom>
          <a:noFill/>
          <a:ln/>
        </p:spPr>
        <p:txBody>
          <a:bodyPr wrap="square" lIns="0" tIns="0" rIns="0" bIns="0" rtlCol="0" anchor="ctr">
            <a:noAutofit/>
          </a:bodyPr>
          <a:lstStyle/>
          <a:p>
            <a:r>
              <a:rPr lang="en-US" sz="2000" b="1" dirty="0">
                <a:solidFill>
                  <a:srgbClr val="1F3864"/>
                </a:solidFill>
                <a:latin typeface="Calibri"/>
                <a:ea typeface="Calibri"/>
                <a:cs typeface="Calibri"/>
              </a:rPr>
              <a:t>Robustness by Load :</a:t>
            </a:r>
          </a:p>
        </p:txBody>
      </p:sp>
      <p:pic>
        <p:nvPicPr>
          <p:cNvPr id="5" name="Dashboard screenshot" descr="CloudAegis dashboard cost view showing live spend per service"/>
          <p:cNvPicPr>
            <a:picLocks noChangeAspect="1"/>
          </p:cNvPicPr>
          <p:nvPr/>
        </p:nvPicPr>
        <p:blipFill>
          <a:blip r:embed="rId2"/>
          <a:stretch>
            <a:fillRect/>
          </a:stretch>
        </p:blipFill>
        <p:spPr>
          <a:xfrm>
            <a:off x="868680" y="2115780"/>
            <a:ext cx="4416552" cy="1894919"/>
          </a:xfrm>
          <a:prstGeom prst="rect">
            <a:avLst/>
          </a:prstGeom>
          <a:ln w="12700">
            <a:solidFill>
              <a:srgbClr val="D9D9D9"/>
            </a:solidFill>
          </a:ln>
        </p:spPr>
      </p:pic>
      <p:sp>
        <p:nvSpPr>
          <p:cNvPr id="6" name="Bullets"/>
          <p:cNvSpPr txBox="1"/>
          <p:nvPr/>
        </p:nvSpPr>
        <p:spPr>
          <a:xfrm>
            <a:off x="865990" y="4519692"/>
            <a:ext cx="4419153" cy="1000000"/>
          </a:xfrm>
          <a:prstGeom prst="rect">
            <a:avLst/>
          </a:prstGeom>
          <a:noFill/>
          <a:ln/>
        </p:spPr>
        <p:txBody>
          <a:bodyPr wrap="square" lIns="0" tIns="0" rIns="0" bIns="0" rtlCol="0" anchor="t">
            <a:noAutofit/>
          </a:bodyPr>
          <a:lstStyle/>
          <a:p>
            <a:pPr marL="285750" indent="-285750" algn="l">
              <a:spcAft>
                <a:spcPts val="500"/>
              </a:spcAft>
              <a:buFont typeface="Arial"/>
              <a:buChar char="•"/>
            </a:pPr>
            <a:r>
              <a:rPr lang="en-US" sz="1500" b="1" dirty="0">
                <a:solidFill>
                  <a:srgbClr val="000000"/>
                </a:solidFill>
              </a:rPr>
              <a:t>Heavy load p95: fixed-size E1 1,203 s, DQN 863 s; P2 holds 164.5 s.</a:t>
            </a:r>
          </a:p>
          <a:p>
            <a:pPr marL="285750" indent="-285750" algn="l">
              <a:spcAft>
                <a:spcPts val="500"/>
              </a:spcAft>
              <a:buFont typeface="Arial"/>
              <a:buChar char="•"/>
            </a:pPr>
            <a:r>
              <a:rPr lang="en-US" sz="1500" b="1" dirty="0">
                <a:solidFill>
                  <a:srgbClr val="000000"/>
                </a:solidFill>
              </a:rPr>
              <a:t>Greedy (162 s) matches P2: the adaptive gain is cost, not tail latency.</a:t>
            </a:r>
          </a:p>
        </p:txBody>
      </p:sp>
      <p:sp>
        <p:nvSpPr>
          <p:cNvPr id="7" name="Card"/>
          <p:cNvSpPr/>
          <p:nvPr/>
        </p:nvSpPr>
        <p:spPr>
          <a:xfrm>
            <a:off x="6397215" y="1189169"/>
            <a:ext cx="5167703" cy="4754431"/>
          </a:xfrm>
          <a:prstGeom prst="rect">
            <a:avLst/>
          </a:prstGeom>
          <a:solidFill>
            <a:srgbClr val="F7F8FA"/>
          </a:solidFill>
          <a:ln w="12700">
            <a:solidFill>
              <a:srgbClr val="D9D9D9"/>
            </a:solidFill>
            <a:prstDash val="solid"/>
          </a:ln>
        </p:spPr>
      </p:sp>
      <p:sp>
        <p:nvSpPr>
          <p:cNvPr id="8" name="Heading"/>
          <p:cNvSpPr txBox="1"/>
          <p:nvPr/>
        </p:nvSpPr>
        <p:spPr>
          <a:xfrm>
            <a:off x="6771490" y="1400000"/>
            <a:ext cx="4419153" cy="292608"/>
          </a:xfrm>
          <a:prstGeom prst="rect">
            <a:avLst/>
          </a:prstGeom>
          <a:noFill/>
          <a:ln/>
        </p:spPr>
        <p:txBody>
          <a:bodyPr wrap="square" lIns="0" tIns="0" rIns="0" bIns="0" rtlCol="0" anchor="ctr">
            <a:noAutofit/>
          </a:bodyPr>
          <a:lstStyle/>
          <a:p>
            <a:r>
              <a:rPr lang="en-US" sz="2000" b="1" dirty="0">
                <a:solidFill>
                  <a:srgbClr val="1F3864"/>
                </a:solidFill>
                <a:latin typeface="Calibri"/>
                <a:ea typeface="Calibri"/>
                <a:cs typeface="Calibri"/>
              </a:rPr>
              <a:t>Forecast Quality :</a:t>
            </a:r>
          </a:p>
        </p:txBody>
      </p:sp>
      <p:sp>
        <p:nvSpPr>
          <p:cNvPr id="9" name="Bullets"/>
          <p:cNvSpPr txBox="1"/>
          <p:nvPr/>
        </p:nvSpPr>
        <p:spPr>
          <a:xfrm>
            <a:off x="6775704" y="4517136"/>
            <a:ext cx="4416552" cy="996696"/>
          </a:xfrm>
          <a:prstGeom prst="rect">
            <a:avLst/>
          </a:prstGeom>
          <a:noFill/>
          <a:ln/>
        </p:spPr>
        <p:txBody>
          <a:bodyPr wrap="square" lIns="0" tIns="0" rIns="0" bIns="0" rtlCol="0" anchor="t">
            <a:noAutofit/>
          </a:bodyPr>
          <a:lstStyle/>
          <a:p>
            <a:pPr marL="285750" indent="-285750" algn="l">
              <a:spcAft>
                <a:spcPts val="500"/>
              </a:spcAft>
              <a:buFont typeface="Arial"/>
              <a:buChar char="•"/>
            </a:pPr>
            <a:r>
              <a:rPr lang="en-US" sz="1500" b="1" dirty="0">
                <a:solidFill>
                  <a:srgbClr val="000000"/>
                </a:solidFill>
              </a:rPr>
              <a:t>LightGBM MAE 0.046 against 0.052 (moving average); direction 74.2% against 71.0%.</a:t>
            </a:r>
          </a:p>
          <a:p>
            <a:pPr marL="285750" indent="-285750" algn="l">
              <a:spcAft>
                <a:spcPts val="500"/>
              </a:spcAft>
              <a:buFont typeface="Arial"/>
              <a:buChar char="•"/>
            </a:pPr>
            <a:r>
              <a:rPr lang="en-US" sz="1500" b="1" dirty="0">
                <a:solidFill>
                  <a:srgbClr val="000000"/>
                </a:solidFill>
              </a:rPr>
              <a:t>A perfect oracle forecast adds little: capacity binds in about 1 block in 180.</a:t>
            </a:r>
          </a:p>
        </p:txBody>
      </p:sp>
      <p:pic>
        <p:nvPicPr>
          <p:cNvPr id="90" name="Forecast figure" descr="Forecast against actual block fill"/>
          <p:cNvPicPr>
            <a:picLocks noChangeAspect="1"/>
          </p:cNvPicPr>
          <p:nvPr/>
        </p:nvPicPr>
        <p:blipFill>
          <a:blip r:embed="rId3"/>
          <a:stretch>
            <a:fillRect/>
          </a:stretch>
        </p:blipFill>
        <p:spPr>
          <a:xfrm>
            <a:off x="6775704" y="2020076"/>
            <a:ext cx="4416552" cy="2086326"/>
          </a:xfrm>
          <a:prstGeom prst="rect">
            <a:avLst/>
          </a:prstGeom>
          <a:ln w="12700">
            <a:solidFill>
              <a:srgbClr val="D9D9D9"/>
            </a:solidFill>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3026</Words>
  <Application>Microsoft Office PowerPoint</Application>
  <PresentationFormat>Widescreen</PresentationFormat>
  <Paragraphs>431</Paragraphs>
  <Slides>27</Slides>
  <Notes>20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Aptos</vt:lpstr>
      <vt:lpstr>Arial</vt:lpstr>
      <vt:lpstr>Calibri</vt:lpstr>
      <vt:lpstr>Calibri Light</vt:lpstr>
      <vt:lpstr>Courier New</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vikranth sai potti</cp:lastModifiedBy>
  <cp:revision>192</cp:revision>
  <dcterms:created xsi:type="dcterms:W3CDTF">2026-07-22T06:41:57Z</dcterms:created>
  <dcterms:modified xsi:type="dcterms:W3CDTF">2026-09-22T08:57:42Z</dcterms:modified>
</cp:coreProperties>
</file>