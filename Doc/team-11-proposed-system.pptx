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4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137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182880"/>
            <a:ext cx="7071360" cy="1234440"/>
          </a:xfrm>
          <a:prstGeom prst="rect">
            <a:avLst/>
          </a:prstGeom>
        </p:spPr>
      </p:pic>
      <p:pic>
        <p:nvPicPr>
          <p:cNvPr id="3" name="iic_logo.png" descr="ii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411480"/>
            <a:ext cx="2814320" cy="82296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0" y="1508760"/>
            <a:ext cx="1219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95959"/>
                </a:solidFill>
                <a:latin typeface="Times New Roman" pitchFamily="34" charset="0"/>
                <a:ea typeface="Calibri" pitchFamily="34" charset="-122"/>
                <a:cs typeface="Times New Roman" pitchFamily="34" charset="-120"/>
              </a:rPr>
              <a:t>DEPARTMENT OF COMPUTER SCIENCE AND ENGINEERING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1892808"/>
            <a:ext cx="1219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95959"/>
                </a:solidFill>
                <a:latin typeface="Times New Roman" pitchFamily="34" charset="0"/>
                <a:ea typeface="Calibri" pitchFamily="34" charset="-122"/>
                <a:cs typeface="Times New Roman" pitchFamily="34" charset="-120"/>
              </a:rPr>
              <a:t>(DATA SCIENCE)</a:t>
            </a:r>
          </a:p>
        </p:txBody>
      </p:sp>
      <p:sp>
        <p:nvSpPr>
          <p:cNvPr id="6" name="Line 6"/>
          <p:cNvSpPr/>
          <p:nvPr/>
        </p:nvSpPr>
        <p:spPr>
          <a:xfrm>
            <a:off x="4724400" y="2331720"/>
            <a:ext cx="27432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914400" y="2423160"/>
            <a:ext cx="1036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3383280"/>
            <a:ext cx="1036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 |  Major Project  |  Batch 11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00400" y="3931920"/>
            <a:ext cx="28003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Name(s) 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72200" y="39319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Vikranth Sai,  Ganesh,  Sowmya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00400" y="4251960"/>
            <a:ext cx="28003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Ticket No(s) 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72200" y="42519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23P61A67F1,  23P61A67F0,  23P61A67H8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00400" y="4572000"/>
            <a:ext cx="28003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Name 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172200" y="45720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B. Mamatha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00400" y="4892040"/>
            <a:ext cx="28003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172200" y="48920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 (Data Science)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00400" y="5212080"/>
            <a:ext cx="28003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72200" y="52120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Vignana Bharathi Institute of Technology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200400" y="5532120"/>
            <a:ext cx="28003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172200" y="55321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2026 - 2027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D722CD-F682-4A98-BF9B-E23AF402B2B1}"/>
              </a:ext>
            </a:extLst>
          </p:cNvPr>
          <p:cNvSpPr txBox="1"/>
          <p:nvPr/>
        </p:nvSpPr>
        <p:spPr>
          <a:xfrm>
            <a:off x="914400" y="2780778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l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</a:p>
          <a:p>
            <a:pPr marL="457200" indent="-457200" algn="l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</a:p>
          <a:p>
            <a:pPr marL="457200" indent="-457200" algn="l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of the Proposed System</a:t>
            </a:r>
          </a:p>
          <a:p>
            <a:pPr marL="457200" indent="-457200" algn="l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of the System</a:t>
            </a:r>
          </a:p>
          <a:p>
            <a:pPr marL="457200" indent="-457200" algn="l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</a:p>
          <a:p>
            <a:pPr marL="457200" indent="-457200" algn="l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/ Flow Diagram</a:t>
            </a:r>
          </a:p>
          <a:p>
            <a:pPr marL="457200" indent="-457200" algn="l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</a:p>
          <a:p>
            <a:pPr marL="457200" indent="-457200" algn="l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Merits of the Proposed System</a:t>
            </a:r>
          </a:p>
          <a:p>
            <a:pPr marL="457200" indent="-457200" algn="l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</a:p>
          <a:p>
            <a:pPr marL="457200" indent="-457200" algn="l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Introduction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 stores a decentralized exchange (DEX) liquidity pool as a single eUTXO, and a UTXO can be consumed only once per block, so concurrent swaps cannot execute independently.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practice: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DEXs therefore depend on off-chain batchers that aggregate many user swap orders into one transaction. Deployed batchers use static rules such as a fixed batch size or a fixed submission interval.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Cardano-specific insight: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 fees are deterministic (fee = a x size + b, plus script execution cost) and do not rise with demand, so congestion does not raise cost - it raises confirmation latency and inclusion failure.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problem: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frequently reach 80-90% of their size and execution-unit capacity at peak, so an oversized batch is bumped to a later block and every order inside it waits.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direction: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static batching rules with a learned, congestion-aware policy that predicts upcoming block fullness and adapts when to submit a batch and how large to make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Objectives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collect and analyse historical Cardano block data and quantify congestion in terms of block fill percentage and execution-unit usage.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forecasting model that predicts the fullness of the next block from recent chain history and order-queue state.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 adaptive batching policy that decides when to submit a batch and how many orders to include.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enforce the block-size limit (~88 KB) and the Plutus execution-unit budget as hard constraints on every batch.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discrete-event simulator that replays historical blocks for safe, reproducible training and evaluation.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benchmark the policy against static baselines on latency, per-user cost, inclusion success, throughput and fairness.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demonstrate the batcher end to end on a minimal Aiken DEX deployed on the Cardano preprod testnet.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Description of the Proposed System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off-chain batcher that sits between the pending on-chain order UTXOs and the DEX liquidity pool, replacing the rule-based scheduler used today.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collector streams recent blocks and derives a congestion time series - fill percentage, execution units consumed and transaction count per block.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time-series model (LightGBM baseline, LSTM extension) predicts the fullness and execution-unit headroom of the next few blocks.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 combines that forecast with queue depth and the oldest order waiting time and outputs an action: wait, or submit a batch of n orders.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policy variants: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constrained optimizer (forecast-then-optimize) provides an explainable baseline; a reinforcement-learning agent (DQN / PPO) learns the policy from simulated experience.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Actuation and feedback: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batch builder assembles the transaction, validates it against size and execution-unit limits, submits it, and returns the inclusion result as a reward and evaluation signal.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Non-intrusive: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 and the Cardano protocol are unchanged; coordination happens only through on-chain order UTXOs, so the optimization is wallet-agnostic.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Modules of the System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 Data Acquisition: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historical and live block data through Koios / Blockfrost, cleans it and builds the congestion feature set.</a:t>
            </a:r>
          </a:p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 Congestion Forecasting: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and serves the next-block fill and execution-unit predictor; keeps a moving-average baseline for comparison.</a:t>
            </a:r>
          </a:p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 Order Queue Manager: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pending order UTXOs with arrival time, waiting time, size and slippage tolerance, and exposes the queue state.</a:t>
            </a:r>
          </a:p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 Adaptive Batching Policy: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module - constrained optimizer and RL agent that choose submit-or-wait and the batch size under capacity constraints.</a:t>
            </a:r>
          </a:p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 Batch Construction &amp; Submission: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batch transaction with PyCardano, validates limits, signs and submits it, and captures the inclusion outcome.</a:t>
            </a:r>
          </a:p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 Simulation &amp; Evaluation: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Discrete-event simulator, static baseline batchers, metric logging and comparison plots.</a:t>
            </a:r>
          </a:p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 On-chain DEX (demo):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Aiken order validator and pool validator on preprod testnet, authorising this batcher as the executor.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3" name="Line 3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System Architecture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737360"/>
            <a:ext cx="11185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LAYER   -   CARDANO BLOCKCHAIN</a:t>
            </a:r>
          </a:p>
        </p:txBody>
      </p:sp>
      <p:sp>
        <p:nvSpPr>
          <p:cNvPr id="8" name="Shape 8"/>
          <p:cNvSpPr/>
          <p:nvPr/>
        </p:nvSpPr>
        <p:spPr>
          <a:xfrm>
            <a:off x="502920" y="1996440"/>
            <a:ext cx="2590724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Wallet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order tx (CIP-30)</a:t>
            </a:r>
          </a:p>
        </p:txBody>
      </p:sp>
      <p:sp>
        <p:nvSpPr>
          <p:cNvPr id="9" name="Shape 9"/>
          <p:cNvSpPr/>
          <p:nvPr/>
        </p:nvSpPr>
        <p:spPr>
          <a:xfrm>
            <a:off x="3367964" y="1996440"/>
            <a:ext cx="2590724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UTXOs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at DEX script</a:t>
            </a:r>
          </a:p>
        </p:txBody>
      </p:sp>
      <p:sp>
        <p:nvSpPr>
          <p:cNvPr id="10" name="Shape 10"/>
          <p:cNvSpPr/>
          <p:nvPr/>
        </p:nvSpPr>
        <p:spPr>
          <a:xfrm>
            <a:off x="6233008" y="1996440"/>
            <a:ext cx="2590724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Pool UTXO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spend per block</a:t>
            </a:r>
          </a:p>
        </p:txBody>
      </p:sp>
      <p:sp>
        <p:nvSpPr>
          <p:cNvPr id="11" name="Shape 11"/>
          <p:cNvSpPr/>
          <p:nvPr/>
        </p:nvSpPr>
        <p:spPr>
          <a:xfrm>
            <a:off x="9098051" y="1996440"/>
            <a:ext cx="2590724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+ ExUnit limits</a:t>
            </a:r>
          </a:p>
        </p:txBody>
      </p:sp>
      <p:sp>
        <p:nvSpPr>
          <p:cNvPr id="12" name="Shape 12"/>
          <p:cNvSpPr/>
          <p:nvPr/>
        </p:nvSpPr>
        <p:spPr>
          <a:xfrm>
            <a:off x="6004560" y="2679192"/>
            <a:ext cx="182880" cy="219456"/>
          </a:xfrm>
          <a:prstGeom prst="downArrow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502920" y="2944368"/>
            <a:ext cx="11185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ADAPTIVE BATCHER   -   PROPOSED SYSTEM</a:t>
            </a:r>
          </a:p>
        </p:txBody>
      </p:sp>
      <p:sp>
        <p:nvSpPr>
          <p:cNvPr id="14" name="Shape 14"/>
          <p:cNvSpPr/>
          <p:nvPr/>
        </p:nvSpPr>
        <p:spPr>
          <a:xfrm>
            <a:off x="502920" y="3199764"/>
            <a:ext cx="11185855" cy="155448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2E5395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15" name="Shape 15"/>
          <p:cNvSpPr/>
          <p:nvPr/>
        </p:nvSpPr>
        <p:spPr>
          <a:xfrm>
            <a:off x="749808" y="3446652"/>
            <a:ext cx="2432990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5395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Data Collector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fill %, ExUnits, tx count</a:t>
            </a:r>
          </a:p>
        </p:txBody>
      </p:sp>
      <p:sp>
        <p:nvSpPr>
          <p:cNvPr id="16" name="Shape 16"/>
          <p:cNvSpPr/>
          <p:nvPr/>
        </p:nvSpPr>
        <p:spPr>
          <a:xfrm>
            <a:off x="3246806" y="3894708"/>
            <a:ext cx="192024" cy="164592"/>
          </a:xfrm>
          <a:prstGeom prst="rightArrow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17" name="Shape 17"/>
          <p:cNvSpPr/>
          <p:nvPr/>
        </p:nvSpPr>
        <p:spPr>
          <a:xfrm>
            <a:off x="3502838" y="3446652"/>
            <a:ext cx="2432990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5395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Forecaster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baseline / LSTM</a:t>
            </a:r>
          </a:p>
        </p:txBody>
      </p:sp>
      <p:sp>
        <p:nvSpPr>
          <p:cNvPr id="18" name="Shape 18"/>
          <p:cNvSpPr/>
          <p:nvPr/>
        </p:nvSpPr>
        <p:spPr>
          <a:xfrm>
            <a:off x="5999836" y="3894708"/>
            <a:ext cx="192024" cy="164592"/>
          </a:xfrm>
          <a:prstGeom prst="rightArrow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19" name="Shape 19"/>
          <p:cNvSpPr/>
          <p:nvPr/>
        </p:nvSpPr>
        <p:spPr>
          <a:xfrm>
            <a:off x="6255868" y="3446652"/>
            <a:ext cx="2432990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5395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Batching Policy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+ RL agent (DQN / PPO)</a:t>
            </a:r>
          </a:p>
        </p:txBody>
      </p:sp>
      <p:sp>
        <p:nvSpPr>
          <p:cNvPr id="20" name="Shape 20"/>
          <p:cNvSpPr/>
          <p:nvPr/>
        </p:nvSpPr>
        <p:spPr>
          <a:xfrm>
            <a:off x="8752865" y="3894708"/>
            <a:ext cx="192024" cy="164592"/>
          </a:xfrm>
          <a:prstGeom prst="rightArrow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21" name="Shape 21"/>
          <p:cNvSpPr/>
          <p:nvPr/>
        </p:nvSpPr>
        <p:spPr>
          <a:xfrm>
            <a:off x="9008897" y="3446652"/>
            <a:ext cx="2432990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5395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Builder &amp; Submitter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size / ExUnit budget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02920" y="4791456"/>
            <a:ext cx="11185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 inclusion result (included / bounced), realised latency and per-user cost return to the policy as reward and evaluation signals.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02920" y="5065776"/>
            <a:ext cx="11185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  -   TRAINING &amp; EVALUATION</a:t>
            </a:r>
          </a:p>
        </p:txBody>
      </p:sp>
      <p:sp>
        <p:nvSpPr>
          <p:cNvPr id="24" name="Shape 24"/>
          <p:cNvSpPr/>
          <p:nvPr/>
        </p:nvSpPr>
        <p:spPr>
          <a:xfrm>
            <a:off x="502920" y="5321172"/>
            <a:ext cx="5455768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Discrete-Event Simulator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 historical Cardano blocks as background congestion</a:t>
            </a:r>
          </a:p>
        </p:txBody>
      </p:sp>
      <p:sp>
        <p:nvSpPr>
          <p:cNvPr id="25" name="Shape 25"/>
          <p:cNvSpPr/>
          <p:nvPr/>
        </p:nvSpPr>
        <p:spPr>
          <a:xfrm>
            <a:off x="6233008" y="5321172"/>
            <a:ext cx="5455768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vs. Static Baselines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per-user cost, inclusion success, throughput, fairness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3" name="Line 3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Workflow / Flow Diagram</a:t>
            </a:r>
          </a:p>
        </p:txBody>
      </p:sp>
      <p:sp>
        <p:nvSpPr>
          <p:cNvPr id="7" name="Shape 7"/>
          <p:cNvSpPr/>
          <p:nvPr/>
        </p:nvSpPr>
        <p:spPr>
          <a:xfrm>
            <a:off x="502920" y="215428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731520" y="2337160"/>
            <a:ext cx="411480" cy="411480"/>
          </a:xfrm>
          <a:prstGeom prst="ellipse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4440" y="2337160"/>
            <a:ext cx="2555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1520" y="284008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user’s wallet signs a transaction that locks funds at the DEX order script with a datum stating the swap terms, slippage limit and return address.</a:t>
            </a:r>
          </a:p>
        </p:txBody>
      </p:sp>
      <p:sp>
        <p:nvSpPr>
          <p:cNvPr id="11" name="Shape 11"/>
          <p:cNvSpPr/>
          <p:nvPr/>
        </p:nvSpPr>
        <p:spPr>
          <a:xfrm>
            <a:off x="4082186" y="2917804"/>
            <a:ext cx="192024" cy="164592"/>
          </a:xfrm>
          <a:prstGeom prst="rightArrow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338218" y="215428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13" name="Shape 13"/>
          <p:cNvSpPr/>
          <p:nvPr/>
        </p:nvSpPr>
        <p:spPr>
          <a:xfrm>
            <a:off x="4566818" y="2337160"/>
            <a:ext cx="411480" cy="411480"/>
          </a:xfrm>
          <a:prstGeom prst="ellipse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69738" y="2337160"/>
            <a:ext cx="2555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scanned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66818" y="284008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batcher independently pulls pending order UTXOs from the chain and updates the queue with depth, sizes and waiting times.</a:t>
            </a:r>
          </a:p>
        </p:txBody>
      </p:sp>
      <p:sp>
        <p:nvSpPr>
          <p:cNvPr id="16" name="Shape 16"/>
          <p:cNvSpPr/>
          <p:nvPr/>
        </p:nvSpPr>
        <p:spPr>
          <a:xfrm>
            <a:off x="7917485" y="2917804"/>
            <a:ext cx="192024" cy="164592"/>
          </a:xfrm>
          <a:prstGeom prst="rightArrow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17" name="Shape 17"/>
          <p:cNvSpPr/>
          <p:nvPr/>
        </p:nvSpPr>
        <p:spPr>
          <a:xfrm>
            <a:off x="8173517" y="215428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8402117" y="2337160"/>
            <a:ext cx="411480" cy="411480"/>
          </a:xfrm>
          <a:prstGeom prst="ellipse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05037" y="2337160"/>
            <a:ext cx="2555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forecast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02117" y="284008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block fill percentage and execution-unit usage are fed to the forecaster, which predicts capacity in the next few blocks.</a:t>
            </a:r>
          </a:p>
        </p:txBody>
      </p:sp>
      <p:sp>
        <p:nvSpPr>
          <p:cNvPr id="21" name="Shape 21"/>
          <p:cNvSpPr/>
          <p:nvPr/>
        </p:nvSpPr>
        <p:spPr>
          <a:xfrm>
            <a:off x="502920" y="430312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22" name="Shape 22"/>
          <p:cNvSpPr/>
          <p:nvPr/>
        </p:nvSpPr>
        <p:spPr>
          <a:xfrm>
            <a:off x="731520" y="4486000"/>
            <a:ext cx="411480" cy="411480"/>
          </a:xfrm>
          <a:prstGeom prst="ellipse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4440" y="4486000"/>
            <a:ext cx="2555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decided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1520" y="498892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chooses wait or submit, and selects how many orders to include, trading per-user cost against latency and inclusion risk.</a:t>
            </a:r>
          </a:p>
        </p:txBody>
      </p:sp>
      <p:sp>
        <p:nvSpPr>
          <p:cNvPr id="25" name="Shape 25"/>
          <p:cNvSpPr/>
          <p:nvPr/>
        </p:nvSpPr>
        <p:spPr>
          <a:xfrm>
            <a:off x="4082186" y="5066644"/>
            <a:ext cx="192024" cy="164592"/>
          </a:xfrm>
          <a:prstGeom prst="rightArrow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26" name="Shape 26"/>
          <p:cNvSpPr/>
          <p:nvPr/>
        </p:nvSpPr>
        <p:spPr>
          <a:xfrm>
            <a:off x="4338218" y="430312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27" name="Shape 27"/>
          <p:cNvSpPr/>
          <p:nvPr/>
        </p:nvSpPr>
        <p:spPr>
          <a:xfrm>
            <a:off x="4566818" y="4486000"/>
            <a:ext cx="411480" cy="411480"/>
          </a:xfrm>
          <a:prstGeom prst="ellipse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069738" y="4486000"/>
            <a:ext cx="2555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built &amp; validated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66818" y="498892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transaction consuming the selected orders and the pool UTXO is assembled and checked against block-size and execution-unit limits.</a:t>
            </a:r>
          </a:p>
        </p:txBody>
      </p:sp>
      <p:sp>
        <p:nvSpPr>
          <p:cNvPr id="30" name="Shape 30"/>
          <p:cNvSpPr/>
          <p:nvPr/>
        </p:nvSpPr>
        <p:spPr>
          <a:xfrm>
            <a:off x="7917485" y="5066644"/>
            <a:ext cx="192024" cy="164592"/>
          </a:xfrm>
          <a:prstGeom prst="rightArrow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31" name="Shape 31"/>
          <p:cNvSpPr/>
          <p:nvPr/>
        </p:nvSpPr>
        <p:spPr>
          <a:xfrm>
            <a:off x="8173517" y="430312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32" name="Shape 32"/>
          <p:cNvSpPr/>
          <p:nvPr/>
        </p:nvSpPr>
        <p:spPr>
          <a:xfrm>
            <a:off x="8402117" y="4486000"/>
            <a:ext cx="411480" cy="411480"/>
          </a:xfrm>
          <a:prstGeom prst="ellipse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905037" y="4486000"/>
            <a:ext cx="2555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&amp; learned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02117" y="498892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inclusion, swapped tokens return to each user’s address; the outcome updates the metrics and the reinforcement-learning reward.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3" name="Line 3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Technologies Used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874520"/>
            <a:ext cx="5410048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Smart Contracts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 (preprod testnet), eUTXO / Plutus model, Aiken validator language</a:t>
            </a:r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Data &amp; APIs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Koios API, Blockfrost, cardano-db-sync, Ogmios / Kupo</a:t>
            </a:r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Transaction Building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PyCardano (Python), Lucid (JavaScript)</a:t>
            </a:r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&amp; Data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3, pandas, NumPy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78728" y="1874520"/>
            <a:ext cx="5410048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(gradient boosting baseline), PyTorch (LSTM / GRU forecaster), scikit-learn</a:t>
            </a:r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Evaluation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discrete-event simulator (SimPy-style), Matplotlib for result plots</a:t>
            </a:r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GitHub, VS 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Merits of the Proposed System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live network conditions instead of following a fixed rule, so batching tracks congestion as it changes block to block.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confirmation latency at peak load by avoiding batches that cannot fit the block currently being produced.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average per-user cost by amortising the fixed fee component across larger batches whenever spare capacity is predicted.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failed inclusions and resubmissions, because block-size and execution-unit limits are respected by construction.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Wallet-agnostic and protocol-agnostic: no change is required to user wallets, to CIP-30 or to the Cardano protocol.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protocol-level scaling such as Ouroboros Leios rather than competing with it, since block limits and pool concurrency remain.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and verifiable: the simulator replays real historical blocks, so every comparison against the baselines can be re-run.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- the forecaster, policy and batch builder can be replaced independently and reused by any eUTXO DEX.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Expected Outcomes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congestion-forecasting model that predicts next-block fullness more accurately than a moving-average baseline on held-out Cardano block history.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adaptive batching policy in both forms - a constrained optimizer and a trained reinforcement-learning agent.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measurable reduction in mean and 95th-percentile confirmation latency compared with fixed-size, fixed-interval and greedy batchers.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reduction in average per-user cost at an equal or lower inclusion-failure rate, demonstrating that the gain is not traded away.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Pareto comparison showing the adaptive policy dominating the static baselines across the latency-cost trade-off.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open simulator and a curated dataset of Cardano block congestion for further research.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preprod-testnet demonstration: wallet places an order, the ML batcher processes it, and the swap settles end to end.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report and paper-ready evaluation with plots for each metric.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Limitations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proven primarily in simulation; live mainnet behaviour may differ from replayed historical congestion.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forecaster assumes near-future congestion resembles recent history, so sudden events such as large NFT mints can degrade prediction quality.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demonstration uses a minimal self-built DEX; production concerns such as security auditing, liquidity incentives and MEV protection are out of scope.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batcher cannot serve existing DEXs such as Minswap, whose validators require whitelisted and licensed batchers.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batches increase exposure to price slippage; fairness and batcher trust are acknowledged design concerns, not solved problems.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Reinforcement-learning performance is sensitive to reward weighting and needs careful tuning to avoid an over-conservative policy.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upgrades such as Ouroboros Leios may change block-capacity dynamics and require the model to be retrained.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2400"/>
              </a:spcAft>
              <a:buSzPct val="90000"/>
              <a:buFont typeface="Arial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is mandatory on Cardano because a DEX pool is a single UTXO that can be consumed only once per block.</a:t>
            </a:r>
          </a:p>
          <a:p>
            <a:pPr marL="247650" indent="-247650" algn="l">
              <a:lnSpc>
                <a:spcPct val="100000"/>
              </a:lnSpc>
              <a:spcAft>
                <a:spcPts val="2400"/>
              </a:spcAft>
              <a:buSzPct val="90000"/>
              <a:buFont typeface="Arial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Cardano fees are deterministic, the real cost of congestion is confirmation latency and failed inclusion, not higher fees.</a:t>
            </a:r>
          </a:p>
          <a:p>
            <a:pPr marL="247650" indent="-247650" algn="l">
              <a:lnSpc>
                <a:spcPct val="100000"/>
              </a:lnSpc>
              <a:spcAft>
                <a:spcPts val="2400"/>
              </a:spcAft>
              <a:buSzPct val="90000"/>
              <a:buFont typeface="Arial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batchers ignore this entirely and batch on static rules, leaving a clear and unexploited optimization gap.</a:t>
            </a:r>
          </a:p>
          <a:p>
            <a:pPr marL="247650" indent="-247650" algn="l">
              <a:lnSpc>
                <a:spcPct val="100000"/>
              </a:lnSpc>
              <a:spcAft>
                <a:spcPts val="2400"/>
              </a:spcAft>
              <a:buSzPct val="90000"/>
              <a:buFont typeface="Arial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forecasts block congestion and learns when and how much to batch, subject to real block-capacity constraints.</a:t>
            </a:r>
          </a:p>
          <a:p>
            <a:pPr marL="247650" indent="-247650" algn="l">
              <a:lnSpc>
                <a:spcPct val="100000"/>
              </a:lnSpc>
              <a:spcAft>
                <a:spcPts val="2400"/>
              </a:spcAft>
              <a:buSzPct val="90000"/>
              <a:buFont typeface="Arial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validated in a simulator against static baselines and demonstrated end to end on a minimal Aiken DEX on the preprod testnet.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1909</Words>
  <Application>Microsoft Office PowerPoint</Application>
  <PresentationFormat>Widescreen</PresentationFormat>
  <Paragraphs>172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Adaptive Transaction Batching for Cardano Decentralized Exchanges - Proposed System</dc:title>
  <dc:creator>Team 11</dc:creator>
  <cp:lastModifiedBy>vikranth sai potti</cp:lastModifiedBy>
  <cp:revision>5</cp:revision>
  <dcterms:modified xsi:type="dcterms:W3CDTF">2026-08-11T10:36:32Z</dcterms:modified>
</cp:coreProperties>
</file>