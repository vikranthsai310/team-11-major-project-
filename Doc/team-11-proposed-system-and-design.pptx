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9"/>
    <p:sldId id="264" r:id="rId10"/>
    <p:sldId id="265" r:id="rId11"/>
    <p:sldId id="266" r:id="rId12"/>
    <p:sldId id="267" r:id="rId13"/>
    <p:sldId id="269" r:id="rId20"/>
    <p:sldId id="270" r:id="rId21"/>
    <p:sldId id="271" r:id="rId22"/>
    <p:sldId id="272" r:id="rId23"/>
    <p:sldId id="268" r:id="rId14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4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6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37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182880"/>
            <a:ext cx="7071360" cy="1234440"/>
          </a:xfrm>
          <a:prstGeom prst="rect">
            <a:avLst/>
          </a:prstGeom>
        </p:spPr>
      </p:pic>
      <p:pic>
        <p:nvPicPr>
          <p:cNvPr id="3" name="iic_logo.png" descr="ii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411480"/>
            <a:ext cx="2814320" cy="82296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0" y="1508760"/>
            <a:ext cx="1219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95959"/>
                </a:solidFill>
                <a:latin typeface="Times New Roman" pitchFamily="34" charset="0"/>
                <a:ea typeface="Calibri" pitchFamily="34" charset="-122"/>
                <a:cs typeface="Times New Roman" pitchFamily="34" charset="-120"/>
              </a:rPr>
              <a:t>DEPARTMENT OF COMPUTER SCIENCE AND ENGINEERING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1892808"/>
            <a:ext cx="1219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95959"/>
                </a:solidFill>
                <a:latin typeface="Times New Roman" pitchFamily="34" charset="0"/>
                <a:ea typeface="Calibri" pitchFamily="34" charset="-122"/>
                <a:cs typeface="Times New Roman" pitchFamily="34" charset="-120"/>
              </a:rPr>
              <a:t>(DATA SCIENCE)</a:t>
            </a:r>
          </a:p>
        </p:txBody>
      </p:sp>
      <p:sp>
        <p:nvSpPr>
          <p:cNvPr id="6" name="Line 6"/>
          <p:cNvSpPr/>
          <p:nvPr/>
        </p:nvSpPr>
        <p:spPr>
          <a:xfrm>
            <a:off x="4724400" y="2331720"/>
            <a:ext cx="27432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914400" y="2423160"/>
            <a:ext cx="1036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3383280"/>
            <a:ext cx="1036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 |  Major Project  |  Batch 11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00400" y="393192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72200" y="39319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Vikranth Sai,  Ganesh,  Sowmya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00400" y="425196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Ticket No(s) 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72200" y="42519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23P61A67F1,  23P61A67F0,  23P61A67H8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00400" y="457200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Name 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172200" y="4572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B. Mamatha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00400" y="489204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72200" y="4892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 (Data Science)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00400" y="521208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72200" y="5212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Vignana Bharathi Institute of Technology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200400" y="553212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72200" y="55321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2026 - 2027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D722CD-F682-4A98-BF9B-E23AF402B2B1}"/>
              </a:ext>
            </a:extLst>
          </p:cNvPr>
          <p:cNvSpPr txBox="1"/>
          <p:nvPr/>
        </p:nvSpPr>
        <p:spPr>
          <a:xfrm>
            <a:off x="914400" y="2780778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Introduction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Objectives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Description of the Proposed System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Modules of the System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Workflow / Flow Diagram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Technologies Used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Merits of the Proposed System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Expected Outcomes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Limitations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2E5395"/>
                </a:solidFill>
                <a:latin typeface="Calibri"/>
              </a:rPr>
              <a:t>•  </a:t>
            </a:r>
            <a:r>
              <a:rPr sz="1700" b="1">
                <a:solidFill>
                  <a:srgbClr val="2E5395"/>
                </a:solidFill>
                <a:latin typeface="Calibri"/>
              </a:rPr>
              <a:t>Design – System Architecture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2E5395"/>
                </a:solidFill>
                <a:latin typeface="Calibri"/>
              </a:rPr>
              <a:t>•  </a:t>
            </a:r>
            <a:r>
              <a:rPr sz="1700" b="1">
                <a:solidFill>
                  <a:srgbClr val="2E5395"/>
                </a:solidFill>
                <a:latin typeface="Calibri"/>
              </a:rPr>
              <a:t>Design – Algorithms (Existing vs. Proposed)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2E5395"/>
                </a:solidFill>
                <a:latin typeface="Calibri"/>
              </a:rPr>
              <a:t>•  </a:t>
            </a:r>
            <a:r>
              <a:rPr sz="1700" b="1">
                <a:solidFill>
                  <a:srgbClr val="2E5395"/>
                </a:solidFill>
                <a:latin typeface="Calibri"/>
              </a:rPr>
              <a:t>Design – Datasets (Primary &amp; Secondary)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2E5395"/>
                </a:solidFill>
                <a:latin typeface="Calibri"/>
              </a:rPr>
              <a:t>•  </a:t>
            </a:r>
            <a:r>
              <a:rPr sz="1700" b="1">
                <a:solidFill>
                  <a:srgbClr val="2E5395"/>
                </a:solidFill>
                <a:latin typeface="Calibri"/>
              </a:rPr>
              <a:t>Design – Dataset Samples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Introduction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 stores a decentralized exchange (DEX) liquidity pool as a single eUTXO, and a UTXO can be consumed only once per block, so concurrent swaps cannot execute independently.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practice: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DEXs therefore depend on off-chain batchers that aggregate many user swap orders into one transaction. Deployed batchers use static rules such as a fixed batch size or a fixed submission interval.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Cardano-specific insight: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 fees are deterministic (fee = a x size + b, plus script execution cost) and do not rise with demand, so congestion does not raise cost - it raises confirmation latency and inclusion failure.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problem: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frequently reach 80-90% of their size and execution-unit capacity at peak, so an oversized batch is bumped to a later block and every order inside it waits.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direction: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static batching rules with a learned, congestion-aware policy that predicts upcoming block fullness and adapts when to submit a batch and how large to make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Objectives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collect and analyse historical Cardano block data and quantify congestion in terms of block fill percentage and execution-unit usage.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forecasting model that predicts the fullness of the next block from recent chain history and order-queue state.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 adaptive batching policy that decides when to submit a batch and how many orders to include.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enforce the block-size limit (~88 KB) and the Plutus execution-unit budget as hard constraints on every batch.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discrete-event simulator that replays historical blocks for safe, reproducible training and evaluation.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benchmark the policy against static baselines on latency, per-user cost, inclusion success, throughput and fairness.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demonstrate the batcher end to end on a minimal Aiken DEX deployed on the Cardano preprod testnet.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Description of the Proposed System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off-chain batcher that sits between the pending on-chain order UTXOs and the DEX liquidity pool, replacing the rule-based scheduler used today.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collector streams recent blocks and derives a congestion time series - fill percentage, execution units consumed and transaction count per block.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time-series model (LightGBM baseline, LSTM extension) predicts the fullness and execution-unit headroom of the next few blocks.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combines that forecast with queue depth and the oldest order waiting time and outputs an action: wait, or submit a batch of n orders.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policy variants: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constrained optimizer (forecast-then-optimize) provides an explainable baseline; a reinforcement-learning agent (DQN / PPO) learns the policy from simulated experience.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Actuation and feedback: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batch builder assembles the transaction, validates it against size and execution-unit limits, submits it, and returns the inclusion result as a reward and evaluation signal.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Non-intrusive: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 and the Cardano protocol are unchanged; coordination happens only through on-chain order UTXOs, so the optimization is wallet-agnostic.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Modules of the System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 Data Acquisition: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historical and live block data through Koios / Blockfrost, cleans it and builds the congestion feature set.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 Congestion Forecasting: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and serves the next-block fill and execution-unit predictor; keeps a moving-average baseline for comparison.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Order Queue Manager: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pending order UTXOs with arrival time, waiting time, size and slippage tolerance, and exposes the queue state.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 Adaptive Batching Policy: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module - constrained optimizer and RL agent that choose submit-or-wait and the batch size under capacity constraints.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 Batch Construction &amp; Submission: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batch transaction with PyCardano, validates limits, signs and submits it, and captures the inclusion outcome.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 Simulation &amp; Evaluation: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Discrete-event simulator, static baseline batchers, metric logging and comparison plots.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 On-chain DEX (demo):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Aiken order validator and pool validator on preprod testnet, authorising this batcher as the executor.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3" name="Line 3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800" b="1">
                <a:solidFill>
                  <a:srgbClr val="1F3864"/>
                </a:solidFill>
                <a:latin typeface="Calibri"/>
              </a:rPr>
              <a:t>5.  Workflow / Flow Diagram</a:t>
            </a:r>
          </a:p>
        </p:txBody>
      </p:sp>
      <p:sp>
        <p:nvSpPr>
          <p:cNvPr id="7" name="Shape 7"/>
          <p:cNvSpPr/>
          <p:nvPr/>
        </p:nvSpPr>
        <p:spPr>
          <a:xfrm>
            <a:off x="502920" y="215428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731520" y="233716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4440" y="233716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1520" y="284008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user’s wallet signs a transaction that locks funds at the DEX order script with a datum stating the swap terms, slippage limit and return address.</a:t>
            </a:r>
          </a:p>
        </p:txBody>
      </p:sp>
      <p:sp>
        <p:nvSpPr>
          <p:cNvPr id="11" name="Shape 11"/>
          <p:cNvSpPr/>
          <p:nvPr/>
        </p:nvSpPr>
        <p:spPr>
          <a:xfrm>
            <a:off x="4082186" y="2917804"/>
            <a:ext cx="192024" cy="164592"/>
          </a:xfrm>
          <a:prstGeom prst="rightArrow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338218" y="215428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13" name="Shape 13"/>
          <p:cNvSpPr/>
          <p:nvPr/>
        </p:nvSpPr>
        <p:spPr>
          <a:xfrm>
            <a:off x="4566818" y="233716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69738" y="233716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scanned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66818" y="284008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batcher independently pulls pending order UTXOs from the chain and updates the queue with depth, sizes and waiting times.</a:t>
            </a:r>
          </a:p>
        </p:txBody>
      </p:sp>
      <p:sp>
        <p:nvSpPr>
          <p:cNvPr id="16" name="Shape 16"/>
          <p:cNvSpPr/>
          <p:nvPr/>
        </p:nvSpPr>
        <p:spPr>
          <a:xfrm>
            <a:off x="7917485" y="2917804"/>
            <a:ext cx="192024" cy="164592"/>
          </a:xfrm>
          <a:prstGeom prst="rightArrow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17" name="Shape 17"/>
          <p:cNvSpPr/>
          <p:nvPr/>
        </p:nvSpPr>
        <p:spPr>
          <a:xfrm>
            <a:off x="8173517" y="215428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8402117" y="233716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05037" y="233716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forecast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02117" y="284008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block fill percentage and execution-unit usage are fed to the forecaster, which predicts capacity in the next few blocks.</a:t>
            </a:r>
          </a:p>
        </p:txBody>
      </p:sp>
      <p:sp>
        <p:nvSpPr>
          <p:cNvPr id="21" name="Shape 21"/>
          <p:cNvSpPr/>
          <p:nvPr/>
        </p:nvSpPr>
        <p:spPr>
          <a:xfrm>
            <a:off x="502920" y="430312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22" name="Shape 22"/>
          <p:cNvSpPr/>
          <p:nvPr/>
        </p:nvSpPr>
        <p:spPr>
          <a:xfrm>
            <a:off x="731520" y="448600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4440" y="448600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decided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520" y="49889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chooses wait or submit, and selects how many orders to include, trading per-user cost against latency and inclusion risk.</a:t>
            </a:r>
          </a:p>
        </p:txBody>
      </p:sp>
      <p:sp>
        <p:nvSpPr>
          <p:cNvPr id="25" name="Shape 25"/>
          <p:cNvSpPr/>
          <p:nvPr/>
        </p:nvSpPr>
        <p:spPr>
          <a:xfrm>
            <a:off x="4082186" y="5066644"/>
            <a:ext cx="192024" cy="164592"/>
          </a:xfrm>
          <a:prstGeom prst="rightArrow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4338218" y="430312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27" name="Shape 27"/>
          <p:cNvSpPr/>
          <p:nvPr/>
        </p:nvSpPr>
        <p:spPr>
          <a:xfrm>
            <a:off x="4566818" y="448600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069738" y="448600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built &amp; validated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66818" y="49889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 consuming the selected orders and the pool UTXO is assembled and checked against block-size and execution-unit limits.</a:t>
            </a:r>
          </a:p>
        </p:txBody>
      </p:sp>
      <p:sp>
        <p:nvSpPr>
          <p:cNvPr id="30" name="Shape 30"/>
          <p:cNvSpPr/>
          <p:nvPr/>
        </p:nvSpPr>
        <p:spPr>
          <a:xfrm>
            <a:off x="7917485" y="5066644"/>
            <a:ext cx="192024" cy="164592"/>
          </a:xfrm>
          <a:prstGeom prst="rightArrow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31" name="Shape 31"/>
          <p:cNvSpPr/>
          <p:nvPr/>
        </p:nvSpPr>
        <p:spPr>
          <a:xfrm>
            <a:off x="8173517" y="430312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32" name="Shape 32"/>
          <p:cNvSpPr/>
          <p:nvPr/>
        </p:nvSpPr>
        <p:spPr>
          <a:xfrm>
            <a:off x="8402117" y="448600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905037" y="448600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&amp; learned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02117" y="49889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inclusion, swapped tokens return to each user’s address; the outcome updates the metrics and the reinforcement-learning reward.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3" name="Line 3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800" b="1">
                <a:solidFill>
                  <a:srgbClr val="1F3864"/>
                </a:solidFill>
                <a:latin typeface="Calibri"/>
              </a:rPr>
              <a:t>6.  Technologies Used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874520"/>
            <a:ext cx="5410048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Smart Contracts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 (preprod testnet), eUTXO / Plutus model, Aiken validator language</a:t>
            </a: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Data &amp; APIs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Koios API, Blockfrost, cardano-db-sync, Ogmios / Kupo</a:t>
            </a: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Transaction Building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PyCardano (Python), Lucid (JavaScript)</a:t>
            </a: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&amp; Data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3, pandas, NumPy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78728" y="1874520"/>
            <a:ext cx="5410048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(gradient boosting baseline), PyTorch (LSTM / GRU forecaster), scikit-learn</a:t>
            </a: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Evaluation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discrete-event simulator (SimPy-style), Matplotlib for result plots</a:t>
            </a: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GitHub, VS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800" b="1">
                <a:solidFill>
                  <a:srgbClr val="1F3864"/>
                </a:solidFill>
                <a:latin typeface="Calibri"/>
              </a:rPr>
              <a:t>7.  Merits of the Proposed System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live network conditions instead of following a fixed rule, so batching tracks congestion as it changes block to block.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confirmation latency at peak load by avoiding batches that cannot fit the block currently being produced.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average per-user cost by amortising the fixed fee component across larger batches whenever spare capacity is predicted.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failed inclusions and resubmissions, because block-size and execution-unit limits are respected by construction.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Wallet-agnostic and protocol-agnostic: no change is required to user wallets, to CIP-30 or to the Cardano protocol.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protocol-level scaling such as Ouroboros Leios rather than competing with it, since block limits and pool concurrency remain.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and verifiable: the simulator replays real historical blocks, so every comparison against the baselines can be re-run.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- the forecaster, policy and batch builder can be replaced independently and reused by any eUTXO DEX.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800" b="1">
                <a:solidFill>
                  <a:srgbClr val="1F3864"/>
                </a:solidFill>
                <a:latin typeface="Calibri"/>
              </a:rPr>
              <a:t>8.  Expected Outcomes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congestion-forecasting model that predicts next-block fullness more accurately than a moving-average baseline on held-out Cardano block history.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adaptive batching policy in both forms - a constrained optimizer and a trained reinforcement-learning agent.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measurable reduction in mean and 95th-percentile confirmation latency compared with fixed-size, fixed-interval and greedy batchers.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reduction in average per-user cost at an equal or lower inclusion-failure rate, demonstrating that the gain is not traded away.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Pareto comparison showing the adaptive policy dominating the static baselines across the latency-cost trade-off.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open simulator and a curated dataset of Cardano block congestion for further research.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preprod-testnet demonstration: wallet places an order, the ML batcher processes it, and the swap settles end to end.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report and paper-ready evaluation with plots for each metric.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800" b="1">
                <a:solidFill>
                  <a:srgbClr val="1F3864"/>
                </a:solidFill>
                <a:latin typeface="Calibri"/>
              </a:rPr>
              <a:t>9.  Limitations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proven primarily in simulation; live mainnet behaviour may differ from replayed historical congestion.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forecaster assumes near-future congestion resembles recent history, so sudden events such as large NFT mints can degrade prediction quality.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demonstration uses a minimal self-built DEX; production concerns such as security auditing, liquidity incentives and MEV protection are out of scope.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batcher cannot serve existing DEXs such as Minswap, whose validators require whitelisted and licensed batchers.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batches increase exposure to price slippage; fairness and batcher trust are acknowledged design concerns, not solved problems.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Reinforcement-learning performance is sensitive to reward weighting and needs careful tuning to avoid an over-conservative policy.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upgrades such as Ouroboros Leios may change block-capacity dynamics and require the model to be retrained.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20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960120"/>
            <a:ext cx="11183112" cy="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88168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AI-Driven Adaptive Transaction Batching for Cardano Decentralized Exchanges  |  Batch 11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1137392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10.  Design – 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11018520" cy="822960"/>
          </a:xfrm>
          <a:prstGeom prst="rect">
            <a:avLst/>
          </a:prstGeom>
          <a:noFill/>
          <a:ln w="12700">
            <a:solidFill>
              <a:srgbClr val="B3B3B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1773936"/>
            <a:ext cx="1083564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ON-CHAIN   ·   CARDANO PREPROD TESTNET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24912"/>
            <a:ext cx="11018520" cy="786384"/>
          </a:xfrm>
          <a:prstGeom prst="rect">
            <a:avLst/>
          </a:prstGeom>
          <a:noFill/>
          <a:ln w="12700">
            <a:solidFill>
              <a:srgbClr val="B3B3B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2761488"/>
            <a:ext cx="1083564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CHAIN DATA SOURCES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49039"/>
            <a:ext cx="11018520" cy="1188720"/>
          </a:xfrm>
          <a:prstGeom prst="rect">
            <a:avLst/>
          </a:prstGeom>
          <a:noFill/>
          <a:ln w="12700">
            <a:solidFill>
              <a:srgbClr val="D79B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" y="3785615"/>
            <a:ext cx="1083564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OFF-CHAIN ADAPTIVE BATCHER   ·   PROPOSED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212080"/>
            <a:ext cx="11018520" cy="786384"/>
          </a:xfrm>
          <a:prstGeom prst="rect">
            <a:avLst/>
          </a:prstGeom>
          <a:noFill/>
          <a:ln w="12700">
            <a:solidFill>
              <a:srgbClr val="B3B3B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7200" y="5248656"/>
            <a:ext cx="1083564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OFFLINE TRAINING &amp; EVALUATION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" y="1956816"/>
            <a:ext cx="2420874" cy="530352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User Wallet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signs order · CIP-30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1265" y="1956816"/>
            <a:ext cx="2420874" cy="530352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Order UTXOs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Aiken order validator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7900" y="1956816"/>
            <a:ext cx="2420874" cy="530352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Liquidity Pool UTXO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one spend per block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44534" y="1956816"/>
            <a:ext cx="2420874" cy="530352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Block Producer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90,112 B · ExUnit caps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05506" y="2221992"/>
            <a:ext cx="365759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692140" y="2221992"/>
            <a:ext cx="365760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78774" y="2221992"/>
            <a:ext cx="365760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84632" y="2926080"/>
            <a:ext cx="2420874" cy="512064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Koios 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71265" y="2926080"/>
            <a:ext cx="2420874" cy="512064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Blockfrost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7900" y="2926080"/>
            <a:ext cx="2420874" cy="512064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cardano-db-sync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44534" y="2926080"/>
            <a:ext cx="2420874" cy="512064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Block Feature Store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dataset D1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05506" y="3182112"/>
            <a:ext cx="365759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92140" y="3182112"/>
            <a:ext cx="365760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78774" y="3182112"/>
            <a:ext cx="365760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84632" y="3968496"/>
            <a:ext cx="1907438" cy="713232"/>
          </a:xfrm>
          <a:prstGeom prst="rect">
            <a:avLst/>
          </a:prstGeom>
          <a:solidFill>
            <a:srgbClr val="FFE6CC"/>
          </a:solidFill>
          <a:ln w="12700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M1  Chain Data
Collector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fill % · ExUnits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02966" y="3968496"/>
            <a:ext cx="1907438" cy="713232"/>
          </a:xfrm>
          <a:prstGeom prst="rect">
            <a:avLst/>
          </a:prstGeom>
          <a:solidFill>
            <a:srgbClr val="FFE6CC"/>
          </a:solidFill>
          <a:ln w="12700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M2  Congestion
Forecaster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P1 · LightGBM / LSTM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21300" y="3968496"/>
            <a:ext cx="1907438" cy="713232"/>
          </a:xfrm>
          <a:prstGeom prst="rect">
            <a:avLst/>
          </a:prstGeom>
          <a:solidFill>
            <a:srgbClr val="FFE6CC"/>
          </a:solidFill>
          <a:ln w="12700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M3  Order Queue
Manager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depth · waiting 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9635" y="3968496"/>
            <a:ext cx="1907438" cy="713232"/>
          </a:xfrm>
          <a:prstGeom prst="rect">
            <a:avLst/>
          </a:prstGeom>
          <a:solidFill>
            <a:srgbClr val="FFE6CC"/>
          </a:solidFill>
          <a:ln w="12700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M4  Adaptive Batching
Policy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P2 optimizer · P3 RL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57969" y="3968496"/>
            <a:ext cx="1907438" cy="713232"/>
          </a:xfrm>
          <a:prstGeom prst="rect">
            <a:avLst/>
          </a:prstGeom>
          <a:solidFill>
            <a:srgbClr val="FFE6CC"/>
          </a:solidFill>
          <a:ln w="12700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M5  Batch Builder
&amp; Submitter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size / ExUnit check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392070" y="4325112"/>
            <a:ext cx="310896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610404" y="4325112"/>
            <a:ext cx="310896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828739" y="4325112"/>
            <a:ext cx="310896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047073" y="4325112"/>
            <a:ext cx="310896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84632" y="5413248"/>
            <a:ext cx="3349752" cy="512064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M6  Discrete-Event Simulator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replays real historical blocks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0144" y="5413248"/>
            <a:ext cx="3349752" cy="512064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Static Baselines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E1 fixed-size · E2 interval · E3 greedy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15656" y="5413248"/>
            <a:ext cx="3349752" cy="512064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Metrics &amp; Plots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latency · cost · inclusion · fairness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834384" y="5669280"/>
            <a:ext cx="365760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549896" y="5669280"/>
            <a:ext cx="365760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054971" y="2487168"/>
            <a:ext cx="0" cy="438912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128123" y="2551176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block data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054971" y="3438144"/>
            <a:ext cx="0" cy="192024"/>
          </a:xfrm>
          <a:prstGeom prst="line">
            <a:avLst/>
          </a:prstGeom>
          <a:ln w="15875">
            <a:solidFill>
              <a:srgbClr val="4D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438351" y="3630168"/>
            <a:ext cx="8616620" cy="0"/>
          </a:xfrm>
          <a:prstGeom prst="line">
            <a:avLst/>
          </a:prstGeom>
          <a:ln w="15875">
            <a:solidFill>
              <a:srgbClr val="4D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438351" y="3630168"/>
            <a:ext cx="0" cy="338328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520647" y="3529584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D1 features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1265408" y="4325112"/>
            <a:ext cx="292608" cy="0"/>
          </a:xfrm>
          <a:prstGeom prst="line">
            <a:avLst/>
          </a:prstGeom>
          <a:ln w="15875">
            <a:solidFill>
              <a:srgbClr val="4D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1558016" y="2221992"/>
            <a:ext cx="0" cy="2103120"/>
          </a:xfrm>
          <a:prstGeom prst="line">
            <a:avLst/>
          </a:prstGeom>
          <a:ln w="15875">
            <a:solidFill>
              <a:srgbClr val="4D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1265408" y="2221992"/>
            <a:ext cx="292608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1603736" y="3602736"/>
            <a:ext cx="566928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batch
tx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2159508" y="5084064"/>
            <a:ext cx="0" cy="329184"/>
          </a:xfrm>
          <a:prstGeom prst="line">
            <a:avLst/>
          </a:prstGeom>
          <a:ln w="15875">
            <a:solidFill>
              <a:srgbClr val="4D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159508" y="5084064"/>
            <a:ext cx="5391607" cy="0"/>
          </a:xfrm>
          <a:prstGeom prst="line">
            <a:avLst/>
          </a:prstGeom>
          <a:ln w="15875">
            <a:solidFill>
              <a:srgbClr val="4D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551115" y="4681728"/>
            <a:ext cx="0" cy="402336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624267" y="4956048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training episodes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815169" y="4681728"/>
            <a:ext cx="0" cy="173736"/>
          </a:xfrm>
          <a:prstGeom prst="line">
            <a:avLst/>
          </a:prstGeom>
          <a:ln w="15875">
            <a:solidFill>
              <a:srgbClr val="B8545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635593" y="4855464"/>
            <a:ext cx="1179576" cy="0"/>
          </a:xfrm>
          <a:prstGeom prst="line">
            <a:avLst/>
          </a:prstGeom>
          <a:ln w="15875">
            <a:solidFill>
              <a:srgbClr val="B8545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8635593" y="4681728"/>
            <a:ext cx="0" cy="173736"/>
          </a:xfrm>
          <a:prstGeom prst="line">
            <a:avLst/>
          </a:prstGeom>
          <a:ln w="15875">
            <a:solidFill>
              <a:srgbClr val="B8545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727033" y="4718304"/>
            <a:ext cx="2377440" cy="1188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750" b="0" i="0">
                <a:solidFill>
                  <a:srgbClr val="B85450"/>
                </a:solidFill>
                <a:latin typeface="Calibri"/>
              </a:rPr>
              <a:t>inclusion result → reward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108192"/>
            <a:ext cx="11457432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Editable draw.io source of this diagram: team-11-architecture.drawio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20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960120"/>
            <a:ext cx="11183112" cy="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88168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AI-Driven Adaptive Transaction Batching for Cardano Decentralized Exchanges  |  Batch 11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1137392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11.  Design – Algorithms (Existing vs. Proposed)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5413248" cy="2212848"/>
          </a:xfrm>
          <a:prstGeom prst="roundRect">
            <a:avLst>
              <a:gd name="adj" fmla="val 5000"/>
            </a:avLst>
          </a:prstGeom>
          <a:solidFill>
            <a:srgbClr val="F7F7F9"/>
          </a:solidFill>
          <a:ln w="12700">
            <a:solidFill>
              <a:srgbClr val="DD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 bIns="2743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(a)  Existing – static rules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E1  fixed-size      if |Q| &gt;= M:  submit(Q[0:M])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E2  fixed-interval  if now - t_last &gt;= T:  submit(Q)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E3  greedy          if |Q| &gt; 0:  submit(Q)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E4  baseline        f_hat = mean(fill(t-k+1 .. t))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95959"/>
                </a:solidFill>
                <a:latin typeface="Consolas"/>
              </a:rPr>
              <a:t># The trigger is a constant fixed before deployment.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95959"/>
                </a:solidFill>
                <a:latin typeface="Consolas"/>
              </a:rPr>
              <a:t># Block fill %, ExUnit headroom and queue age are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95959"/>
                </a:solidFill>
                <a:latin typeface="Consolas"/>
              </a:rPr>
              <a:t># never read; capacity is checked only after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95959"/>
                </a:solidFill>
                <a:latin typeface="Consolas"/>
              </a:rPr>
              <a:t># batch is built, so an oversized batch bounces.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413248" cy="2212848"/>
          </a:xfrm>
          <a:prstGeom prst="roundRect">
            <a:avLst>
              <a:gd name="adj" fmla="val 5000"/>
            </a:avLst>
          </a:prstGeom>
          <a:solidFill>
            <a:srgbClr val="F7F7F9"/>
          </a:solidFill>
          <a:ln w="12700">
            <a:solidFill>
              <a:srgbClr val="DD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 bIns="2743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(b)  Proposed – learned, congestion-aware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P1  forecaster   f_hat(t+1..t+3) = LightGBM / LSTM(x_t)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                x_t = lags, ExUnits, |Q|, hour_of_day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P2  optimizer    C_hat &lt;- (1 - f_hat) * S_max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                grow n while size/ExUnits fit C_hat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                WAIT if n = 0 or a quieter block is due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                SUBMIT(n) once wait(Q[0]) &gt;= D_max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P3  RL agent     MDP: state = (|Q|, wait, f_hat, headroom)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                action = WAIT | SUBMIT(n);  DQN / PPO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                reward = -(cost + latency + slippage)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                         - P if the batch bounced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4078224"/>
          <a:ext cx="11183111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0280"/>
                <a:gridCol w="3749039"/>
                <a:gridCol w="5193792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Design dimension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Existing (E1 – E3)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Proposed (P1 – P3)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Calibri"/>
                        </a:rPr>
                        <a:t>Submission trigger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Constant count M or timer 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Learned from the congestion forecast + live queue state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Calibri"/>
                        </a:rPr>
                        <a:t>Chain awareness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None – chain never read before deciding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Explicit forecast of next-block fill % and ExUnit headroom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Calibri"/>
                        </a:rPr>
                        <a:t>Capacity constraint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Checked after the batch is built, or not at all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Enforced inside the decision – an infeasible batch is never proposed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Calibri"/>
                        </a:rPr>
                        <a:t>Starvation / fairness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None under a pure size rule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Hard deadline D_max in P2;  latency term in the P3 reward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Calibri"/>
                        </a:rPr>
                        <a:t>Learning from outcomes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Open-loop – a bounce teaches nothing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Closed-loop – the inclusion result is the reward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20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960120"/>
            <a:ext cx="11183112" cy="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88168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AI-Driven Adaptive Transaction Batching for Cardano Decentralized Exchanges  |  Batch 11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1137392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12.  Design – Datasets (Primary &amp; Secondary)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5413248" cy="2688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54864" tIns="100584" bIns="27432"/>
          <a:lstStyle/>
          <a:p>
            <a:pPr algn="ctr"/>
            <a:r>
              <a:rPr sz="1350" b="1" i="0">
                <a:solidFill>
                  <a:srgbClr val="1F3864"/>
                </a:solidFill>
                <a:latin typeface="Calibri"/>
              </a:rPr>
              <a:t>Secondary data  –  collected, not generated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595959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D1  Cardano block congestion history: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block height, slot, body size, tx count and Plutus execution units for every block.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595959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Sources: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Koios REST API (free), Blockfrost (free tier), cardano-db-sync for per-block ExUnits.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595959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Volume: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~4,300 blocks/day × 90 days ≈ 390,000 rows (≈ 40 MB CSV).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595959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Nature: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public on-chain data, no personal information – so the curated dataset is itself a deliverable.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595959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Role: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trains and tests P1, and drives the congestion the simulator replays.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413248" cy="268833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2E53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54864" tIns="100584" bIns="27432"/>
          <a:lstStyle/>
          <a:p>
            <a:pPr algn="ctr"/>
            <a:r>
              <a:rPr sz="1350" b="1" i="0">
                <a:solidFill>
                  <a:srgbClr val="1F3864"/>
                </a:solidFill>
                <a:latin typeface="Calibri"/>
              </a:rPr>
              <a:t>Primary data  –  produced by this project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2E5395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D2  Order stream: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swap orders generated by our simulator – arrival slot, pair, amount, slippage, tx size, ExUnit cost.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2E5395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D3  Batcher decision log: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one row per block slot – queue state, forecast, action, batch composition, realised outcome.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2E5395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D4  Preprod testnet log: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real submissions from our Aiken DEX – tx hash, submit/confirm slot, actual fee, included or bounced.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2E5395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Why generated: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per-order data is not published by any DEX and experiments cannot run on mainnet.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2E5395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Role: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D2 + D3 train and evaluate P2 and P3;  D4 checks the simulator against the real chain.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535424"/>
            <a:ext cx="1118311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50" b="1" i="0">
                <a:solidFill>
                  <a:srgbClr val="1F3864"/>
                </a:solidFill>
                <a:latin typeface="Calibri"/>
              </a:rPr>
              <a:t>Split and preprocessing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4828032"/>
          <a:ext cx="11183112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9902952"/>
              </a:tblGrid>
              <a:tr h="2560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Treatment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F3864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22222"/>
                          </a:solidFill>
                          <a:latin typeface="Calibri"/>
                        </a:rPr>
                        <a:t>Chronological, never shuffled – oldest 70% train, next 15% validation, newest 15% test. Shuffling would leak future congestion into training.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F3864"/>
                          </a:solidFill>
                          <a:latin typeface="Calibri"/>
                        </a:rPr>
                        <a:t>Cleaning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22222"/>
                          </a:solidFill>
                          <a:latin typeface="Calibri"/>
                        </a:rPr>
                        <a:t>Drop epoch-boundary blocks with missing ExUnit rows; forward-fill at most one missing slot; clip fill fraction to [0, 1].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F3864"/>
                          </a:solidFill>
                          <a:latin typeface="Calibri"/>
                        </a:rPr>
                        <a:t>Derived fields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22222"/>
                          </a:solidFill>
                          <a:latin typeface="Calibri"/>
                        </a:rPr>
                        <a:t>fill_pct = block_size / 90,112;  mem_pct / step_pct against the block ExUnit budget;  lag, rolling-mean/std and calendar features.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20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960120"/>
            <a:ext cx="11183112" cy="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88168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AI-Driven Adaptive Transaction Batching for Cardano Decentralized Exchanges  |  Batch 11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1137392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13.  Design – Dataset Samples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1118311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Sample of D1  –  Cardano block congestion (5 consecutive blocks)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975104"/>
          <a:ext cx="11183112" cy="1508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1554480"/>
                <a:gridCol w="1371600"/>
                <a:gridCol w="1051560"/>
                <a:gridCol w="1691640"/>
                <a:gridCol w="1051560"/>
                <a:gridCol w="1947672"/>
                <a:gridCol w="1051560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block_height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abs_slot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block_size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fill_pct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mem_exunits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mem_pct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step_exunits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tx_count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11482310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152338397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34484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38.3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23354759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37.7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7479934005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11482311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152338418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35088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38.9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21564150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34.8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6578581036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22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11482312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152338442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29459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32.7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19962701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32.2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6139627442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11482313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152338464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33011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36.6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18402042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29.7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6041921497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30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11482314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152338477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32210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35.7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19691182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31.8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6176814971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46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584448"/>
            <a:ext cx="557784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Sample of D3  –  batcher decision log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858768"/>
          <a:ext cx="5212080" cy="1490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/>
                <a:gridCol w="594360"/>
                <a:gridCol w="685800"/>
                <a:gridCol w="960120"/>
                <a:gridCol w="502920"/>
                <a:gridCol w="640080"/>
                <a:gridCol w="594360"/>
              </a:tblGrid>
              <a:tr h="2560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slot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|Q|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f_hat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incl.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lat.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152338397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0.41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SUBMIT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152338418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0.63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WAIT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-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-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152338442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0.84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WAIT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-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-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152338464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19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0.79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SUBMIT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12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no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-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152338496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0.52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SUBMIT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2784" y="3584448"/>
            <a:ext cx="5413248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Sample plots from D1  –  exploratory analysis</a:t>
            </a:r>
          </a:p>
        </p:txBody>
      </p:sp>
      <p:pic>
        <p:nvPicPr>
          <p:cNvPr id="12" name="Picture 11" descr="eda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3840480"/>
            <a:ext cx="5413248" cy="18470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5797296"/>
            <a:ext cx="11183112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5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Reading:  </a:t>
            </a:r>
            <a:r>
              <a:rPr sz="1000" b="0" i="0">
                <a:solidFill>
                  <a:srgbClr val="222222"/>
                </a:solidFill>
                <a:latin typeface="Calibri"/>
              </a:rPr>
              <a:t>fill % swings block to block, so a fixed rule is mistimed most of the day, and the daily rhythm is why hour-of-day is a feature in P1. Slot 152338464 is the case the project targets – a batch of 12 sized against a 79% forecast that still did not fit, exactly what the bounce penalty in the P3 reward punishes.</a:t>
            </a:r>
          </a:p>
          <a:p>
            <a:pPr>
              <a:spcBef>
                <a:spcPts val="200"/>
              </a:spcBef>
            </a:pPr>
            <a:r>
              <a:rPr sz="900" b="0" i="1">
                <a:solidFill>
                  <a:srgbClr val="595959"/>
                </a:solidFill>
                <a:latin typeface="Calibri"/>
              </a:rPr>
              <a:t>Rows and plots are illustrative, calibrated to the real protocol limits (90,112 B, 62 M mem / 20 G step ExUnits per block); they will be regenerated once D1 is collected.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2400"/>
              </a:spcAft>
              <a:buSzPct val="90000"/>
              <a:buFont typeface="Arial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is mandatory on Cardano because a DEX pool is a single UTXO that can be consumed only once per block.</a:t>
            </a:r>
          </a:p>
          <a:p>
            <a:pPr marL="247650" indent="-247650" algn="l">
              <a:lnSpc>
                <a:spcPct val="100000"/>
              </a:lnSpc>
              <a:spcAft>
                <a:spcPts val="2400"/>
              </a:spcAft>
              <a:buSzPct val="90000"/>
              <a:buFont typeface="Arial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Cardano fees are deterministic, the real cost of congestion is confirmation latency and failed inclusion, not higher fees.</a:t>
            </a:r>
          </a:p>
          <a:p>
            <a:pPr marL="247650" indent="-247650" algn="l">
              <a:lnSpc>
                <a:spcPct val="100000"/>
              </a:lnSpc>
              <a:spcAft>
                <a:spcPts val="2400"/>
              </a:spcAft>
              <a:buSzPct val="90000"/>
              <a:buFont typeface="Arial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batchers ignore this entirely and batch on static rules, leaving a clear and unexploited optimization gap.</a:t>
            </a:r>
          </a:p>
          <a:p>
            <a:pPr marL="247650" indent="-247650" algn="l">
              <a:lnSpc>
                <a:spcPct val="100000"/>
              </a:lnSpc>
              <a:spcAft>
                <a:spcPts val="2400"/>
              </a:spcAft>
              <a:buSzPct val="90000"/>
              <a:buFont typeface="Arial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forecasts block congestion and learns when and how much to batch, subject to real block-capacity constraints.</a:t>
            </a:r>
          </a:p>
          <a:p>
            <a:pPr marL="247650" indent="-247650" algn="l">
              <a:lnSpc>
                <a:spcPct val="100000"/>
              </a:lnSpc>
              <a:spcAft>
                <a:spcPts val="2400"/>
              </a:spcAft>
              <a:buSzPct val="90000"/>
              <a:buFont typeface="Arial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validated in a simulator against static baselines and demonstrated end to end on a minimal Aiken DEX on the preprod testnet.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1909</Words>
  <Application>Microsoft Office PowerPoint</Application>
  <PresentationFormat>Widescreen</PresentationFormat>
  <Paragraphs>172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Adaptive Transaction Batching for Cardano Decentralized Exchanges - Proposed System</dc:title>
  <dc:creator>Team 11</dc:creator>
  <cp:lastModifiedBy>vikranth sai potti</cp:lastModifiedBy>
  <cp:revision>5</cp:revision>
  <dcterms:modified xsi:type="dcterms:W3CDTF">2026-08-11T10:36:32Z</dcterms:modified>
</cp:coreProperties>
</file>