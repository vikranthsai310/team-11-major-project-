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13795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olleg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2400" y="182880"/>
            <a:ext cx="7071360" cy="1234440"/>
          </a:xfrm>
          <a:prstGeom prst="rect">
            <a:avLst/>
          </a:prstGeom>
        </p:spPr>
      </p:pic>
      <p:pic>
        <p:nvPicPr>
          <p:cNvPr id="3" name="Image 1" descr="iic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0" y="411480"/>
            <a:ext cx="2814320" cy="8229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0" y="1417319"/>
            <a:ext cx="12191695" cy="5486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59595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Department of Data Science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1"/>
          <p:cNvSpPr/>
          <p:nvPr/>
        </p:nvSpPr>
        <p:spPr>
          <a:xfrm>
            <a:off x="4724248" y="1965960"/>
            <a:ext cx="274320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6" name="Text 2"/>
          <p:cNvSpPr/>
          <p:nvPr/>
        </p:nvSpPr>
        <p:spPr>
          <a:xfrm>
            <a:off x="914400" y="2148840"/>
            <a:ext cx="103628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i="1" dirty="0">
                <a:solidFill>
                  <a:srgbClr val="2E539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Literature Review Presentation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914400" y="2606040"/>
            <a:ext cx="103628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Adaptive Transaction Batching for Cardano Decentralized Exchanges</a:t>
            </a:r>
            <a:endParaRPr lang="en-US" sz="3400" dirty="0"/>
          </a:p>
        </p:txBody>
      </p:sp>
      <p:sp>
        <p:nvSpPr>
          <p:cNvPr id="8" name="Text 4"/>
          <p:cNvSpPr/>
          <p:nvPr/>
        </p:nvSpPr>
        <p:spPr>
          <a:xfrm>
            <a:off x="2804008" y="3794760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Name(s):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4358488" y="379476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Vikranth Sai, Ganesh, Sowmya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2804008" y="4123944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 Ticket No(s):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358488" y="4123944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23P61A67F1, 23P61A67F0, 23P61A67H8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2804008" y="4453128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Name: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358488" y="4453128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Ms. B. Mamatha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6278728" y="3794760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Department: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7741768" y="379476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6278728" y="4123944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College: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7741768" y="4123944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Vignana Bharathi Institute of Technology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6278728" y="4453128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Year: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7741768" y="4453128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– 2027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2"/>
          <p:cNvSpPr/>
          <p:nvPr/>
        </p:nvSpPr>
        <p:spPr>
          <a:xfrm>
            <a:off x="1114013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502920" y="960120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502920" y="1828800"/>
            <a:ext cx="1118585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Background: Cardano DEXs use the eUTXO model, where a liquidity pool is a single UTXO and off-chain batchers bundle user swap orders into transactions.</a:t>
            </a:r>
            <a:endParaRPr lang="en-US" sz="2000" dirty="0"/>
          </a:p>
          <a:p>
            <a:pPr marL="228600" indent="-228600" algn="l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Statement: Existing batchers use static rules and ignore congestion; on Cardano, congestion raises latency and failed inclusion rather than fees, so static batching is inefficient.</a:t>
            </a:r>
            <a:endParaRPr lang="en-US" sz="2000" dirty="0"/>
          </a:p>
          <a:p>
            <a:pPr marL="228600" indent="-228600" algn="l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for the Study: Blocks often run 80-90% full at peak, delaying orders, yet no batching method adapts batch timing and size to congestion.</a:t>
            </a:r>
            <a:endParaRPr lang="en-US" sz="2000" dirty="0"/>
          </a:p>
          <a:p>
            <a:pPr marL="228600" indent="-228600" algn="l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Objectives: Build an ML-driven adaptive batcher that predicts block fullness and learns when to submit a batch and how many orders to include, minimizing latency and per-user cost.</a:t>
            </a:r>
            <a:endParaRPr lang="en-US" sz="2000" dirty="0"/>
          </a:p>
          <a:p>
            <a:pPr marL="228600" indent="-228600" algn="l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of the Project: An off-chain batcher and simulator vs. static baselines, demonstrated on a minimal Aiken DEX on the Cardano preprod testnet; wallet and protocol changes are out of scope.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2"/>
          <p:cNvSpPr/>
          <p:nvPr/>
        </p:nvSpPr>
        <p:spPr>
          <a:xfrm>
            <a:off x="1114013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502920" y="960120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Paper 1</a:t>
            </a:r>
            <a:endParaRPr lang="en-US" sz="2800" dirty="0"/>
          </a:p>
        </p:txBody>
      </p:sp>
      <p:sp>
        <p:nvSpPr>
          <p:cNvPr id="8" name="Shape 4"/>
          <p:cNvSpPr/>
          <p:nvPr/>
        </p:nvSpPr>
        <p:spPr>
          <a:xfrm>
            <a:off x="502920" y="1783080"/>
            <a:ext cx="4663440" cy="4160520"/>
          </a:xfrm>
          <a:prstGeom prst="rect">
            <a:avLst/>
          </a:prstGeom>
          <a:solidFill>
            <a:srgbClr val="F7F8FA"/>
          </a:solidFill>
          <a:ln w="1270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/>
          <p:nvPr/>
        </p:nvSpPr>
        <p:spPr>
          <a:xfrm>
            <a:off x="731520" y="203911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Title: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731520" y="235000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Extended UTXO Model (eUTXO)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731520" y="297180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Author(s):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731520" y="3282696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Chakravarty, J. Chapman, K. MacKenzie, O. Melkonian, M. Peyton Jones, P. Wadler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731520" y="390448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Year: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731520" y="4215384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731520" y="483717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/ Conference: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731520" y="514807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Cryptography &amp; Data Security (FC) Workshops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731520" y="54864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5532120" y="1783080"/>
            <a:ext cx="61566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5532120" y="2075688"/>
            <a:ext cx="615665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specification of an extended UTXO ledger with datums, redeemers and validator scripts; state machines verified in Agda.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5532120" y="2788920"/>
            <a:ext cx="61566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Contributions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5532120" y="3081528"/>
            <a:ext cx="615665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expressive, stateful smart contracts to the UTXO model while keeping deterministic, local validation.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5532120" y="3794760"/>
            <a:ext cx="61566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5532120" y="4087368"/>
            <a:ext cx="615665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fees and predictable, locally-scoped validation with strong formal guarantees.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5532120" y="4800600"/>
            <a:ext cx="61566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500" dirty="0"/>
          </a:p>
        </p:txBody>
      </p:sp>
      <p:sp>
        <p:nvSpPr>
          <p:cNvPr id="25" name="Text 21"/>
          <p:cNvSpPr/>
          <p:nvPr/>
        </p:nvSpPr>
        <p:spPr>
          <a:xfrm>
            <a:off x="5532120" y="5093208"/>
            <a:ext cx="615665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pool lives in one UTXO consumable once per block, creating a concurrency bottleneck for DEXs.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2"/>
          <p:cNvSpPr/>
          <p:nvPr/>
        </p:nvSpPr>
        <p:spPr>
          <a:xfrm>
            <a:off x="1114013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502920" y="960120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Paper 2</a:t>
            </a:r>
            <a:endParaRPr lang="en-US" sz="2800" dirty="0"/>
          </a:p>
        </p:txBody>
      </p:sp>
      <p:sp>
        <p:nvSpPr>
          <p:cNvPr id="8" name="Shape 4"/>
          <p:cNvSpPr/>
          <p:nvPr/>
        </p:nvSpPr>
        <p:spPr>
          <a:xfrm>
            <a:off x="502920" y="1783080"/>
            <a:ext cx="4663440" cy="4160520"/>
          </a:xfrm>
          <a:prstGeom prst="rect">
            <a:avLst/>
          </a:prstGeom>
          <a:solidFill>
            <a:srgbClr val="F7F8FA"/>
          </a:solidFill>
          <a:ln w="1270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/>
          <p:nvPr/>
        </p:nvSpPr>
        <p:spPr>
          <a:xfrm>
            <a:off x="731520" y="203911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Title: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731520" y="235000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&amp; Deterministic Batching on the UTXO Ledger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731520" y="297180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Author(s):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731520" y="3282696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H. Nguyen Quang (MELD)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731520" y="390448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Year: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731520" y="4215384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731520" y="483717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/ Conference: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731520" y="514807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MELD Technical Report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731520" y="54864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5532120" y="1783080"/>
            <a:ext cx="61566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5532120" y="2075688"/>
            <a:ext cx="615665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posted as individual UTXOs are aggregated by a batcher into one deterministic pool-state update.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5532120" y="2788920"/>
            <a:ext cx="61566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Contributions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5532120" y="3081528"/>
            <a:ext cx="615665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deterministic, decentralized batching scheme that resolves pool contention without incentivized off-chain agents.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5532120" y="3794760"/>
            <a:ext cx="61566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5532120" y="4087368"/>
            <a:ext cx="615665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Amortizes the fixed cost across users and avoids failed transactions from UTXO contention.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5532120" y="4800600"/>
            <a:ext cx="61566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500" dirty="0"/>
          </a:p>
        </p:txBody>
      </p:sp>
      <p:sp>
        <p:nvSpPr>
          <p:cNvPr id="25" name="Text 21"/>
          <p:cNvSpPr/>
          <p:nvPr/>
        </p:nvSpPr>
        <p:spPr>
          <a:xfrm>
            <a:off x="5532120" y="5093208"/>
            <a:ext cx="615665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Batching policy is static and rule-based, not congestion-aware; ignores block fullness and latency.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2"/>
          <p:cNvSpPr/>
          <p:nvPr/>
        </p:nvSpPr>
        <p:spPr>
          <a:xfrm>
            <a:off x="1114013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502920" y="960120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Paper 3</a:t>
            </a:r>
            <a:endParaRPr lang="en-US" sz="2800" dirty="0"/>
          </a:p>
        </p:txBody>
      </p:sp>
      <p:sp>
        <p:nvSpPr>
          <p:cNvPr id="8" name="Shape 4"/>
          <p:cNvSpPr/>
          <p:nvPr/>
        </p:nvSpPr>
        <p:spPr>
          <a:xfrm>
            <a:off x="502920" y="1783080"/>
            <a:ext cx="4663440" cy="4160520"/>
          </a:xfrm>
          <a:prstGeom prst="rect">
            <a:avLst/>
          </a:prstGeom>
          <a:solidFill>
            <a:srgbClr val="F7F8FA"/>
          </a:solidFill>
          <a:ln w="1270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/>
          <p:nvPr/>
        </p:nvSpPr>
        <p:spPr>
          <a:xfrm>
            <a:off x="731520" y="203911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Title: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731520" y="235000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Concurrent DEX on Cardano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731520" y="297180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Author(s):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731520" y="3282696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 Bruhwiler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731520" y="390448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Year: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731520" y="4215384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731520" y="483717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/ Conference: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731520" y="514807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B.Sc. Thesis, University of Bern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731520" y="54864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5532120" y="1783080"/>
            <a:ext cx="61566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5532120" y="2075688"/>
            <a:ext cx="615665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Analyzes the eUTXO concurrency problem for AMM-style DEXs and implements a concurrent DEX prototype.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5532120" y="2788920"/>
            <a:ext cx="61566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Contributions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5532120" y="3081528"/>
            <a:ext cx="615665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how contention arises when many users hit one pool and demonstrates a working concurrency solution.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5532120" y="3794760"/>
            <a:ext cx="61566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5532120" y="4087368"/>
            <a:ext cx="615665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concrete, implementable design for scalable swaps on a UTXO blockchain.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5532120" y="4800600"/>
            <a:ext cx="61566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500" dirty="0"/>
          </a:p>
        </p:txBody>
      </p:sp>
      <p:sp>
        <p:nvSpPr>
          <p:cNvPr id="25" name="Text 21"/>
          <p:cNvSpPr/>
          <p:nvPr/>
        </p:nvSpPr>
        <p:spPr>
          <a:xfrm>
            <a:off x="5532120" y="5093208"/>
            <a:ext cx="615665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Focuses on correctness and concurrency, not on optimizing batch timing or size under congestion.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2"/>
          <p:cNvSpPr/>
          <p:nvPr/>
        </p:nvSpPr>
        <p:spPr>
          <a:xfrm>
            <a:off x="1114013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502920" y="960120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Paper 4</a:t>
            </a:r>
            <a:endParaRPr lang="en-US" sz="2800" dirty="0"/>
          </a:p>
        </p:txBody>
      </p:sp>
      <p:sp>
        <p:nvSpPr>
          <p:cNvPr id="8" name="Shape 4"/>
          <p:cNvSpPr/>
          <p:nvPr/>
        </p:nvSpPr>
        <p:spPr>
          <a:xfrm>
            <a:off x="502920" y="1783080"/>
            <a:ext cx="4663440" cy="4160520"/>
          </a:xfrm>
          <a:prstGeom prst="rect">
            <a:avLst/>
          </a:prstGeom>
          <a:solidFill>
            <a:srgbClr val="F7F8FA"/>
          </a:solidFill>
          <a:ln w="1270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/>
          <p:nvPr/>
        </p:nvSpPr>
        <p:spPr>
          <a:xfrm>
            <a:off x="731520" y="203911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Title: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731520" y="235000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Fee Mechanism Design: An Economic Analysis of EIP-1559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731520" y="297180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Author(s):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731520" y="3282696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T. Roughgarden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731520" y="390448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Year: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731520" y="4215384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731520" y="483717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/ Conference: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731520" y="514807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Proc. ACM Economics &amp; Computation (EC), 2021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731520" y="54864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5532120" y="1783080"/>
            <a:ext cx="61566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5532120" y="2075688"/>
            <a:ext cx="615665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Game-theoretic / mechanism-design analysis of EIP-1559 (variable-size blocks and a burned base fee).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5532120" y="2788920"/>
            <a:ext cx="61566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Contributions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5532120" y="3081528"/>
            <a:ext cx="615665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how demand-responsive base fees price block space on account-based chains like Ethereum.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5532120" y="3794760"/>
            <a:ext cx="61566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5532120" y="4087368"/>
            <a:ext cx="615665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 economic model of congestion pricing under variable demand.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5532120" y="4800600"/>
            <a:ext cx="61566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500" dirty="0"/>
          </a:p>
        </p:txBody>
      </p:sp>
      <p:sp>
        <p:nvSpPr>
          <p:cNvPr id="25" name="Text 21"/>
          <p:cNvSpPr/>
          <p:nvPr/>
        </p:nvSpPr>
        <p:spPr>
          <a:xfrm>
            <a:off x="5532120" y="5093208"/>
            <a:ext cx="615665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apply to Cardano's deterministic fees; there congestion causes latency, not higher cost.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2"/>
          <p:cNvSpPr/>
          <p:nvPr/>
        </p:nvSpPr>
        <p:spPr>
          <a:xfrm>
            <a:off x="1114013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502920" y="960120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Paper 5</a:t>
            </a:r>
            <a:endParaRPr lang="en-US" sz="2800" dirty="0"/>
          </a:p>
        </p:txBody>
      </p:sp>
      <p:sp>
        <p:nvSpPr>
          <p:cNvPr id="8" name="Shape 4"/>
          <p:cNvSpPr/>
          <p:nvPr/>
        </p:nvSpPr>
        <p:spPr>
          <a:xfrm>
            <a:off x="502920" y="1783080"/>
            <a:ext cx="4663440" cy="4160520"/>
          </a:xfrm>
          <a:prstGeom prst="rect">
            <a:avLst/>
          </a:prstGeom>
          <a:solidFill>
            <a:srgbClr val="F7F8FA"/>
          </a:solidFill>
          <a:ln w="1270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/>
          <p:nvPr/>
        </p:nvSpPr>
        <p:spPr>
          <a:xfrm>
            <a:off x="731520" y="203911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Title: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731520" y="235000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Management with Deep Reinforcement Learning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731520" y="297180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Author(s):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731520" y="3282696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H. Mao, M. Alizadeh, I. Menache, S. Kandula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731520" y="390448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Year: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731520" y="4215384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731520" y="483717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/ Conference: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731520" y="514807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Proc. ACM HotNets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731520" y="54864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5532120" y="1783080"/>
            <a:ext cx="61566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5532120" y="2075688"/>
            <a:ext cx="615665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reinforcement learning (DeepRM) casts multi-resource task packing as an RL problem trained in a simulator.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5532120" y="2788920"/>
            <a:ext cx="61566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Contributions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5532120" y="3081528"/>
            <a:ext cx="615665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scheduling policies that match or beat hand-tuned heuristics and adapt to load.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5532120" y="3794760"/>
            <a:ext cx="61566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5532120" y="4087368"/>
            <a:ext cx="615665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Adapts to changing conditions, needs no hand-crafted heuristics, and converges quickly.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5532120" y="4800600"/>
            <a:ext cx="61566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500" dirty="0"/>
          </a:p>
        </p:txBody>
      </p:sp>
      <p:sp>
        <p:nvSpPr>
          <p:cNvPr id="25" name="Text 21"/>
          <p:cNvSpPr/>
          <p:nvPr/>
        </p:nvSpPr>
        <p:spPr>
          <a:xfrm>
            <a:off x="5532120" y="5093208"/>
            <a:ext cx="615665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datacenter jobs, not blockchain; unaware of block limits or eUTXO batching (adapted here).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1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Final Year Project — Literature Review</a:t>
            </a:r>
            <a:endParaRPr lang="en-US" sz="1000" dirty="0"/>
          </a:p>
        </p:txBody>
      </p:sp>
      <p:sp>
        <p:nvSpPr>
          <p:cNvPr id="6" name="Text 2"/>
          <p:cNvSpPr/>
          <p:nvPr/>
        </p:nvSpPr>
        <p:spPr>
          <a:xfrm>
            <a:off x="1114013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502920" y="960120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Comparison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828800"/>
          <a:ext cx="10515600" cy="402336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705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Advantages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eUTXO Model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Formal eUTXO spec (Agda)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Formal model (no dataset)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Deterministic, verified validation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Single-UTXO concurrency bottleneck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MELD Batching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Deterministic order batching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eUTXO swap orders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Resolves contention, amortizes cost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Static, not congestion-aware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Concurrent DEX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Concurrent DEX prototype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Cardano testnet DEX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Scalable concurrent swaps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congestion-aware batching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EIP-1559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Fee-mechanism analysis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Ethereum fee model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Models congestion pricing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Inapplicable to Cardano's fixed fees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DeepRM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RL (DeepRM)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Cluster job traces (sim.)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Learns adaptive scheduling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blockchain-aware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2"/>
          <p:cNvSpPr/>
          <p:nvPr/>
        </p:nvSpPr>
        <p:spPr>
          <a:xfrm>
            <a:off x="1114013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502920" y="960120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 &amp; Proposed Work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502920" y="1783080"/>
            <a:ext cx="5364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502920" y="2240280"/>
            <a:ext cx="5364328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Cardano batchers use fixed rules and ignore live congestion</a:t>
            </a:r>
            <a:endParaRPr lang="en-US" sz="1700" dirty="0"/>
          </a:p>
          <a:p>
            <a:pPr marL="228600" indent="-228600" algn="l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method adapts batch size or timing to block fullness</a:t>
            </a:r>
            <a:endParaRPr lang="en-US" sz="1700" dirty="0"/>
          </a:p>
          <a:p>
            <a:pPr marL="228600" indent="-228600" algn="l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for fees (Ethereum view), not latency - the wrong metric for Cardano</a:t>
            </a:r>
            <a:endParaRPr lang="en-US" sz="1700" dirty="0"/>
          </a:p>
          <a:p>
            <a:pPr marL="228600" indent="-228600" algn="l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batching causes delays and failed inclusion at peak load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6324448" y="1783080"/>
            <a:ext cx="5364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Work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6324448" y="2240280"/>
            <a:ext cx="5364328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batcher: forecast block fullness and learn the batch policy (RL)</a:t>
            </a:r>
            <a:endParaRPr lang="en-US" sz="1700" dirty="0"/>
          </a:p>
          <a:p>
            <a:pPr marL="228600" indent="-228600" algn="l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Aiken DEX + discrete-event simulator on historical Cardano blocks</a:t>
            </a:r>
            <a:endParaRPr lang="en-US" sz="1700" dirty="0"/>
          </a:p>
          <a:p>
            <a:pPr marL="228600" indent="-228600" algn="l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 confirmation latency and per-user cost within block limits</a:t>
            </a:r>
            <a:endParaRPr lang="en-US" sz="1700" dirty="0"/>
          </a:p>
          <a:p>
            <a:pPr marL="228600" indent="-228600" algn="l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latency and cost vs. static baselines, with a testnet demonstration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6095848" y="1783080"/>
            <a:ext cx="0" cy="393192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1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Final Year Project — Literature Review</a:t>
            </a:r>
            <a:endParaRPr lang="en-US" sz="1000" dirty="0"/>
          </a:p>
        </p:txBody>
      </p:sp>
      <p:sp>
        <p:nvSpPr>
          <p:cNvPr id="6" name="Text 2"/>
          <p:cNvSpPr/>
          <p:nvPr/>
        </p:nvSpPr>
        <p:spPr>
          <a:xfrm>
            <a:off x="1114013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502920" y="960120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502920" y="1828800"/>
            <a:ext cx="1118585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of Literature Review: The five papers cover Cardano eUTXO batching, existing static batchers, the fee-mechanism contrast, and RL-based adaptive scheduling.</a:t>
            </a:r>
            <a:endParaRPr lang="en-US" sz="2000" dirty="0"/>
          </a:p>
          <a:p>
            <a:pPr marL="228600" indent="-228600" algn="l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Observations: Batching is mandatory on eUTXO; current batchers ignore congestion; Cardano fees are deterministic, so congestion means latency, not cost.</a:t>
            </a:r>
            <a:endParaRPr lang="en-US" sz="2000" dirty="0"/>
          </a:p>
          <a:p>
            <a:pPr marL="228600" indent="-228600" algn="l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 Identified: No congestion-aware, learning-based batcher that optimizes latency and per-user cost under block-capacity limits.</a:t>
            </a:r>
            <a:endParaRPr lang="en-US" sz="2000" dirty="0"/>
          </a:p>
          <a:p>
            <a:pPr marL="228600" indent="-228600" algn="l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Contribution of the Proposed Work: An ML-driven adaptive batcher, proven in simulation and demoed on a testnet DEX, that cuts latency and per-user cost versus static rules.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0" y="292608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1114013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502920" y="960120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502920" y="1828800"/>
            <a:ext cx="1118585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 M. Chakravarty, J. Chapman, K. MacKenzie, O. Melkonian, M. Peyton Jones, and P. Wadler, "The Extended UTXO Model," in Financial Cryptography and Data Security Workshops (FC), 2020.</a:t>
            </a:r>
            <a:endParaRPr lang="en-US" sz="15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 H. Nguyen Quang (MELD), "Concurrent &amp; Deterministic Batching on the UTXO Ledger," MELD Technical Report, 2021.</a:t>
            </a:r>
            <a:endParaRPr lang="en-US" sz="15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 P. Bruhwiler, "A Concurrent DEX on Cardano," B.Sc. thesis, University of Bern, 2021.</a:t>
            </a:r>
            <a:endParaRPr lang="en-US" sz="15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 T. Roughgarden, "Transaction Fee Mechanism Design: An Economic Analysis of EIP-1559," in Proc. ACM EC, 2021.</a:t>
            </a:r>
            <a:endParaRPr lang="en-US" sz="15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 H. Mao, M. Alizadeh, I. Menache, and S. Kandula, "Resource Management with Deep Reinforcement Learning," in Proc. ACM HotNets, 2016.</a:t>
            </a:r>
            <a:endParaRPr lang="en-US" sz="15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 G. Angeris and T. Chitra, "Improved Price Oracles: Constant Function Market Makers," in Proc. ACM AFT, 2020.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911</Words>
  <Application>Microsoft Office PowerPoint</Application>
  <PresentationFormat>Widescreen</PresentationFormat>
  <Paragraphs>188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Vihaan Matoori</cp:lastModifiedBy>
  <cp:revision>5</cp:revision>
  <dcterms:created xsi:type="dcterms:W3CDTF">2026-07-22T06:41:57Z</dcterms:created>
  <dcterms:modified xsi:type="dcterms:W3CDTF">2026-07-22T07:11:17Z</dcterms:modified>
</cp:coreProperties>
</file>